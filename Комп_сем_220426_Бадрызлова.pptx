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4" r:id="rId1"/>
  </p:sldMasterIdLst>
  <p:notesMasterIdLst>
    <p:notesMasterId r:id="rId82"/>
  </p:notesMasterIdLst>
  <p:sldIdLst>
    <p:sldId id="256" r:id="rId2"/>
    <p:sldId id="458" r:id="rId3"/>
    <p:sldId id="259" r:id="rId4"/>
    <p:sldId id="364" r:id="rId5"/>
    <p:sldId id="452" r:id="rId6"/>
    <p:sldId id="453" r:id="rId7"/>
    <p:sldId id="286" r:id="rId8"/>
    <p:sldId id="365" r:id="rId9"/>
    <p:sldId id="368" r:id="rId10"/>
    <p:sldId id="369" r:id="rId11"/>
    <p:sldId id="370" r:id="rId12"/>
    <p:sldId id="372" r:id="rId13"/>
    <p:sldId id="454" r:id="rId14"/>
    <p:sldId id="374" r:id="rId15"/>
    <p:sldId id="373" r:id="rId16"/>
    <p:sldId id="376" r:id="rId17"/>
    <p:sldId id="375" r:id="rId18"/>
    <p:sldId id="377" r:id="rId19"/>
    <p:sldId id="378" r:id="rId20"/>
    <p:sldId id="438" r:id="rId21"/>
    <p:sldId id="416" r:id="rId22"/>
    <p:sldId id="417" r:id="rId23"/>
    <p:sldId id="383" r:id="rId24"/>
    <p:sldId id="379" r:id="rId25"/>
    <p:sldId id="380" r:id="rId26"/>
    <p:sldId id="439" r:id="rId27"/>
    <p:sldId id="418" r:id="rId28"/>
    <p:sldId id="420" r:id="rId29"/>
    <p:sldId id="455" r:id="rId30"/>
    <p:sldId id="456" r:id="rId31"/>
    <p:sldId id="457" r:id="rId32"/>
    <p:sldId id="381" r:id="rId33"/>
    <p:sldId id="459" r:id="rId34"/>
    <p:sldId id="363" r:id="rId35"/>
    <p:sldId id="382" r:id="rId36"/>
    <p:sldId id="421" r:id="rId37"/>
    <p:sldId id="425" r:id="rId38"/>
    <p:sldId id="344" r:id="rId39"/>
    <p:sldId id="462" r:id="rId40"/>
    <p:sldId id="463" r:id="rId41"/>
    <p:sldId id="460" r:id="rId42"/>
    <p:sldId id="385" r:id="rId43"/>
    <p:sldId id="384" r:id="rId44"/>
    <p:sldId id="441" r:id="rId45"/>
    <p:sldId id="422" r:id="rId46"/>
    <p:sldId id="349" r:id="rId47"/>
    <p:sldId id="414" r:id="rId48"/>
    <p:sldId id="350" r:id="rId49"/>
    <p:sldId id="423" r:id="rId50"/>
    <p:sldId id="461" r:id="rId51"/>
    <p:sldId id="443" r:id="rId52"/>
    <p:sldId id="387" r:id="rId53"/>
    <p:sldId id="265" r:id="rId54"/>
    <p:sldId id="367" r:id="rId55"/>
    <p:sldId id="287" r:id="rId56"/>
    <p:sldId id="288" r:id="rId57"/>
    <p:sldId id="289" r:id="rId58"/>
    <p:sldId id="424" r:id="rId59"/>
    <p:sldId id="440" r:id="rId60"/>
    <p:sldId id="353" r:id="rId61"/>
    <p:sldId id="294" r:id="rId62"/>
    <p:sldId id="295" r:id="rId63"/>
    <p:sldId id="357" r:id="rId64"/>
    <p:sldId id="426" r:id="rId65"/>
    <p:sldId id="309" r:id="rId66"/>
    <p:sldId id="427" r:id="rId67"/>
    <p:sldId id="445" r:id="rId68"/>
    <p:sldId id="428" r:id="rId69"/>
    <p:sldId id="430" r:id="rId70"/>
    <p:sldId id="433" r:id="rId71"/>
    <p:sldId id="429" r:id="rId72"/>
    <p:sldId id="434" r:id="rId73"/>
    <p:sldId id="318" r:id="rId74"/>
    <p:sldId id="435" r:id="rId75"/>
    <p:sldId id="436" r:id="rId76"/>
    <p:sldId id="447" r:id="rId77"/>
    <p:sldId id="446" r:id="rId78"/>
    <p:sldId id="448" r:id="rId79"/>
    <p:sldId id="449" r:id="rId80"/>
    <p:sldId id="451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86BD97F-2159-4342-A941-9DEB5EE38295}">
          <p14:sldIdLst>
            <p14:sldId id="256"/>
            <p14:sldId id="458"/>
            <p14:sldId id="259"/>
            <p14:sldId id="364"/>
            <p14:sldId id="452"/>
            <p14:sldId id="453"/>
            <p14:sldId id="286"/>
            <p14:sldId id="365"/>
            <p14:sldId id="368"/>
            <p14:sldId id="369"/>
            <p14:sldId id="370"/>
            <p14:sldId id="372"/>
            <p14:sldId id="454"/>
            <p14:sldId id="374"/>
            <p14:sldId id="373"/>
            <p14:sldId id="376"/>
            <p14:sldId id="375"/>
            <p14:sldId id="377"/>
            <p14:sldId id="378"/>
            <p14:sldId id="438"/>
            <p14:sldId id="416"/>
            <p14:sldId id="417"/>
            <p14:sldId id="383"/>
            <p14:sldId id="379"/>
            <p14:sldId id="380"/>
            <p14:sldId id="439"/>
            <p14:sldId id="418"/>
            <p14:sldId id="420"/>
            <p14:sldId id="455"/>
            <p14:sldId id="456"/>
            <p14:sldId id="457"/>
            <p14:sldId id="381"/>
            <p14:sldId id="459"/>
            <p14:sldId id="363"/>
            <p14:sldId id="382"/>
            <p14:sldId id="421"/>
            <p14:sldId id="425"/>
            <p14:sldId id="344"/>
            <p14:sldId id="462"/>
            <p14:sldId id="463"/>
            <p14:sldId id="460"/>
            <p14:sldId id="385"/>
            <p14:sldId id="384"/>
            <p14:sldId id="441"/>
            <p14:sldId id="422"/>
            <p14:sldId id="349"/>
            <p14:sldId id="414"/>
            <p14:sldId id="350"/>
            <p14:sldId id="423"/>
            <p14:sldId id="461"/>
            <p14:sldId id="443"/>
            <p14:sldId id="387"/>
            <p14:sldId id="265"/>
            <p14:sldId id="367"/>
            <p14:sldId id="287"/>
            <p14:sldId id="288"/>
            <p14:sldId id="289"/>
            <p14:sldId id="424"/>
            <p14:sldId id="440"/>
            <p14:sldId id="353"/>
            <p14:sldId id="294"/>
            <p14:sldId id="295"/>
            <p14:sldId id="357"/>
            <p14:sldId id="426"/>
            <p14:sldId id="309"/>
            <p14:sldId id="427"/>
            <p14:sldId id="445"/>
            <p14:sldId id="428"/>
            <p14:sldId id="430"/>
            <p14:sldId id="433"/>
            <p14:sldId id="429"/>
            <p14:sldId id="434"/>
            <p14:sldId id="318"/>
            <p14:sldId id="435"/>
            <p14:sldId id="436"/>
            <p14:sldId id="447"/>
            <p14:sldId id="446"/>
            <p14:sldId id="448"/>
            <p14:sldId id="449"/>
            <p14:sldId id="45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047" autoAdjust="0"/>
  </p:normalViewPr>
  <p:slideViewPr>
    <p:cSldViewPr snapToGrid="0">
      <p:cViewPr>
        <p:scale>
          <a:sx n="100" d="100"/>
          <a:sy n="100" d="100"/>
        </p:scale>
        <p:origin x="702" y="318"/>
      </p:cViewPr>
      <p:guideLst/>
    </p:cSldViewPr>
  </p:slideViewPr>
  <p:outlineViewPr>
    <p:cViewPr>
      <p:scale>
        <a:sx n="33" d="100"/>
        <a:sy n="33" d="100"/>
      </p:scale>
      <p:origin x="0" y="-269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9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2B2B3-D1C9-48B3-87CB-E3B5D5E60E5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2CD07-C785-4267-AD99-92ECEE23C2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51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C2CD07-C785-4267-AD99-92ECEE23C22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9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that brings up the third and worst assumption — that metaphor is something special and exceptional in the use of language, a deviation from its normal mode of working, instead of the omnipresent principle of all its free action. Throughout the history of Rhetoric, metaphor has been treated as a sort of a happy extra trick with words, an opportunity to exploit the accidents of their versatility, something in place occasionally but requiring unusual skill and caution. In brief, a grace or ornament or added power of language, not its constitutive form. </a:t>
            </a:r>
          </a:p>
          <a:p>
            <a:endParaRPr lang="en-US" dirty="0" smtClean="0"/>
          </a:p>
          <a:p>
            <a:r>
              <a:rPr lang="en-US" dirty="0" smtClean="0"/>
              <a:t>Richards (1965). The philosophy of rhetoric (p. 90).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C2CD07-C785-4267-AD99-92ECEE23C22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6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“When a word or phrase like ‘defend’, ‘position,’ ‘maneuver’, or ‘strategy’ is used, there is no a priori way to determine whether the intended underlying conceptual metaphor is an athletic contest or a game of chess.” This view goes against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Lakoff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Johnson (1980a), who have postulated single conceptual metaphors but neglected the fact that they can be interpreted in several different ways. The same is true of linguistic expressions: referring to research by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Gentner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Bowdle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(2001),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Kövecses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(1995) and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Radman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(1997), Ritchie (2003, p. 128) points out that “the evidence thus far is consistent with the idea that many everyday phrases represent overlapping interlocking systems of metaphor, affording many possible interpretations.”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Vervaeke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Kennedy (1996) also stress that a metaphor on a linguistic level may be interpreted according to multiple underlying conceptual metaphors and is not necessarily a surface expression of a single cross‑domain mapping.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C2CD07-C785-4267-AD99-92ECEE23C22B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404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u-RU" sz="11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состоит из предложений, каждое из которых содержит один из 20 представленных на этом слайде многозначных глаголов.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798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ru-RU" sz="11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состоит из предложений, каждое из которых содержит один из 20 представленных на этом слайде многозначных глаголов.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045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dirty="0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81B47F-ABDF-4002-B394-BF4D71E4809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32B3-D93E-4A1B-9A57-F7908C72CE8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8630-2511-450F-80E6-A3446FC534D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56DB-A69A-4244-B9F5-E56CE2278163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5C3-9255-4B8D-AE0F-F4F7D72BABA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D8DCF-5AC5-4F10-B0A3-A6D967488E33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C58E-ECC1-4586-9204-BCB44B0E006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F9CB-2400-426F-B27A-A9AB7DAC847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D640-2734-4C2B-A227-8FEAA9001EB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DFC0-F8D8-4950-8042-C03AD45AA16A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2987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AB8-0F35-47C5-82C9-7125C22F0E9B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1048183" y="1600200"/>
            <a:ext cx="4900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00"/>
            </a:lvl1pPr>
            <a:lvl2pPr lvl="1">
              <a:spcBef>
                <a:spcPts val="0"/>
              </a:spcBef>
              <a:buSzPct val="100000"/>
              <a:defRPr sz="2600"/>
            </a:lvl2pPr>
            <a:lvl3pPr lvl="2">
              <a:spcBef>
                <a:spcPts val="0"/>
              </a:spcBef>
              <a:buSzPct val="100000"/>
              <a:defRPr sz="2600"/>
            </a:lvl3pPr>
            <a:lvl4pPr lvl="3">
              <a:spcBef>
                <a:spcPts val="0"/>
              </a:spcBef>
              <a:buSzPct val="100000"/>
              <a:defRPr sz="2600"/>
            </a:lvl4pPr>
            <a:lvl5pPr lvl="4">
              <a:spcBef>
                <a:spcPts val="0"/>
              </a:spcBef>
              <a:buSzPct val="100000"/>
              <a:defRPr sz="2600"/>
            </a:lvl5pPr>
            <a:lvl6pPr lvl="5">
              <a:spcBef>
                <a:spcPts val="0"/>
              </a:spcBef>
              <a:buSzPct val="100000"/>
              <a:defRPr sz="2600"/>
            </a:lvl6pPr>
            <a:lvl7pPr lvl="6">
              <a:spcBef>
                <a:spcPts val="0"/>
              </a:spcBef>
              <a:buSzPct val="100000"/>
              <a:defRPr sz="2600"/>
            </a:lvl7pPr>
            <a:lvl8pPr lvl="7">
              <a:spcBef>
                <a:spcPts val="0"/>
              </a:spcBef>
              <a:buSzPct val="100000"/>
              <a:defRPr sz="2600"/>
            </a:lvl8pPr>
            <a:lvl9pPr lvl="8">
              <a:spcBef>
                <a:spcPts val="0"/>
              </a:spcBef>
              <a:buSzPct val="100000"/>
              <a:defRPr sz="2600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6243544" y="1600200"/>
            <a:ext cx="4900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600"/>
            </a:lvl1pPr>
            <a:lvl2pPr lvl="1">
              <a:spcBef>
                <a:spcPts val="0"/>
              </a:spcBef>
              <a:buSzPct val="100000"/>
              <a:defRPr sz="2600"/>
            </a:lvl2pPr>
            <a:lvl3pPr lvl="2">
              <a:spcBef>
                <a:spcPts val="0"/>
              </a:spcBef>
              <a:buSzPct val="100000"/>
              <a:defRPr sz="2600"/>
            </a:lvl3pPr>
            <a:lvl4pPr lvl="3">
              <a:spcBef>
                <a:spcPts val="0"/>
              </a:spcBef>
              <a:buSzPct val="100000"/>
              <a:defRPr sz="2600"/>
            </a:lvl4pPr>
            <a:lvl5pPr lvl="4">
              <a:spcBef>
                <a:spcPts val="0"/>
              </a:spcBef>
              <a:buSzPct val="100000"/>
              <a:defRPr sz="2600"/>
            </a:lvl5pPr>
            <a:lvl6pPr lvl="5">
              <a:spcBef>
                <a:spcPts val="0"/>
              </a:spcBef>
              <a:buSzPct val="100000"/>
              <a:defRPr sz="2600"/>
            </a:lvl6pPr>
            <a:lvl7pPr lvl="6">
              <a:spcBef>
                <a:spcPts val="0"/>
              </a:spcBef>
              <a:buSzPct val="100000"/>
              <a:defRPr sz="2600"/>
            </a:lvl7pPr>
            <a:lvl8pPr lvl="7">
              <a:spcBef>
                <a:spcPts val="0"/>
              </a:spcBef>
              <a:buSzPct val="100000"/>
              <a:defRPr sz="2600"/>
            </a:lvl8pPr>
            <a:lvl9pPr lvl="8">
              <a:spcBef>
                <a:spcPts val="0"/>
              </a:spcBef>
              <a:buSzPct val="100000"/>
              <a:defRPr sz="2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331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7115028-1F44-4782-A2E1-DCCF4866180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9908431" y="6096000"/>
            <a:ext cx="201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slide </a:t>
            </a:r>
            <a:fld id="{CB71949C-944D-4BCB-906C-3216CDFCCAF7}" type="slidenum">
              <a:rPr lang="ru-RU" sz="2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 of 70</a:t>
            </a:r>
            <a:endParaRPr lang="ru-RU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taphor.icsi.berkeley.edu/pub/en/index.php/MetaNet_Metaphor_Wiki" TargetMode="Externa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competitions.codalab.org/competitions/22188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metaphor.icsi.berkeley.edu/pub/en/index.php/Category:Metaphor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://citeseerx.ist.psu.edu/viewdoc/download?doi=10.1.1.415.1260&amp;rep=rep1&amp;type=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20753" y="2563410"/>
            <a:ext cx="7440484" cy="1168483"/>
          </a:xfrm>
        </p:spPr>
        <p:txBody>
          <a:bodyPr>
            <a:noAutofit/>
          </a:bodyPr>
          <a:lstStyle/>
          <a:p>
            <a:r>
              <a:rPr lang="en-US" sz="4000" dirty="0" smtClean="0"/>
              <a:t>COMPUTATIONAL research on METAPHOR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159176" y="4167384"/>
            <a:ext cx="5406617" cy="49738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Yulia </a:t>
            </a:r>
            <a:r>
              <a:rPr lang="en-US" b="1" dirty="0" smtClean="0"/>
              <a:t>Badryzlova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877271" y="423878"/>
            <a:ext cx="8485929" cy="835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Computational Semantics </a:t>
            </a:r>
            <a:r>
              <a:rPr lang="en-GB" dirty="0" smtClean="0"/>
              <a:t>Seminar</a:t>
            </a:r>
          </a:p>
          <a:p>
            <a:r>
              <a:rPr lang="en-GB" dirty="0" smtClean="0"/>
              <a:t>April 22, 2026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54330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History of metaphor theory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7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1138440" y="2887891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Аристотель</a:t>
            </a:r>
            <a:endParaRPr lang="en-US" dirty="0" smtClean="0"/>
          </a:p>
        </p:txBody>
      </p:sp>
      <p:grpSp>
        <p:nvGrpSpPr>
          <p:cNvPr id="10" name="Группа 9"/>
          <p:cNvGrpSpPr/>
          <p:nvPr/>
        </p:nvGrpSpPr>
        <p:grpSpPr>
          <a:xfrm>
            <a:off x="981347" y="234048"/>
            <a:ext cx="10566129" cy="2653845"/>
            <a:chOff x="889554" y="234048"/>
            <a:chExt cx="10566129" cy="2653845"/>
          </a:xfrm>
        </p:grpSpPr>
        <p:pic>
          <p:nvPicPr>
            <p:cNvPr id="1026" name="Picture 2" descr="Аристотель — Википедия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554" y="234049"/>
              <a:ext cx="1982948" cy="2653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Томас Гоббс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110" y="234050"/>
              <a:ext cx="2348651" cy="2653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Борьба Декарта с протестантскими богословами | Arminian Theology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0369" y="234048"/>
              <a:ext cx="2527469" cy="2653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Иммануил Кант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2446" y="234050"/>
              <a:ext cx="2823237" cy="2653843"/>
            </a:xfrm>
            <a:prstGeom prst="rect">
              <a:avLst/>
            </a:prstGeom>
            <a:noFill/>
            <a:scene3d>
              <a:camera prst="orthographicFront">
                <a:rot lat="0" lon="10799999" rev="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Группа 10"/>
          <p:cNvGrpSpPr/>
          <p:nvPr/>
        </p:nvGrpSpPr>
        <p:grpSpPr>
          <a:xfrm>
            <a:off x="981347" y="3530547"/>
            <a:ext cx="10149041" cy="2686724"/>
            <a:chOff x="981347" y="3346607"/>
            <a:chExt cx="10149041" cy="2686724"/>
          </a:xfrm>
        </p:grpSpPr>
        <p:pic>
          <p:nvPicPr>
            <p:cNvPr id="1036" name="Picture 12" descr="Бертран Рассел (Bertrand Russell)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347" y="3362219"/>
              <a:ext cx="2230378" cy="2671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Витгенштейн Людвиг. Книги онлайн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1580" y="3346607"/>
              <a:ext cx="1916578" cy="2655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Рикёр Поль электронные книги, биография.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853" y="3346607"/>
              <a:ext cx="1869778" cy="2671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Жак Деррида — фото, биография, личная жизнь, причина смерти, философ - 24СМИ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1326" y="3362219"/>
              <a:ext cx="1989062" cy="2655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Объект 2"/>
          <p:cNvSpPr txBox="1">
            <a:spLocks/>
          </p:cNvSpPr>
          <p:nvPr/>
        </p:nvSpPr>
        <p:spPr>
          <a:xfrm>
            <a:off x="3692626" y="2887891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Т. Гоббс</a:t>
            </a:r>
            <a:endParaRPr lang="en-US" dirty="0" smtClean="0"/>
          </a:p>
        </p:txBody>
      </p:sp>
      <p:sp>
        <p:nvSpPr>
          <p:cNvPr id="21" name="Объект 2"/>
          <p:cNvSpPr txBox="1">
            <a:spLocks/>
          </p:cNvSpPr>
          <p:nvPr/>
        </p:nvSpPr>
        <p:spPr>
          <a:xfrm>
            <a:off x="6401145" y="2887891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Р. Декарт</a:t>
            </a:r>
            <a:endParaRPr lang="en-US" dirty="0" smtClean="0"/>
          </a:p>
        </p:txBody>
      </p:sp>
      <p:sp>
        <p:nvSpPr>
          <p:cNvPr id="22" name="Объект 2"/>
          <p:cNvSpPr txBox="1">
            <a:spLocks/>
          </p:cNvSpPr>
          <p:nvPr/>
        </p:nvSpPr>
        <p:spPr>
          <a:xfrm>
            <a:off x="9451306" y="2887891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И. Кант</a:t>
            </a:r>
            <a:endParaRPr lang="en-US" dirty="0" smtClean="0"/>
          </a:p>
        </p:txBody>
      </p:sp>
      <p:sp>
        <p:nvSpPr>
          <p:cNvPr id="23" name="Объект 2"/>
          <p:cNvSpPr txBox="1">
            <a:spLocks/>
          </p:cNvSpPr>
          <p:nvPr/>
        </p:nvSpPr>
        <p:spPr>
          <a:xfrm>
            <a:off x="1138440" y="6186047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Б. Рассел</a:t>
            </a:r>
            <a:endParaRPr lang="en-US" dirty="0" smtClean="0"/>
          </a:p>
        </p:txBody>
      </p:sp>
      <p:sp>
        <p:nvSpPr>
          <p:cNvPr id="24" name="Объект 2"/>
          <p:cNvSpPr txBox="1">
            <a:spLocks/>
          </p:cNvSpPr>
          <p:nvPr/>
        </p:nvSpPr>
        <p:spPr>
          <a:xfrm>
            <a:off x="3785101" y="6186047"/>
            <a:ext cx="2209536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Л. </a:t>
            </a:r>
            <a:r>
              <a:rPr lang="ru-RU" dirty="0" err="1" smtClean="0"/>
              <a:t>Витгенштейн</a:t>
            </a:r>
            <a:endParaRPr lang="en-US" dirty="0" smtClean="0"/>
          </a:p>
        </p:txBody>
      </p:sp>
      <p:sp>
        <p:nvSpPr>
          <p:cNvPr id="25" name="Объект 2"/>
          <p:cNvSpPr txBox="1">
            <a:spLocks/>
          </p:cNvSpPr>
          <p:nvPr/>
        </p:nvSpPr>
        <p:spPr>
          <a:xfrm>
            <a:off x="6808047" y="6186047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П. </a:t>
            </a:r>
            <a:r>
              <a:rPr lang="ru-RU" dirty="0" err="1" smtClean="0"/>
              <a:t>Рикёр</a:t>
            </a:r>
            <a:endParaRPr lang="en-US" dirty="0" smtClean="0"/>
          </a:p>
        </p:txBody>
      </p:sp>
      <p:sp>
        <p:nvSpPr>
          <p:cNvPr id="26" name="Объект 2"/>
          <p:cNvSpPr txBox="1">
            <a:spLocks/>
          </p:cNvSpPr>
          <p:nvPr/>
        </p:nvSpPr>
        <p:spPr>
          <a:xfrm>
            <a:off x="9243041" y="6186047"/>
            <a:ext cx="1916192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dirty="0" smtClean="0"/>
              <a:t>Ж. </a:t>
            </a:r>
            <a:r>
              <a:rPr lang="ru-RU" dirty="0" err="1" smtClean="0"/>
              <a:t>Деррида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031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21384" y="256913"/>
            <a:ext cx="2867526" cy="1187116"/>
          </a:xfrm>
        </p:spPr>
        <p:txBody>
          <a:bodyPr/>
          <a:lstStyle/>
          <a:p>
            <a:r>
              <a:rPr lang="ru-RU" dirty="0" err="1"/>
              <a:t>μετ</a:t>
            </a:r>
            <a:r>
              <a:rPr lang="ru-RU" dirty="0"/>
              <a:t>αφορά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6960" y="1248967"/>
            <a:ext cx="9027695" cy="1760621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ru-RU" sz="3200" dirty="0" err="1" smtClean="0"/>
              <a:t>μετά</a:t>
            </a:r>
            <a:r>
              <a:rPr lang="ru-RU" sz="3200" dirty="0" smtClean="0"/>
              <a:t> </a:t>
            </a:r>
            <a:r>
              <a:rPr lang="ru-RU" sz="3200" dirty="0"/>
              <a:t>«над» + φορός «несущий</a:t>
            </a:r>
            <a:r>
              <a:rPr lang="ru-RU" sz="3200" dirty="0" smtClean="0"/>
              <a:t>»</a:t>
            </a:r>
          </a:p>
          <a:p>
            <a:pPr marL="45720" indent="0" algn="ctr">
              <a:buNone/>
            </a:pPr>
            <a:r>
              <a:rPr lang="ru-RU" sz="3200" dirty="0" smtClean="0"/>
              <a:t>«</a:t>
            </a:r>
            <a:r>
              <a:rPr lang="ru-RU" sz="3200" dirty="0"/>
              <a:t>перенос; переносное значение</a:t>
            </a:r>
            <a:r>
              <a:rPr lang="ru-RU" sz="3200" dirty="0" smtClean="0"/>
              <a:t>»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43464" y="2641925"/>
            <a:ext cx="1046959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b="1" dirty="0" smtClean="0"/>
              <a:t>Аристотель: метафора как фигура речи</a:t>
            </a:r>
            <a:endParaRPr lang="ru-RU" dirty="0"/>
          </a:p>
          <a:p>
            <a:pPr algn="ctr">
              <a:lnSpc>
                <a:spcPct val="150000"/>
              </a:lnSpc>
            </a:pPr>
            <a:r>
              <a:rPr lang="ru-RU" i="1" dirty="0" smtClean="0"/>
              <a:t>«</a:t>
            </a:r>
            <a:r>
              <a:rPr lang="ru-RU" i="1" dirty="0"/>
              <a:t>Всякое имя бывает или общеупотребительное, или глосса, или метафора, или украшение, или вновь составленное, или </a:t>
            </a:r>
            <a:r>
              <a:rPr lang="ru-RU" i="1" dirty="0" err="1"/>
              <a:t>растяженное</a:t>
            </a:r>
            <a:r>
              <a:rPr lang="ru-RU" i="1" dirty="0"/>
              <a:t>, или сокращенное, или измененное</a:t>
            </a:r>
            <a:r>
              <a:rPr lang="ru-RU" i="1" dirty="0" smtClean="0"/>
              <a:t>»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90113" y="4207484"/>
            <a:ext cx="105414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Несмотря </a:t>
            </a:r>
            <a:r>
              <a:rPr lang="ru-RU" dirty="0"/>
              <a:t>на это, благодаря Аристотелю </a:t>
            </a:r>
            <a:r>
              <a:rPr lang="ru-RU" dirty="0" smtClean="0"/>
              <a:t>сложился </a:t>
            </a:r>
            <a:r>
              <a:rPr lang="ru-RU" dirty="0"/>
              <a:t>получивший развитие в 20 веке взгляд на </a:t>
            </a:r>
            <a:r>
              <a:rPr lang="ru-RU" dirty="0" smtClean="0"/>
              <a:t>метафору </a:t>
            </a:r>
            <a:r>
              <a:rPr lang="ru-RU" dirty="0"/>
              <a:t>как на </a:t>
            </a:r>
            <a:r>
              <a:rPr lang="ru-RU" dirty="0" smtClean="0"/>
              <a:t>неотъемлемую </a:t>
            </a:r>
            <a:r>
              <a:rPr lang="ru-RU" dirty="0"/>
              <a:t>принадлежность языка, необходимую для коммуникативных, номинативных и познавательных </a:t>
            </a:r>
            <a:r>
              <a:rPr lang="ru-RU" dirty="0" smtClean="0"/>
              <a:t>целей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5004" y="5971451"/>
            <a:ext cx="37312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Аристотель.   Поэтика</a:t>
            </a:r>
            <a:r>
              <a:rPr lang="ru-RU" sz="1200" dirty="0" smtClean="0"/>
              <a:t>.</a:t>
            </a:r>
          </a:p>
          <a:p>
            <a:r>
              <a:rPr lang="ru-RU" sz="1200" dirty="0" err="1"/>
              <a:t>Скляревская</a:t>
            </a:r>
            <a:r>
              <a:rPr lang="ru-RU" sz="1200" dirty="0"/>
              <a:t> Г.Н. Метафора в системе языка. 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60744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888521" y="790727"/>
            <a:ext cx="105414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 smtClean="0"/>
              <a:t>Квинтилиан</a:t>
            </a:r>
            <a:r>
              <a:rPr lang="ru-RU" sz="2400" b="1" dirty="0" smtClean="0"/>
              <a:t>:</a:t>
            </a:r>
            <a:r>
              <a:rPr lang="ru-RU" sz="2400" dirty="0" smtClean="0"/>
              <a:t> «метафора </a:t>
            </a:r>
            <a:r>
              <a:rPr lang="ru-RU" sz="2400" dirty="0"/>
              <a:t>дарована нам самой природой» и «содействует тому, чтобы ни один предмет не остался без обозначения». </a:t>
            </a:r>
            <a:endParaRPr lang="ru-RU" sz="2400" dirty="0" smtClean="0"/>
          </a:p>
          <a:p>
            <a:pPr>
              <a:lnSpc>
                <a:spcPct val="150000"/>
              </a:lnSpc>
            </a:pPr>
            <a:r>
              <a:rPr lang="ru-RU" sz="2400" b="1" dirty="0" err="1" smtClean="0"/>
              <a:t>Деметрий</a:t>
            </a:r>
            <a:r>
              <a:rPr lang="ru-RU" sz="2400" b="1" dirty="0"/>
              <a:t>:</a:t>
            </a:r>
            <a:r>
              <a:rPr lang="ru-RU" sz="2400" dirty="0"/>
              <a:t> «обиходная речь создала такие хорошие метафоры для некоторых понятий, что мы уже не нуждаемся для них в точных выражениях, такая метафора утвердилась в языке, заняв место буквального обозначения». </a:t>
            </a:r>
            <a:endParaRPr lang="ru-RU" sz="2400" dirty="0" smtClean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Цицерон: </a:t>
            </a:r>
            <a:r>
              <a:rPr lang="ru-RU" sz="2400" dirty="0" smtClean="0"/>
              <a:t>метафора </a:t>
            </a:r>
            <a:r>
              <a:rPr lang="ru-RU" sz="2400" dirty="0"/>
              <a:t>как способ формирования недостающих языку значений – перенос по сходству производится «ввиду отсутствия в языке соответствующего понятию слова». </a:t>
            </a:r>
            <a:endParaRPr lang="ru-RU" sz="2400" dirty="0" smtClean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Теофраст:</a:t>
            </a:r>
            <a:r>
              <a:rPr lang="ru-RU" sz="2400" dirty="0" smtClean="0"/>
              <a:t> метафора пополняет </a:t>
            </a:r>
            <a:r>
              <a:rPr lang="ru-RU" sz="2400" dirty="0"/>
              <a:t>недостаток слов в </a:t>
            </a:r>
            <a:r>
              <a:rPr lang="ru-RU" sz="2400" dirty="0" smtClean="0"/>
              <a:t>языке.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88521" y="6152606"/>
            <a:ext cx="3731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Цит. по </a:t>
            </a:r>
            <a:r>
              <a:rPr lang="ru-RU" sz="1200" dirty="0" err="1" smtClean="0"/>
              <a:t>Скляревская</a:t>
            </a:r>
            <a:r>
              <a:rPr lang="ru-RU" sz="1200" dirty="0" smtClean="0"/>
              <a:t> </a:t>
            </a:r>
            <a:r>
              <a:rPr lang="ru-RU" sz="1200" dirty="0"/>
              <a:t>Г.Н. Метафора в системе языка. 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62036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1228" y="160456"/>
            <a:ext cx="10780145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b="1" dirty="0" smtClean="0"/>
              <a:t>Упадок риторики  </a:t>
            </a:r>
            <a:r>
              <a:rPr lang="en-US" b="1" dirty="0" smtClean="0">
                <a:sym typeface="Wingdings" panose="05000000000000000000" pitchFamily="2" charset="2"/>
              </a:rPr>
              <a:t> </a:t>
            </a:r>
            <a:r>
              <a:rPr lang="ru-RU" b="1" dirty="0" smtClean="0"/>
              <a:t>упадок </a:t>
            </a:r>
            <a:r>
              <a:rPr lang="ru-RU" b="1" dirty="0"/>
              <a:t>развития теории метафоры. 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ru-RU" b="1" dirty="0" smtClean="0"/>
              <a:t>А.  </a:t>
            </a:r>
            <a:r>
              <a:rPr lang="ru-RU" b="1" dirty="0" err="1" smtClean="0"/>
              <a:t>Ричардс</a:t>
            </a:r>
            <a:r>
              <a:rPr lang="ru-RU" b="1" dirty="0" smtClean="0"/>
              <a:t> : </a:t>
            </a:r>
            <a:r>
              <a:rPr lang="ru-RU" dirty="0"/>
              <a:t>«На протяжении истории риторики метафора рассматривалась как нечто вроде удачной уловки, основанной на гибкости слов, как нечто уместное лишь в некоторых случаях и требующее особого искусства и осторожности. Короче говоря, к метафоре относились как к украшению и безделушке, как к некоторому дополнительному механизму языка, но не как к его основной форме» </a:t>
            </a:r>
            <a:r>
              <a:rPr lang="ru-RU" dirty="0" smtClean="0"/>
              <a:t>Долгое </a:t>
            </a:r>
            <a:r>
              <a:rPr lang="ru-RU" dirty="0"/>
              <a:t>время употребление метафор считалось недопустимым для языка </a:t>
            </a:r>
            <a:r>
              <a:rPr lang="ru-RU" dirty="0" smtClean="0"/>
              <a:t>науки </a:t>
            </a:r>
            <a:r>
              <a:rPr lang="ru-RU" dirty="0"/>
              <a:t>из-за недопустимости появления неточностей, связанных с двусмысленностью. </a:t>
            </a:r>
            <a:endParaRPr lang="en-US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641227" y="3366608"/>
            <a:ext cx="107801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Т</a:t>
            </a:r>
            <a:r>
              <a:rPr lang="ru-RU" b="1" dirty="0"/>
              <a:t>.  </a:t>
            </a:r>
            <a:r>
              <a:rPr lang="ru-RU" b="1" dirty="0" smtClean="0"/>
              <a:t>Гоббс</a:t>
            </a:r>
            <a:r>
              <a:rPr lang="ru-RU" dirty="0" smtClean="0"/>
              <a:t>: </a:t>
            </a:r>
            <a:r>
              <a:rPr lang="ru-RU" dirty="0"/>
              <a:t>«</a:t>
            </a:r>
            <a:r>
              <a:rPr lang="ru-RU" i="1" dirty="0"/>
              <a:t>Свет человеческого ума — это вразумительные слова, предварительно очищенные от всякой двусмысленности точными дефинициями. Рассуждение есть шаг, рост знания — путь, а благоденствие человеческого рода — цель. Метафора же и бессмысленные и двусмысленные слова, напротив, суть что-то </a:t>
            </a:r>
            <a:r>
              <a:rPr lang="ru-RU" i="1" dirty="0" err="1"/>
              <a:t>ignes</a:t>
            </a:r>
            <a:r>
              <a:rPr lang="ru-RU" i="1" dirty="0"/>
              <a:t> </a:t>
            </a:r>
            <a:r>
              <a:rPr lang="ru-RU" i="1" dirty="0" err="1"/>
              <a:t>fatui</a:t>
            </a:r>
            <a:r>
              <a:rPr lang="ru-RU" i="1" dirty="0"/>
              <a:t> [блуждающих огней], и рассуждать при их помощи значит бродить среди бесчисленных нелепостей, результат же, к которому они приводят, есть разногласие и возмущение или презрение... Ибо хотя позволительно говорить в обиходной речи, например «дорога идет или ведет сюда или отсюда», «пословица говорит то или это» (между тем как дорога не может ходить, ни пословица говорить), однако, когда мы рассуждаем и ищем истины, такие речи недопустимы</a:t>
            </a:r>
            <a:r>
              <a:rPr lang="ru-RU" dirty="0" smtClean="0"/>
              <a:t>»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18865" y="595328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err="1"/>
              <a:t>Ричардс</a:t>
            </a:r>
            <a:r>
              <a:rPr lang="ru-RU" sz="1400" dirty="0"/>
              <a:t> А. Философия риторики // Теория метафоры</a:t>
            </a:r>
          </a:p>
          <a:p>
            <a:r>
              <a:rPr lang="ru-RU" sz="1400" dirty="0"/>
              <a:t>Гоббс Т. Левиафан.</a:t>
            </a:r>
          </a:p>
        </p:txBody>
      </p:sp>
    </p:spTree>
    <p:extLst>
      <p:ext uri="{BB962C8B-B14F-4D97-AF65-F5344CB8AC3E}">
        <p14:creationId xmlns:p14="http://schemas.microsoft.com/office/powerpoint/2010/main" val="193494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The Cognitive Turn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35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5667" y="1051760"/>
            <a:ext cx="7055651" cy="46522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Ivor </a:t>
            </a:r>
            <a:r>
              <a:rPr lang="en-US" dirty="0" smtClean="0"/>
              <a:t>Armstrong </a:t>
            </a:r>
            <a:r>
              <a:rPr lang="en-US" dirty="0" smtClean="0"/>
              <a:t>Richards</a:t>
            </a:r>
            <a:r>
              <a:rPr lang="ru-RU" dirty="0" smtClean="0"/>
              <a:t> (19</a:t>
            </a:r>
            <a:r>
              <a:rPr lang="en-US" dirty="0" smtClean="0"/>
              <a:t>36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2050" name="Picture 2" descr="IA Richards' Concept of Four Kinds of Meaning – Literary Theory and  Criticis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2606841"/>
            <a:ext cx="2908456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Philosophy of Rhetoric (Galaxy Books): Richards, I. A.: 9780195007152:  Amazon.com: Boo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147" y="264291"/>
            <a:ext cx="1990392" cy="306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634359" y="2389025"/>
            <a:ext cx="77555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Metaphor is…</a:t>
            </a:r>
            <a:r>
              <a:rPr lang="ru-RU" sz="2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an omnipresent principle of the language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the essence of thinking</a:t>
            </a:r>
            <a:endParaRPr lang="ru-RU" sz="24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ea typeface="Times New Roman" panose="02020603050405020304" pitchFamily="18" charset="0"/>
                <a:cs typeface="Arial" panose="020B0604020202020204" pitchFamily="34" charset="0"/>
              </a:rPr>
              <a:t>not so much a manifestation of our experience of the world as the principle by which we construct that </a:t>
            </a:r>
            <a:r>
              <a:rPr lang="en-US" sz="2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world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029929" y="5433278"/>
            <a:ext cx="33959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Richards</a:t>
            </a:r>
            <a:r>
              <a:rPr lang="ru-RU" sz="1400" dirty="0"/>
              <a:t>, I. A.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Philosophy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 smtClean="0"/>
              <a:t>Rhetoric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2207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53752" y="672362"/>
            <a:ext cx="5734140" cy="46522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Ivor </a:t>
            </a:r>
            <a:r>
              <a:rPr lang="en-US" dirty="0" err="1" smtClean="0"/>
              <a:t>Armostrong</a:t>
            </a:r>
            <a:r>
              <a:rPr lang="en-US" dirty="0" smtClean="0"/>
              <a:t> </a:t>
            </a:r>
            <a:r>
              <a:rPr lang="en-US" dirty="0" smtClean="0"/>
              <a:t>Richards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56381" y="2219422"/>
            <a:ext cx="96805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 smtClean="0"/>
              <a:t>“содержание”, </a:t>
            </a:r>
            <a:r>
              <a:rPr lang="ru-RU" sz="2400" dirty="0"/>
              <a:t>или “</a:t>
            </a:r>
            <a:r>
              <a:rPr lang="ru-RU" sz="2400" dirty="0" smtClean="0"/>
              <a:t>основа” </a:t>
            </a:r>
            <a:r>
              <a:rPr lang="ru-RU" sz="2400" dirty="0"/>
              <a:t>(</a:t>
            </a:r>
            <a:r>
              <a:rPr lang="ru-RU" sz="2400" i="1" dirty="0" err="1" smtClean="0"/>
              <a:t>tenor</a:t>
            </a:r>
            <a:r>
              <a:rPr lang="ru-RU" sz="2400" dirty="0" smtClean="0"/>
              <a:t>): </a:t>
            </a:r>
            <a:r>
              <a:rPr lang="ru-RU" sz="2400" dirty="0"/>
              <a:t>идея, относительно которой строится метафора</a:t>
            </a:r>
            <a:endParaRPr lang="ru-RU" sz="2400" dirty="0" smtClean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 smtClean="0"/>
              <a:t>“оболочка”, </a:t>
            </a:r>
            <a:r>
              <a:rPr lang="ru-RU" sz="2400" dirty="0"/>
              <a:t>или “</a:t>
            </a:r>
            <a:r>
              <a:rPr lang="ru-RU" sz="2400" dirty="0" smtClean="0"/>
              <a:t>носитель” </a:t>
            </a:r>
            <a:r>
              <a:rPr lang="ru-RU" sz="2400" dirty="0"/>
              <a:t>(</a:t>
            </a:r>
            <a:r>
              <a:rPr lang="ru-RU" sz="2400" i="1" dirty="0" err="1" smtClean="0"/>
              <a:t>vehicle</a:t>
            </a:r>
            <a:r>
              <a:rPr lang="ru-RU" sz="2400" dirty="0" smtClean="0"/>
              <a:t>): идея</a:t>
            </a:r>
            <a:r>
              <a:rPr lang="ru-RU" sz="2400" dirty="0"/>
              <a:t>, выражающая это содержание, “то, с чем сравнивается”. </a:t>
            </a:r>
            <a:endParaRPr lang="ru-RU" sz="2400" dirty="0" smtClean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en-US" sz="2400" dirty="0" smtClean="0"/>
              <a:t>The </a:t>
            </a:r>
            <a:r>
              <a:rPr lang="en-US" sz="2400" dirty="0" err="1"/>
              <a:t>copresence</a:t>
            </a:r>
            <a:r>
              <a:rPr lang="en-US" sz="2400" dirty="0"/>
              <a:t> of the vehicle and tenor results in a meaning which is not attainable without their interaction</a:t>
            </a:r>
            <a:endParaRPr lang="ru-RU" sz="2400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664028" y="1445892"/>
            <a:ext cx="4199021" cy="465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Структура метафоры: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61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1138" y="1579242"/>
            <a:ext cx="5192250" cy="48266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The interaction theory of metaphor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424956" y="3738725"/>
            <a:ext cx="2993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 smtClean="0"/>
              <a:t>“фокус</a:t>
            </a:r>
            <a:r>
              <a:rPr lang="ru-RU" sz="2400" dirty="0"/>
              <a:t>” (</a:t>
            </a:r>
            <a:r>
              <a:rPr lang="ru-RU" sz="2400" i="1" dirty="0" err="1"/>
              <a:t>focus</a:t>
            </a:r>
            <a:r>
              <a:rPr lang="ru-RU" sz="2400" dirty="0"/>
              <a:t>) </a:t>
            </a:r>
            <a:endParaRPr lang="ru-RU" sz="2400" dirty="0" smtClean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 smtClean="0"/>
              <a:t>“рамка” </a:t>
            </a:r>
            <a:r>
              <a:rPr lang="ru-RU" sz="2400" dirty="0"/>
              <a:t>(</a:t>
            </a:r>
            <a:r>
              <a:rPr lang="ru-RU" sz="2400" i="1" dirty="0" err="1" smtClean="0"/>
              <a:t>frame</a:t>
            </a:r>
            <a:r>
              <a:rPr lang="ru-RU" sz="2400" dirty="0" smtClean="0"/>
              <a:t>)</a:t>
            </a:r>
          </a:p>
        </p:txBody>
      </p:sp>
      <p:pic>
        <p:nvPicPr>
          <p:cNvPr id="3074" name="Picture 2" descr="Max Black philosopher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57" y="277419"/>
            <a:ext cx="2657058" cy="282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odels and Metaphors: Studies in Language and Philosophy: Amazon.co.uk:  Black, Max: 9780801400414: Boo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23" y="208144"/>
            <a:ext cx="2138967" cy="322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3997752" y="2967790"/>
            <a:ext cx="4199021" cy="465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Структура метафоры: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95855" y="5095859"/>
            <a:ext cx="96521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smtClean="0"/>
              <a:t>Метафора является результатом взаимодействия этих двух объектов, в процессе которого происходит расширение, сдвиг в значении. </a:t>
            </a:r>
            <a:endParaRPr lang="ru-RU" sz="2400" dirty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339161" y="542544"/>
            <a:ext cx="5192250" cy="4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Max Black (1962)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095855" y="6313744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err="1" smtClean="0"/>
              <a:t>Black</a:t>
            </a:r>
            <a:r>
              <a:rPr lang="ru-RU" sz="1600" dirty="0"/>
              <a:t>, M. </a:t>
            </a:r>
            <a:r>
              <a:rPr lang="ru-RU" sz="1600" dirty="0" err="1"/>
              <a:t>Models</a:t>
            </a:r>
            <a:r>
              <a:rPr lang="ru-RU" sz="1600" dirty="0"/>
              <a:t>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metaphors</a:t>
            </a:r>
            <a:r>
              <a:rPr lang="ru-RU" sz="1600" dirty="0"/>
              <a:t>: </a:t>
            </a:r>
            <a:r>
              <a:rPr lang="ru-RU" sz="1600" dirty="0" err="1"/>
              <a:t>Studies</a:t>
            </a:r>
            <a:r>
              <a:rPr lang="ru-RU" sz="1600" dirty="0"/>
              <a:t> </a:t>
            </a:r>
            <a:r>
              <a:rPr lang="ru-RU" sz="1600" dirty="0" err="1"/>
              <a:t>in</a:t>
            </a:r>
            <a:r>
              <a:rPr lang="ru-RU" sz="1600" dirty="0"/>
              <a:t> </a:t>
            </a:r>
            <a:r>
              <a:rPr lang="ru-RU" sz="1600" dirty="0" err="1"/>
              <a:t>language</a:t>
            </a:r>
            <a:r>
              <a:rPr lang="ru-RU" sz="1600" dirty="0"/>
              <a:t>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philosophy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03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32685" y="880909"/>
            <a:ext cx="2530642" cy="4826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M. Black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29264" y="1443788"/>
            <a:ext cx="82937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Взаимодействуют </a:t>
            </a:r>
            <a:r>
              <a:rPr lang="ru-RU" sz="2400" dirty="0"/>
              <a:t>две системы концептов: к главному объекту </a:t>
            </a:r>
            <a:r>
              <a:rPr lang="ru-RU" sz="2400" dirty="0" smtClean="0"/>
              <a:t>применяется </a:t>
            </a:r>
            <a:r>
              <a:rPr lang="ru-RU" sz="2400" dirty="0"/>
              <a:t>система ассоциируемых импликаций, связанных со вспомогательным объектом, в и результате образуется новое, не сводимое к сумме компонентов значение, </a:t>
            </a:r>
            <a:r>
              <a:rPr lang="ru-RU" sz="2400" dirty="0" smtClean="0"/>
              <a:t>и </a:t>
            </a:r>
            <a:r>
              <a:rPr lang="ru-RU" sz="2400" dirty="0"/>
              <a:t>интерпретация каждого объекта также изменяется. Метафора в этой схеме действует как особый </a:t>
            </a:r>
            <a:r>
              <a:rPr lang="ru-RU" sz="2400" dirty="0" smtClean="0"/>
              <a:t>фильтр </a:t>
            </a:r>
            <a:r>
              <a:rPr lang="en-US" sz="2400" dirty="0" smtClean="0">
                <a:sym typeface="Wingdings" panose="05000000000000000000" pitchFamily="2" charset="2"/>
              </a:rPr>
              <a:t> </a:t>
            </a:r>
            <a:r>
              <a:rPr lang="ru-RU" sz="2400" dirty="0" smtClean="0"/>
              <a:t>в качестве системы </a:t>
            </a:r>
            <a:r>
              <a:rPr lang="ru-RU" sz="2400" dirty="0"/>
              <a:t>фильтрации задает определенный способ видения </a:t>
            </a:r>
            <a:r>
              <a:rPr lang="ru-RU" sz="2400" dirty="0" smtClean="0"/>
              <a:t>объекта («закопченное стекло»). </a:t>
            </a:r>
            <a:endParaRPr lang="ru-RU" sz="2400" dirty="0"/>
          </a:p>
        </p:txBody>
      </p:sp>
      <p:pic>
        <p:nvPicPr>
          <p:cNvPr id="1026" name="Picture 2" descr="https://alna.ru/up/goods_img/9/74d2876064b3c0b719be60736854b2ad6df74b8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57" y="2117292"/>
            <a:ext cx="3276707" cy="327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25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1195" y="553592"/>
            <a:ext cx="6789857" cy="442043"/>
          </a:xfrm>
        </p:spPr>
        <p:txBody>
          <a:bodyPr>
            <a:noAutofit/>
          </a:bodyPr>
          <a:lstStyle/>
          <a:p>
            <a:r>
              <a:rPr lang="en-US" sz="3600" dirty="0" smtClean="0"/>
              <a:t>George </a:t>
            </a:r>
            <a:r>
              <a:rPr lang="en-US" sz="3600" dirty="0" err="1" smtClean="0"/>
              <a:t>Lakoff</a:t>
            </a:r>
            <a:r>
              <a:rPr lang="en-US" sz="3600" dirty="0" smtClean="0"/>
              <a:t> (1980, 1993)</a:t>
            </a:r>
            <a:endParaRPr lang="ru-RU" sz="3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81195" y="1430458"/>
            <a:ext cx="7425240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 smtClean="0"/>
              <a:t>Метафора – основная ментальная операция, способ </a:t>
            </a:r>
            <a:r>
              <a:rPr lang="ru-RU" sz="2000" dirty="0"/>
              <a:t>познания, категоризации, концептуализации, оценки и объяснения мира</a:t>
            </a:r>
          </a:p>
        </p:txBody>
      </p:sp>
      <p:pic>
        <p:nvPicPr>
          <p:cNvPr id="6146" name="Picture 2" descr="George Lakoff - Wikiped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9" t="-863" b="1"/>
          <a:stretch/>
        </p:blipFill>
        <p:spPr bwMode="auto">
          <a:xfrm>
            <a:off x="350758" y="2744208"/>
            <a:ext cx="3527077" cy="29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Metaphors We Live By: Lakoff, George, Johnson, Mark: 9780226468006: Books -  Amazon.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214" y="230207"/>
            <a:ext cx="2154488" cy="318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977603" y="2970999"/>
            <a:ext cx="7899583" cy="1891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Благодаря метафоре мы можем свести </a:t>
            </a:r>
            <a:r>
              <a:rPr lang="ru-RU" sz="2000" dirty="0" smtClean="0"/>
              <a:t>абстрактные </a:t>
            </a:r>
            <a:r>
              <a:rPr lang="ru-RU" sz="2000" dirty="0"/>
              <a:t>понятия к нашему физическому, чувственному опыту в его связи с внешним миром </a:t>
            </a:r>
            <a:r>
              <a:rPr lang="ru-RU" sz="2000" dirty="0" smtClean="0"/>
              <a:t>(и </a:t>
            </a:r>
            <a:r>
              <a:rPr lang="ru-RU" sz="2000" dirty="0"/>
              <a:t>значит, </a:t>
            </a:r>
            <a:r>
              <a:rPr lang="ru-RU" sz="2000" dirty="0" smtClean="0"/>
              <a:t>понять их). То </a:t>
            </a:r>
            <a:r>
              <a:rPr lang="ru-RU" sz="2000" dirty="0"/>
              <a:t>есть </a:t>
            </a:r>
            <a:r>
              <a:rPr lang="ru-RU" sz="2000" dirty="0" smtClean="0"/>
              <a:t>наша понятийная </a:t>
            </a:r>
            <a:r>
              <a:rPr lang="ru-RU" sz="2000" dirty="0"/>
              <a:t>система метафорична по своей </a:t>
            </a:r>
            <a:r>
              <a:rPr lang="ru-RU" sz="2000" dirty="0" smtClean="0"/>
              <a:t>сути. </a:t>
            </a:r>
            <a:endParaRPr lang="en-US" sz="20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106" y="230207"/>
            <a:ext cx="2036114" cy="153085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350758" y="5976792"/>
            <a:ext cx="41090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Lakoff</a:t>
            </a:r>
            <a:r>
              <a:rPr lang="ru-RU" sz="1400" dirty="0"/>
              <a:t>, G., &amp; </a:t>
            </a:r>
            <a:r>
              <a:rPr lang="ru-RU" sz="1400" dirty="0" err="1"/>
              <a:t>Johnson</a:t>
            </a:r>
            <a:r>
              <a:rPr lang="ru-RU" sz="1400" dirty="0"/>
              <a:t>, M. </a:t>
            </a:r>
            <a:r>
              <a:rPr lang="ru-RU" sz="1400" dirty="0" err="1"/>
              <a:t>Metaphors</a:t>
            </a:r>
            <a:r>
              <a:rPr lang="ru-RU" sz="1400" dirty="0"/>
              <a:t> </a:t>
            </a:r>
            <a:r>
              <a:rPr lang="ru-RU" sz="1400" dirty="0" err="1"/>
              <a:t>we</a:t>
            </a:r>
            <a:r>
              <a:rPr lang="ru-RU" sz="1400" dirty="0"/>
              <a:t> </a:t>
            </a:r>
            <a:r>
              <a:rPr lang="ru-RU" sz="1400" dirty="0" err="1"/>
              <a:t>live</a:t>
            </a:r>
            <a:r>
              <a:rPr lang="ru-RU" sz="1400" dirty="0"/>
              <a:t> </a:t>
            </a:r>
            <a:r>
              <a:rPr lang="ru-RU" sz="1400" dirty="0" err="1"/>
              <a:t>by</a:t>
            </a:r>
            <a:r>
              <a:rPr lang="ru-RU" sz="1400" dirty="0"/>
              <a:t>.</a:t>
            </a:r>
          </a:p>
          <a:p>
            <a:r>
              <a:rPr lang="ru-RU" sz="1400" dirty="0" err="1"/>
              <a:t>Lakoff</a:t>
            </a:r>
            <a:r>
              <a:rPr lang="ru-RU" sz="1400" dirty="0"/>
              <a:t>, G. </a:t>
            </a:r>
            <a:r>
              <a:rPr lang="ru-RU" sz="1400" dirty="0" err="1"/>
              <a:t>The</a:t>
            </a:r>
            <a:r>
              <a:rPr lang="ru-RU" sz="1400" dirty="0"/>
              <a:t> </a:t>
            </a:r>
            <a:r>
              <a:rPr lang="ru-RU" sz="1400" dirty="0" err="1"/>
              <a:t>contemporary</a:t>
            </a:r>
            <a:r>
              <a:rPr lang="ru-RU" sz="1400" dirty="0"/>
              <a:t> </a:t>
            </a:r>
            <a:r>
              <a:rPr lang="ru-RU" sz="1400" dirty="0" err="1"/>
              <a:t>theory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metaphor</a:t>
            </a:r>
            <a:r>
              <a:rPr lang="ru-RU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535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5 Content Strategy Shortcuts That Aren't Shortcuts At 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351" y="1507094"/>
            <a:ext cx="8255181" cy="464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348504" y="699304"/>
            <a:ext cx="2980303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“Mental shortcut</a:t>
            </a:r>
            <a:r>
              <a:rPr lang="en-US" sz="2800" b="1" dirty="0" smtClean="0"/>
              <a:t>”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858218" y="634936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https://martech.org/wp-content/uploads/2015/08/shortcut-strategy-maze-path-direction-ss-1920.jpg</a:t>
            </a:r>
          </a:p>
        </p:txBody>
      </p:sp>
    </p:spTree>
    <p:extLst>
      <p:ext uri="{BB962C8B-B14F-4D97-AF65-F5344CB8AC3E}">
        <p14:creationId xmlns:p14="http://schemas.microsoft.com/office/powerpoint/2010/main" val="5555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48310" y="4607269"/>
            <a:ext cx="2666166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менее понятная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более абстрактная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274322" y="1102451"/>
            <a:ext cx="3326296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G. </a:t>
            </a:r>
            <a:r>
              <a:rPr lang="en-US" dirty="0" err="1" smtClean="0"/>
              <a:t>Lakoff</a:t>
            </a:r>
            <a:endParaRPr lang="ru-RU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1985747" y="2422045"/>
            <a:ext cx="7019513" cy="1961321"/>
            <a:chOff x="2023437" y="1481463"/>
            <a:chExt cx="7019513" cy="1961321"/>
          </a:xfrm>
        </p:grpSpPr>
        <p:grpSp>
          <p:nvGrpSpPr>
            <p:cNvPr id="8" name="Группа 7"/>
            <p:cNvGrpSpPr/>
            <p:nvPr/>
          </p:nvGrpSpPr>
          <p:grpSpPr>
            <a:xfrm>
              <a:off x="2023437" y="1481463"/>
              <a:ext cx="3048000" cy="1961321"/>
              <a:chOff x="6864626" y="2186610"/>
              <a:chExt cx="3048000" cy="1961321"/>
            </a:xfrm>
          </p:grpSpPr>
          <p:sp>
            <p:nvSpPr>
              <p:cNvPr id="15" name="Облако 14"/>
              <p:cNvSpPr/>
              <p:nvPr/>
            </p:nvSpPr>
            <p:spPr>
              <a:xfrm>
                <a:off x="6864626" y="2186610"/>
                <a:ext cx="3048000" cy="1961321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798904" y="2967215"/>
                <a:ext cx="13227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TARGET</a:t>
                </a:r>
                <a:r>
                  <a:rPr lang="ru-RU" sz="1600" dirty="0" smtClean="0"/>
                  <a:t>**</a:t>
                </a:r>
                <a:endParaRPr lang="en-US" sz="1600" dirty="0" smtClean="0"/>
              </a:p>
            </p:txBody>
          </p:sp>
        </p:grpSp>
        <p:grpSp>
          <p:nvGrpSpPr>
            <p:cNvPr id="9" name="Группа 8"/>
            <p:cNvGrpSpPr/>
            <p:nvPr/>
          </p:nvGrpSpPr>
          <p:grpSpPr>
            <a:xfrm>
              <a:off x="7346671" y="1539717"/>
              <a:ext cx="1696279" cy="1683027"/>
              <a:chOff x="1934817" y="2464904"/>
              <a:chExt cx="1696279" cy="1683027"/>
            </a:xfrm>
          </p:grpSpPr>
          <p:sp>
            <p:nvSpPr>
              <p:cNvPr id="13" name="Куб 12"/>
              <p:cNvSpPr/>
              <p:nvPr/>
            </p:nvSpPr>
            <p:spPr>
              <a:xfrm>
                <a:off x="1934817" y="2464904"/>
                <a:ext cx="1696279" cy="1683027"/>
              </a:xfrm>
              <a:prstGeom prst="cub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934817" y="3187255"/>
                <a:ext cx="1373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SOURCE</a:t>
                </a:r>
                <a:r>
                  <a:rPr lang="ru-RU" sz="1600" dirty="0" smtClean="0"/>
                  <a:t>**</a:t>
                </a:r>
                <a:endParaRPr lang="en-US" sz="1600" dirty="0" smtClean="0"/>
              </a:p>
            </p:txBody>
          </p:sp>
        </p:grpSp>
        <p:grpSp>
          <p:nvGrpSpPr>
            <p:cNvPr id="10" name="Группа 9"/>
            <p:cNvGrpSpPr/>
            <p:nvPr/>
          </p:nvGrpSpPr>
          <p:grpSpPr>
            <a:xfrm>
              <a:off x="5179941" y="1970089"/>
              <a:ext cx="1914938" cy="641242"/>
              <a:chOff x="4653167" y="1985479"/>
              <a:chExt cx="1914938" cy="641242"/>
            </a:xfrm>
          </p:grpSpPr>
          <p:sp>
            <p:nvSpPr>
              <p:cNvPr id="11" name="Штриховая стрелка вправо 10"/>
              <p:cNvSpPr/>
              <p:nvPr/>
            </p:nvSpPr>
            <p:spPr>
              <a:xfrm rot="10800000">
                <a:off x="4653167" y="1985479"/>
                <a:ext cx="1914938" cy="641242"/>
              </a:xfrm>
              <a:prstGeom prst="striped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124438" y="2108182"/>
                <a:ext cx="1244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mapping</a:t>
                </a:r>
                <a:r>
                  <a:rPr lang="ru-RU" dirty="0" smtClean="0"/>
                  <a:t>*</a:t>
                </a:r>
                <a:endParaRPr lang="ru-RU" dirty="0"/>
              </a:p>
            </p:txBody>
          </p:sp>
        </p:grpSp>
      </p:grpSp>
      <p:sp>
        <p:nvSpPr>
          <p:cNvPr id="18" name="Прямоугольник 17"/>
          <p:cNvSpPr/>
          <p:nvPr/>
        </p:nvSpPr>
        <p:spPr>
          <a:xfrm>
            <a:off x="5746465" y="4301398"/>
            <a:ext cx="4821310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основана на непосредственном взаимодействии </a:t>
            </a:r>
            <a:r>
              <a:rPr lang="ru-RU" sz="2000" dirty="0"/>
              <a:t>человека с окружающим </a:t>
            </a:r>
            <a:r>
              <a:rPr lang="ru-RU" sz="2000" dirty="0" smtClean="0"/>
              <a:t>миром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первичным </a:t>
            </a:r>
            <a:r>
              <a:rPr lang="ru-RU" sz="2000" dirty="0"/>
              <a:t>является физический опыт</a:t>
            </a:r>
            <a:endParaRPr lang="ru-RU" sz="2000" dirty="0" smtClean="0"/>
          </a:p>
        </p:txBody>
      </p:sp>
      <p:sp>
        <p:nvSpPr>
          <p:cNvPr id="19" name="Прямоугольник 18"/>
          <p:cNvSpPr/>
          <p:nvPr/>
        </p:nvSpPr>
        <p:spPr>
          <a:xfrm>
            <a:off x="460674" y="5978780"/>
            <a:ext cx="4948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smtClean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*междоменный перенос </a:t>
            </a:r>
            <a:r>
              <a:rPr lang="en-US" sz="1400" smtClean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 </a:t>
            </a:r>
            <a:r>
              <a:rPr lang="ru-RU" sz="1400" smtClean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проекция</a:t>
            </a:r>
          </a:p>
          <a:p>
            <a:r>
              <a:rPr lang="ru-RU" sz="1400" smtClean="0">
                <a:latin typeface="Calibri" panose="020F0502020204030204" pitchFamily="34" charset="0"/>
                <a:cs typeface="Arial" panose="020B0604020202020204" pitchFamily="34" charset="0"/>
              </a:rPr>
              <a:t>** концептуальные домены, концептосферы</a:t>
            </a:r>
            <a:endParaRPr lang="ru-RU" sz="14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60674" y="8506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ArialMT"/>
              </a:rPr>
              <a:t>элементы сферы-источника структурируют менее понятную концептуальную сферу-мишень, что составляет сущность когнитивного потенциала метафоры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548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5010" y="653656"/>
            <a:ext cx="3326296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George </a:t>
            </a:r>
            <a:r>
              <a:rPr lang="en-US" dirty="0" err="1" smtClean="0"/>
              <a:t>Lakoff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73615" y="1329819"/>
            <a:ext cx="100160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Концептуальные метафоры</a:t>
            </a:r>
            <a:r>
              <a:rPr lang="ru-RU" sz="2400" dirty="0" smtClean="0"/>
              <a:t> – глубинные схемы </a:t>
            </a:r>
            <a:r>
              <a:rPr lang="ru-RU" sz="2400" dirty="0" err="1" smtClean="0"/>
              <a:t>междоменных</a:t>
            </a:r>
            <a:r>
              <a:rPr lang="ru-RU" sz="2400" dirty="0" smtClean="0"/>
              <a:t> переносов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961322" y="2839162"/>
            <a:ext cx="99523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Лингвистические метафоры</a:t>
            </a:r>
            <a:r>
              <a:rPr lang="ru-RU" sz="2400" dirty="0" smtClean="0"/>
              <a:t> – внешние реализации этих схем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06422" y="2104823"/>
            <a:ext cx="42279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e.g. </a:t>
            </a:r>
            <a:r>
              <a:rPr lang="en-GB" sz="2400" b="1" dirty="0" smtClean="0"/>
              <a:t>WORDS </a:t>
            </a:r>
            <a:r>
              <a:rPr lang="en-GB" sz="2400" b="1" dirty="0"/>
              <a:t>ARE WEAPONS</a:t>
            </a:r>
            <a:endParaRPr lang="ru-RU" sz="2400" dirty="0">
              <a:latin typeface="+mj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737113" y="3758167"/>
            <a:ext cx="49086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She used some sharp words.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That was pretty cutting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was a barrage of insults.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 was bombarded by insults.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 hurled insults at her.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989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5010" y="653656"/>
            <a:ext cx="3326296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George </a:t>
            </a:r>
            <a:r>
              <a:rPr lang="en-US" dirty="0" err="1" smtClean="0"/>
              <a:t>Lakoff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1614" y="1073428"/>
            <a:ext cx="10016019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С</a:t>
            </a:r>
            <a:r>
              <a:rPr lang="ru-RU" sz="2400" dirty="0" smtClean="0"/>
              <a:t>фера-источник </a:t>
            </a:r>
            <a:r>
              <a:rPr lang="ru-RU" sz="2400" dirty="0"/>
              <a:t>и </a:t>
            </a:r>
            <a:r>
              <a:rPr lang="ru-RU" sz="2400" dirty="0" smtClean="0"/>
              <a:t>сфера-мишень представляют собой структуры знаний – состоят из фреймов и сценариев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76" y="2407146"/>
            <a:ext cx="5372100" cy="403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>
            <a:off x="-443368" y="3681397"/>
            <a:ext cx="271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LIFE IS A JOURNEY</a:t>
            </a:r>
            <a:endParaRPr lang="en-US" sz="1600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6985137" y="2437035"/>
            <a:ext cx="4625009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lang="ru-RU" dirty="0">
                <a:latin typeface="+mj-lt"/>
                <a:ea typeface="Calibri" panose="020F0502020204030204" pitchFamily="34" charset="0"/>
                <a:cs typeface="ArialMT"/>
              </a:rPr>
              <a:t>Метафорическая проекция осуществляется </a:t>
            </a:r>
            <a:r>
              <a:rPr lang="ru-RU" dirty="0" smtClean="0">
                <a:latin typeface="+mj-lt"/>
                <a:ea typeface="Calibri" panose="020F0502020204030204" pitchFamily="34" charset="0"/>
                <a:cs typeface="ArialMT"/>
              </a:rPr>
              <a:t>как между </a:t>
            </a:r>
            <a:r>
              <a:rPr lang="ru-RU" dirty="0">
                <a:latin typeface="+mj-lt"/>
                <a:ea typeface="Calibri" panose="020F0502020204030204" pitchFamily="34" charset="0"/>
                <a:cs typeface="ArialMT"/>
              </a:rPr>
              <a:t>отдельными элементами двух структур знаний, </a:t>
            </a:r>
            <a:r>
              <a:rPr lang="ru-RU" dirty="0" smtClean="0">
                <a:latin typeface="+mj-lt"/>
                <a:ea typeface="Calibri" panose="020F0502020204030204" pitchFamily="34" charset="0"/>
                <a:cs typeface="ArialMT"/>
              </a:rPr>
              <a:t>так и </a:t>
            </a:r>
            <a:r>
              <a:rPr lang="ru-RU" dirty="0">
                <a:latin typeface="+mj-lt"/>
                <a:ea typeface="Calibri" panose="020F0502020204030204" pitchFamily="34" charset="0"/>
                <a:cs typeface="ArialMT"/>
              </a:rPr>
              <a:t>между целыми структурами концептуальных доменов. </a:t>
            </a:r>
            <a:endParaRPr lang="ru-RU" sz="16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985137" y="4426446"/>
            <a:ext cx="46490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+mj-lt"/>
                <a:ea typeface="Calibri" panose="020F0502020204030204" pitchFamily="34" charset="0"/>
                <a:cs typeface="ArialMT"/>
              </a:rPr>
              <a:t>Когнитивная </a:t>
            </a:r>
            <a:r>
              <a:rPr lang="ru-RU" dirty="0">
                <a:latin typeface="+mj-lt"/>
                <a:ea typeface="Calibri" panose="020F0502020204030204" pitchFamily="34" charset="0"/>
                <a:cs typeface="ArialMT"/>
              </a:rPr>
              <a:t>топология сферы-источника в некоторой степени определяет способ осмысления сферы-мишени и может служить основой для принятия решений и </a:t>
            </a:r>
            <a:r>
              <a:rPr lang="ru-RU" dirty="0" smtClean="0">
                <a:latin typeface="+mj-lt"/>
                <a:ea typeface="Calibri" panose="020F0502020204030204" pitchFamily="34" charset="0"/>
                <a:cs typeface="ArialMT"/>
              </a:rPr>
              <a:t>действия.</a:t>
            </a:r>
            <a:endParaRPr lang="ru-RU" dirty="0">
              <a:latin typeface="+mj-lt"/>
            </a:endParaRPr>
          </a:p>
        </p:txBody>
      </p:sp>
      <p:sp>
        <p:nvSpPr>
          <p:cNvPr id="11" name="Стрелка вниз 10"/>
          <p:cNvSpPr/>
          <p:nvPr/>
        </p:nvSpPr>
        <p:spPr>
          <a:xfrm>
            <a:off x="9064483" y="3881452"/>
            <a:ext cx="245167" cy="3990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21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5010" y="653656"/>
            <a:ext cx="3326296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George </a:t>
            </a:r>
            <a:r>
              <a:rPr lang="en-US" dirty="0" err="1" smtClean="0"/>
              <a:t>Lakoff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19458" y="1666411"/>
            <a:ext cx="10758142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Метафорические </a:t>
            </a:r>
            <a:r>
              <a:rPr lang="ru-RU" sz="2400" dirty="0"/>
              <a:t>следствия (</a:t>
            </a:r>
            <a:r>
              <a:rPr lang="ru-RU" sz="2400" dirty="0" err="1"/>
              <a:t>entailments</a:t>
            </a:r>
            <a:r>
              <a:rPr lang="ru-RU" sz="2400" dirty="0" smtClean="0"/>
              <a:t>): не присутствуют в </a:t>
            </a:r>
            <a:r>
              <a:rPr lang="ru-RU" sz="2400" dirty="0"/>
              <a:t>метафорическом выражении </a:t>
            </a:r>
            <a:r>
              <a:rPr lang="ru-RU" sz="2400" dirty="0" smtClean="0"/>
              <a:t>эксплицитно, </a:t>
            </a:r>
            <a:r>
              <a:rPr lang="ru-RU" sz="2400" dirty="0"/>
              <a:t>но выводятся на основе фреймового знания. </a:t>
            </a:r>
            <a:endParaRPr lang="ru-RU" sz="2400" dirty="0" smtClean="0"/>
          </a:p>
        </p:txBody>
      </p:sp>
      <p:grpSp>
        <p:nvGrpSpPr>
          <p:cNvPr id="6" name="Группа 5"/>
          <p:cNvGrpSpPr/>
          <p:nvPr/>
        </p:nvGrpSpPr>
        <p:grpSpPr>
          <a:xfrm>
            <a:off x="742125" y="3707265"/>
            <a:ext cx="10535475" cy="1938161"/>
            <a:chOff x="-1258953" y="2567578"/>
            <a:chExt cx="13442261" cy="2842177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258953" y="2580830"/>
              <a:ext cx="9296400" cy="2828925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44683" y="2567578"/>
              <a:ext cx="4238625" cy="2771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34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5010" y="653656"/>
            <a:ext cx="3326296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George </a:t>
            </a:r>
            <a:r>
              <a:rPr lang="en-US" dirty="0" err="1" smtClean="0"/>
              <a:t>Lakoff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8972" y="1388115"/>
            <a:ext cx="1075814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1. </a:t>
            </a:r>
            <a:r>
              <a:rPr lang="ru-RU" sz="2000" b="1" dirty="0"/>
              <a:t>О</a:t>
            </a:r>
            <a:r>
              <a:rPr lang="ru-RU" sz="2000" b="1" dirty="0" smtClean="0"/>
              <a:t>риентационные</a:t>
            </a:r>
            <a:r>
              <a:rPr lang="ru-RU" sz="2000" dirty="0" smtClean="0"/>
              <a:t> (фиксируют наш </a:t>
            </a:r>
            <a:r>
              <a:rPr lang="ru-RU" sz="2000" dirty="0"/>
              <a:t>опыт пространственной ориентации в </a:t>
            </a:r>
            <a:r>
              <a:rPr lang="ru-RU" sz="2000" dirty="0" smtClean="0"/>
              <a:t>мире)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HAPPY IS UP; SAD IS DOWN: I'm feeling </a:t>
            </a:r>
            <a:r>
              <a:rPr lang="en-US" sz="2000" i="1" dirty="0"/>
              <a:t>up</a:t>
            </a:r>
            <a:r>
              <a:rPr lang="en-US" sz="2000" dirty="0"/>
              <a:t> today. He's really </a:t>
            </a:r>
            <a:r>
              <a:rPr lang="en-US" sz="2000" i="1" dirty="0"/>
              <a:t>low</a:t>
            </a:r>
            <a:r>
              <a:rPr lang="en-US" sz="2000" dirty="0"/>
              <a:t> these days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</a:pP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2. </a:t>
            </a:r>
            <a:r>
              <a:rPr lang="ru-RU" sz="2000" b="1" dirty="0"/>
              <a:t>С</a:t>
            </a:r>
            <a:r>
              <a:rPr lang="ru-RU" sz="2000" b="1" dirty="0" smtClean="0"/>
              <a:t>труктурные</a:t>
            </a:r>
            <a:r>
              <a:rPr lang="ru-RU" sz="2000" dirty="0" smtClean="0"/>
              <a:t> </a:t>
            </a:r>
            <a:r>
              <a:rPr lang="ru-RU" sz="2000" dirty="0"/>
              <a:t>(использование естественного опыта в одной сфере для определения другой концептуальной области</a:t>
            </a:r>
            <a:r>
              <a:rPr lang="ru-RU" sz="2000" dirty="0" smtClean="0"/>
              <a:t>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TIME IS MONEY/ A </a:t>
            </a:r>
            <a:r>
              <a:rPr lang="en-US" sz="2000" dirty="0" smtClean="0"/>
              <a:t>COMMODITY: </a:t>
            </a:r>
            <a:r>
              <a:rPr lang="en-US" sz="2000" i="1" dirty="0" smtClean="0"/>
              <a:t>spend </a:t>
            </a:r>
            <a:r>
              <a:rPr lang="en-US" sz="2000" dirty="0"/>
              <a:t>time, </a:t>
            </a:r>
            <a:r>
              <a:rPr lang="en-US" sz="2000" i="1" dirty="0"/>
              <a:t>waste </a:t>
            </a:r>
            <a:r>
              <a:rPr lang="en-US" sz="2000" dirty="0"/>
              <a:t>time, </a:t>
            </a:r>
            <a:r>
              <a:rPr lang="en-US" sz="2000" i="1" dirty="0" smtClean="0"/>
              <a:t>budget</a:t>
            </a:r>
            <a:r>
              <a:rPr lang="en-US" sz="2000" dirty="0" smtClean="0"/>
              <a:t> </a:t>
            </a:r>
            <a:r>
              <a:rPr lang="en-US" sz="2000" dirty="0"/>
              <a:t>one’s </a:t>
            </a:r>
            <a:r>
              <a:rPr lang="en-US" sz="2000" dirty="0" smtClean="0"/>
              <a:t>time</a:t>
            </a:r>
          </a:p>
          <a:p>
            <a:pPr>
              <a:lnSpc>
                <a:spcPct val="150000"/>
              </a:lnSpc>
            </a:pP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3. </a:t>
            </a:r>
            <a:r>
              <a:rPr lang="ru-RU" sz="2000" b="1" dirty="0"/>
              <a:t>О</a:t>
            </a:r>
            <a:r>
              <a:rPr lang="ru-RU" sz="2000" b="1" dirty="0" smtClean="0"/>
              <a:t>нтологические</a:t>
            </a:r>
            <a:r>
              <a:rPr lang="ru-RU" sz="2000" dirty="0" smtClean="0"/>
              <a:t> </a:t>
            </a:r>
            <a:r>
              <a:rPr lang="ru-RU" sz="2000" dirty="0"/>
              <a:t>(апелляция к естественному опыту с физическими объектами и описание абстрактных явлений, например, эмоций, </a:t>
            </a:r>
            <a:r>
              <a:rPr lang="ru-RU" sz="2000" dirty="0" smtClean="0"/>
              <a:t>идей </a:t>
            </a:r>
            <a:r>
              <a:rPr lang="ru-RU" sz="2000" dirty="0"/>
              <a:t>как материальных субстанций</a:t>
            </a:r>
            <a:r>
              <a:rPr lang="ru-RU" sz="2000" dirty="0" smtClean="0"/>
              <a:t>)</a:t>
            </a:r>
            <a:r>
              <a:rPr lang="en-US" sz="2000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ru-RU" sz="2000" dirty="0">
                <a:solidFill>
                  <a:srgbClr val="282828"/>
                </a:solidFill>
                <a:latin typeface="+mj-lt"/>
              </a:rPr>
              <a:t>THE MIND IS A MACHINE: We’ve been working on this problem all day and now we’re </a:t>
            </a:r>
            <a:r>
              <a:rPr lang="en-US" altLang="ru-RU" sz="2000" i="1" dirty="0">
                <a:solidFill>
                  <a:srgbClr val="282828"/>
                </a:solidFill>
                <a:latin typeface="+mj-lt"/>
              </a:rPr>
              <a:t>running out of steam</a:t>
            </a:r>
            <a:r>
              <a:rPr lang="en-US" altLang="ru-RU" sz="2000" dirty="0">
                <a:solidFill>
                  <a:srgbClr val="282828"/>
                </a:solidFill>
                <a:latin typeface="+mj-lt"/>
              </a:rPr>
              <a:t>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42377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608" y="2840264"/>
            <a:ext cx="10787269" cy="419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Lakoff</a:t>
            </a:r>
            <a:r>
              <a:rPr lang="en-US" dirty="0"/>
              <a:t>, G., </a:t>
            </a:r>
            <a:r>
              <a:rPr lang="en-US" dirty="0" err="1"/>
              <a:t>Espenson</a:t>
            </a:r>
            <a:r>
              <a:rPr lang="en-US" dirty="0"/>
              <a:t>, J., &amp; Schwartz, A. (1991).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i="1" dirty="0" err="1" smtClean="0"/>
              <a:t>Master</a:t>
            </a:r>
            <a:r>
              <a:rPr lang="ru-RU" i="1" dirty="0" smtClean="0"/>
              <a:t> </a:t>
            </a:r>
            <a:r>
              <a:rPr lang="ru-RU" i="1" dirty="0" err="1"/>
              <a:t>Metaphor</a:t>
            </a:r>
            <a:r>
              <a:rPr lang="ru-RU" i="1" dirty="0"/>
              <a:t> </a:t>
            </a:r>
            <a:r>
              <a:rPr lang="ru-RU" i="1" dirty="0" err="1" smtClean="0"/>
              <a:t>List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38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2717" y="304882"/>
            <a:ext cx="10787269" cy="419772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UNIVERSAL vs. CULTURE-SPECIFIC metaphors</a:t>
            </a:r>
            <a:endParaRPr lang="ru-RU" sz="3200" dirty="0"/>
          </a:p>
        </p:txBody>
      </p:sp>
      <p:pic>
        <p:nvPicPr>
          <p:cNvPr id="4098" name="Picture 2" descr="CSO Sounds &amp;amp;amp; Stories » Peking opera reigns as the unofficial national art  form of Chi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664" y="823912"/>
            <a:ext cx="8530863" cy="452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482460" y="5546736"/>
            <a:ext cx="10787269" cy="419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Chinese: LIFE is an OPERA</a:t>
            </a:r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050496" y="6073206"/>
            <a:ext cx="10787269" cy="313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Yu, N. (2017). Life as opera: A cultural metaphor in Chinese.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198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2717" y="304882"/>
            <a:ext cx="10787269" cy="419772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UNIVERSAL vs. CULTURE-SPECIFIC metaphors</a:t>
            </a:r>
            <a:endParaRPr lang="ru-RU" sz="3200" dirty="0"/>
          </a:p>
        </p:txBody>
      </p:sp>
      <p:pic>
        <p:nvPicPr>
          <p:cNvPr id="2054" name="Picture 6" descr="Встреча франков (слева) и германцев (справа) у города Никеи (средневековая гравюра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74" y="724654"/>
            <a:ext cx="5489934" cy="380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56" y="4019982"/>
            <a:ext cx="7591425" cy="2447925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6236351" y="1904382"/>
            <a:ext cx="4131065" cy="723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CRUSADE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2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2717" y="514768"/>
            <a:ext cx="10787269" cy="419772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UNIVERSAL vs. CULTURE-SPECIFIC metaphors</a:t>
            </a:r>
            <a:endParaRPr lang="ru-RU" sz="3200" dirty="0"/>
          </a:p>
        </p:txBody>
      </p:sp>
      <p:pic>
        <p:nvPicPr>
          <p:cNvPr id="3074" name="Picture 2" descr="The Shining City on a Hill: Commentary on Reagan - Econli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84" y="1167999"/>
            <a:ext cx="489585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Google Beacon: How Google Beacon Project Affects SEO - Blen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302" y="1167999"/>
            <a:ext cx="5796684" cy="38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6016485" y="5490982"/>
            <a:ext cx="5613501" cy="59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b</a:t>
            </a:r>
            <a:r>
              <a:rPr lang="en-US" dirty="0" smtClean="0"/>
              <a:t>eacon of democracy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81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8954" y="988353"/>
            <a:ext cx="8136834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Role of metaphor in decision-making: metaphorical framing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41838" y="2379604"/>
            <a:ext cx="65439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Political discourse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Media discourse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Educational discourse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Healthcare discourse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6075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Перестройка. Начало. 30 лет — SmolNarod.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949" y="883601"/>
            <a:ext cx="7190787" cy="512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Михаил Сергеевич Горбачёв цитаты (102 цитат) | Цитаты известных личносте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96" y="1239612"/>
            <a:ext cx="2918930" cy="441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5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rain The Swamp | Ben Garrison | Know Your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670" y="731492"/>
            <a:ext cx="7469112" cy="537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21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43545" y="346363"/>
            <a:ext cx="7654636" cy="4017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G.W. Bush on September 11 attacks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1" y="3100388"/>
            <a:ext cx="9632372" cy="34575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Initially, the terrorists may </a:t>
            </a:r>
            <a:r>
              <a:rPr lang="en-US" u="sng" dirty="0"/>
              <a:t>burrow deeper into caves</a:t>
            </a:r>
            <a:r>
              <a:rPr lang="en-US" dirty="0"/>
              <a:t> and other entrenched hiding places. (7 October 2001)</a:t>
            </a:r>
          </a:p>
          <a:p>
            <a:r>
              <a:rPr lang="en-US" dirty="0"/>
              <a:t>It’s an enemy that likes to </a:t>
            </a:r>
            <a:r>
              <a:rPr lang="en-US" u="sng" dirty="0"/>
              <a:t>hide and burrow in </a:t>
            </a:r>
            <a:r>
              <a:rPr lang="en-US" dirty="0"/>
              <a:t>and their network is extensive ... But we’re going </a:t>
            </a:r>
            <a:r>
              <a:rPr lang="en-US" u="sng" dirty="0"/>
              <a:t>to smoke them out</a:t>
            </a:r>
            <a:r>
              <a:rPr lang="en-US" dirty="0"/>
              <a:t>. (17 September 2001)</a:t>
            </a:r>
          </a:p>
          <a:p>
            <a:r>
              <a:rPr lang="en-US" dirty="0" smtClean="0"/>
              <a:t>My </a:t>
            </a:r>
            <a:r>
              <a:rPr lang="en-US" dirty="0"/>
              <a:t>hope is that all nations will heed our call, and </a:t>
            </a:r>
            <a:r>
              <a:rPr lang="en-US" u="sng" dirty="0"/>
              <a:t>eliminate the terrorist parasites </a:t>
            </a:r>
            <a:r>
              <a:rPr lang="en-US" dirty="0"/>
              <a:t>who threaten their countries and our own. (29 January 2002)</a:t>
            </a:r>
          </a:p>
          <a:p>
            <a:r>
              <a:rPr lang="en-US" dirty="0"/>
              <a:t>America encourages and expects governments everywhere to help </a:t>
            </a:r>
            <a:r>
              <a:rPr lang="en-US" u="sng" dirty="0"/>
              <a:t>remove the terrorist parasites</a:t>
            </a:r>
            <a:r>
              <a:rPr lang="en-US" dirty="0"/>
              <a:t> that threaten their own countries and peace of the world. (Applause) (11 March 2002)</a:t>
            </a:r>
          </a:p>
          <a:p>
            <a:r>
              <a:rPr lang="en-US" dirty="0"/>
              <a:t>They support them and harbor them, and they will find that their welcome guests are </a:t>
            </a:r>
            <a:r>
              <a:rPr lang="en-US" u="sng" dirty="0"/>
              <a:t>parasites that will weaken them, and eventually consume them</a:t>
            </a:r>
            <a:r>
              <a:rPr lang="en-US" dirty="0"/>
              <a:t>. (12 September 2002)</a:t>
            </a:r>
            <a:endParaRPr lang="ru-RU" dirty="0"/>
          </a:p>
        </p:txBody>
      </p:sp>
      <p:pic>
        <p:nvPicPr>
          <p:cNvPr id="5122" name="Picture 2" descr="From the archives: George W. Bush&amp;amp;#39;s Oval Office speech on 9/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062" y="932783"/>
            <a:ext cx="3514725" cy="197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Útoky, pieta a mise v Afghánistánu. Poslechněte si, jak Český rozhlas  informoval o 11. září | iROZHLAS - spolehlivé zpráv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593" y="929816"/>
            <a:ext cx="25344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612603" y="6332170"/>
            <a:ext cx="56356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err="1"/>
              <a:t>Charteris-Black</a:t>
            </a:r>
            <a:r>
              <a:rPr lang="ru-RU" sz="1200" dirty="0"/>
              <a:t>, J. (2011). </a:t>
            </a:r>
            <a:r>
              <a:rPr lang="ru-RU" sz="1200" dirty="0" err="1"/>
              <a:t>Politicians</a:t>
            </a:r>
            <a:r>
              <a:rPr lang="ru-RU" sz="1200" dirty="0"/>
              <a:t> </a:t>
            </a:r>
            <a:r>
              <a:rPr lang="ru-RU" sz="1200" dirty="0" err="1"/>
              <a:t>and</a:t>
            </a:r>
            <a:r>
              <a:rPr lang="ru-RU" sz="1200" dirty="0"/>
              <a:t> </a:t>
            </a:r>
            <a:r>
              <a:rPr lang="ru-RU" sz="1200" dirty="0" err="1"/>
              <a:t>Rhetoric</a:t>
            </a:r>
            <a:r>
              <a:rPr lang="ru-RU" sz="1200" dirty="0"/>
              <a:t>.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Persuasive</a:t>
            </a:r>
            <a:r>
              <a:rPr lang="ru-RU" sz="1200" dirty="0"/>
              <a:t> </a:t>
            </a:r>
            <a:r>
              <a:rPr lang="ru-RU" sz="1200" dirty="0" err="1"/>
              <a:t>Power</a:t>
            </a:r>
            <a:r>
              <a:rPr lang="ru-RU" sz="1200" dirty="0"/>
              <a:t> </a:t>
            </a:r>
            <a:r>
              <a:rPr lang="ru-RU" sz="1200" dirty="0" err="1"/>
              <a:t>of</a:t>
            </a:r>
            <a:r>
              <a:rPr lang="ru-RU" sz="1200" dirty="0"/>
              <a:t> </a:t>
            </a:r>
            <a:r>
              <a:rPr lang="ru-RU" sz="1200" dirty="0" err="1" smtClean="0"/>
              <a:t>Metaphor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5311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105" y="865690"/>
            <a:ext cx="8136834" cy="4197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Role of metaphor in decision-making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68" y="1661948"/>
            <a:ext cx="8125959" cy="106694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663" y="2944056"/>
            <a:ext cx="8164064" cy="95263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294" y="4256435"/>
            <a:ext cx="8106906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4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11369" r="1772" b="69018"/>
          <a:stretch/>
        </p:blipFill>
        <p:spPr>
          <a:xfrm>
            <a:off x="3173125" y="269868"/>
            <a:ext cx="6008975" cy="149542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59" y="1845846"/>
            <a:ext cx="70199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8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ild Beast or Virus? The Metaphor Makes the Difference – Next Step Pr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548" y="1168908"/>
            <a:ext cx="8572500" cy="483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3842256" y="442995"/>
            <a:ext cx="5146469" cy="514537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CRIME: beast vs. virus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8955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vy Exe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441" y="2344036"/>
            <a:ext cx="3894258" cy="275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84030" y="6185465"/>
            <a:ext cx="6096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ru-RU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upload.wikimedia.org/wikipedia/commons/thumb/e/e1/Car_crash_1.jpg/1280px-Car_crash_1.jpg</a:t>
            </a:r>
          </a:p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https://blog.ivyexec.com/wp-content/uploads/2015/08/how_to_get_a_job_after_your_business_fails.jpg</a:t>
            </a:r>
            <a:endParaRPr lang="ru-RU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078" name="Picture 6" descr="Файл:Тонущий корабль - Айвазовский.jpg — Википед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263" y="2396253"/>
            <a:ext cx="4017755" cy="25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ile:Car crash 1.jp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33" y="2403860"/>
            <a:ext cx="3513444" cy="263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1863306" y="789750"/>
            <a:ext cx="9023230" cy="84926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BUSINESS FAILURE: vehicle accident vs. storm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6974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5107" y="5846464"/>
            <a:ext cx="9323717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https://www.rand.org/content/rand/pubs/research_briefs/RB10040/_</a:t>
            </a:r>
            <a:r>
              <a:rPr lang="ru-RU" sz="105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jcr_content/par/product/par-research-brief/imagewithclass_46844854.fit.1000x0.jpeg/1568254441849.jpeg</a:t>
            </a:r>
            <a:endParaRPr lang="en-US" sz="105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05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cdn.prod.website-files.com/640959cbe7c9a7de76661a7c/67a07614fe434123fab7904a_67a075d108df5a4935448b1b_vecteezy_container-cargo-for-imp.jpeg</a:t>
            </a:r>
          </a:p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https://encrypted-tbn0.gstatic.com/images?q=tbn:ANd9GcTqKCBP05_F2S0UPqGKJtLNuFZ0fRbVVaoo3g&amp;s</a:t>
            </a:r>
            <a:endParaRPr lang="en-US" sz="105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104" name="Picture 8" descr="NSO Malta | International Trade in Goods: July 2025 - NSO Mal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085" y="1948301"/>
            <a:ext cx="4225086" cy="281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ill to Fight: Returning to the Human Fundamentals of War | R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82" y="1948301"/>
            <a:ext cx="4662423" cy="262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Файл:Two-way traffic (Israel road sign).png — Википед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50" y="1959746"/>
            <a:ext cx="2818421" cy="245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263356" y="668675"/>
            <a:ext cx="9023230" cy="8492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TRADE: war vs. two-way street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5748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709" y="1174782"/>
            <a:ext cx="5320810" cy="151468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4305" r="6327" b="6123"/>
          <a:stretch/>
        </p:blipFill>
        <p:spPr>
          <a:xfrm>
            <a:off x="7354957" y="499231"/>
            <a:ext cx="2994991" cy="28657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786" y="4083430"/>
            <a:ext cx="8325590" cy="62109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393635" y="4758980"/>
            <a:ext cx="267693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2012-2015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637183" y="5729155"/>
            <a:ext cx="9912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hlinkClick r:id="rId5"/>
              </a:rPr>
              <a:t>https://metaphor.icsi.berkeley.edu/pub/en/index.php/MetaNet_Metaphor_Wiki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42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/>
          <a:lstStyle/>
          <a:p>
            <a:r>
              <a:rPr lang="en-US" sz="4400" dirty="0" smtClean="0"/>
              <a:t>Metaphor in </a:t>
            </a:r>
            <a:r>
              <a:rPr lang="en-US" sz="4400" dirty="0" err="1" smtClean="0"/>
              <a:t>nlp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90641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3900" y="469900"/>
            <a:ext cx="3149600" cy="1028700"/>
          </a:xfrm>
        </p:spPr>
        <p:txBody>
          <a:bodyPr/>
          <a:lstStyle/>
          <a:p>
            <a:r>
              <a:rPr lang="en-US" b="1" dirty="0" smtClean="0"/>
              <a:t>Metaphor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4199" y="1638300"/>
            <a:ext cx="5740401" cy="1849737"/>
          </a:xfrm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owerful cognitive tool</a:t>
            </a:r>
          </a:p>
          <a:p>
            <a:r>
              <a:rPr lang="en-US" dirty="0"/>
              <a:t>u</a:t>
            </a:r>
            <a:r>
              <a:rPr lang="en-US" dirty="0" smtClean="0"/>
              <a:t>biquitous in discourse</a:t>
            </a:r>
          </a:p>
          <a:p>
            <a:r>
              <a:rPr lang="en-US" dirty="0"/>
              <a:t>f</a:t>
            </a:r>
            <a:r>
              <a:rPr lang="en-US" dirty="0" smtClean="0"/>
              <a:t>undamental part of the language system</a:t>
            </a:r>
            <a:endParaRPr lang="ru-RU" dirty="0" smtClean="0"/>
          </a:p>
          <a:p>
            <a:r>
              <a:rPr lang="en-US" dirty="0"/>
              <a:t>c</a:t>
            </a:r>
            <a:r>
              <a:rPr lang="en-US" dirty="0" smtClean="0"/>
              <a:t>reates ambiguity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705599" y="3859010"/>
            <a:ext cx="3835401" cy="24020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 smtClean="0"/>
              <a:t>information</a:t>
            </a:r>
            <a:r>
              <a:rPr lang="ru-RU" dirty="0" smtClean="0"/>
              <a:t> </a:t>
            </a:r>
            <a:r>
              <a:rPr lang="ru-RU" dirty="0" err="1" smtClean="0"/>
              <a:t>retrieval</a:t>
            </a:r>
            <a:endParaRPr lang="en-US" dirty="0" smtClean="0"/>
          </a:p>
          <a:p>
            <a:r>
              <a:rPr lang="ru-RU" dirty="0" err="1" smtClean="0"/>
              <a:t>machine</a:t>
            </a:r>
            <a:r>
              <a:rPr lang="ru-RU" dirty="0" smtClean="0"/>
              <a:t> </a:t>
            </a:r>
            <a:r>
              <a:rPr lang="ru-RU" dirty="0" err="1" smtClean="0"/>
              <a:t>translation</a:t>
            </a:r>
            <a:endParaRPr lang="en-US" dirty="0" smtClean="0"/>
          </a:p>
          <a:p>
            <a:r>
              <a:rPr lang="ru-RU" dirty="0" err="1" smtClean="0"/>
              <a:t>question</a:t>
            </a:r>
            <a:r>
              <a:rPr lang="ru-RU" dirty="0" smtClean="0"/>
              <a:t> </a:t>
            </a:r>
            <a:r>
              <a:rPr lang="ru-RU" dirty="0" err="1" smtClean="0"/>
              <a:t>answering</a:t>
            </a:r>
            <a:endParaRPr lang="en-US" dirty="0" smtClean="0"/>
          </a:p>
          <a:p>
            <a:r>
              <a:rPr lang="ru-RU" dirty="0" err="1" smtClean="0"/>
              <a:t>information</a:t>
            </a:r>
            <a:r>
              <a:rPr lang="ru-RU" dirty="0" smtClean="0"/>
              <a:t> </a:t>
            </a:r>
            <a:r>
              <a:rPr lang="ru-RU" dirty="0" err="1" smtClean="0"/>
              <a:t>extraction</a:t>
            </a:r>
            <a:endParaRPr lang="en-US" dirty="0" smtClean="0"/>
          </a:p>
          <a:p>
            <a:r>
              <a:rPr lang="ru-RU" dirty="0" err="1" smtClean="0"/>
              <a:t>opinion</a:t>
            </a:r>
            <a:r>
              <a:rPr lang="ru-RU" dirty="0" smtClean="0"/>
              <a:t> </a:t>
            </a:r>
            <a:r>
              <a:rPr lang="ru-RU" dirty="0" err="1" smtClean="0"/>
              <a:t>mining</a:t>
            </a:r>
            <a:r>
              <a:rPr lang="en-US" dirty="0" smtClean="0"/>
              <a:t>, etc.</a:t>
            </a:r>
            <a:endParaRPr lang="ru-RU" dirty="0"/>
          </a:p>
        </p:txBody>
      </p:sp>
      <p:sp>
        <p:nvSpPr>
          <p:cNvPr id="7" name="Стрелка углом вверх 6"/>
          <p:cNvSpPr/>
          <p:nvPr/>
        </p:nvSpPr>
        <p:spPr>
          <a:xfrm rot="10800000" flipH="1">
            <a:off x="3632200" y="914842"/>
            <a:ext cx="4635500" cy="965200"/>
          </a:xfrm>
          <a:prstGeom prst="bentUpArrow">
            <a:avLst>
              <a:gd name="adj1" fmla="val 13227"/>
              <a:gd name="adj2" fmla="val 25000"/>
              <a:gd name="adj3" fmla="val 2084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705599" y="2563168"/>
            <a:ext cx="4749801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/>
            <a:r>
              <a:rPr lang="en-US" sz="4000" b="1" dirty="0"/>
              <a:t>Challenge </a:t>
            </a:r>
            <a:endParaRPr lang="en-US" sz="4000" b="1" dirty="0" smtClean="0"/>
          </a:p>
          <a:p>
            <a:pPr marL="45720"/>
            <a:r>
              <a:rPr lang="en-US" sz="4000" b="1" dirty="0" smtClean="0"/>
              <a:t>to NLP applications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5867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5887" y="1554306"/>
            <a:ext cx="3149600" cy="10287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</a:t>
            </a:r>
            <a:r>
              <a:rPr lang="en-US" b="1" dirty="0" smtClean="0"/>
              <a:t>etaphor identification</a:t>
            </a:r>
            <a:endParaRPr lang="ru-RU" b="1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7327457" y="1554306"/>
            <a:ext cx="31496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metaphor interpretation</a:t>
            </a:r>
            <a:endParaRPr lang="ru-RU" b="1" dirty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7548768" y="4060440"/>
            <a:ext cx="31496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metaphor generation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92617" y="1087995"/>
            <a:ext cx="3896139" cy="19613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352620" y="3676016"/>
            <a:ext cx="3498054" cy="1797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computational studies: implications for metaphor theory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53577" y="3515628"/>
            <a:ext cx="3896139" cy="19613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77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46332" y="537710"/>
            <a:ext cx="5523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Paradigm: top down (deductive)</a:t>
            </a:r>
            <a:endParaRPr lang="ru-RU" sz="2800" b="1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2527019" y="1489082"/>
            <a:ext cx="7019513" cy="1961321"/>
            <a:chOff x="2023437" y="1481463"/>
            <a:chExt cx="7019513" cy="1961321"/>
          </a:xfrm>
        </p:grpSpPr>
        <p:grpSp>
          <p:nvGrpSpPr>
            <p:cNvPr id="6" name="Группа 5"/>
            <p:cNvGrpSpPr/>
            <p:nvPr/>
          </p:nvGrpSpPr>
          <p:grpSpPr>
            <a:xfrm>
              <a:off x="2023437" y="1481463"/>
              <a:ext cx="3048000" cy="1961321"/>
              <a:chOff x="6864626" y="2186610"/>
              <a:chExt cx="3048000" cy="1961321"/>
            </a:xfrm>
          </p:grpSpPr>
          <p:sp>
            <p:nvSpPr>
              <p:cNvPr id="4" name="Облако 3"/>
              <p:cNvSpPr/>
              <p:nvPr/>
            </p:nvSpPr>
            <p:spPr>
              <a:xfrm>
                <a:off x="6864626" y="2186610"/>
                <a:ext cx="3048000" cy="1961321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798904" y="2967215"/>
                <a:ext cx="11794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TARGET</a:t>
                </a:r>
              </a:p>
              <a:p>
                <a:r>
                  <a:rPr lang="en-US" sz="2000" b="1" dirty="0" smtClean="0"/>
                  <a:t>abstract</a:t>
                </a:r>
                <a:endParaRPr lang="ru-RU" sz="2000" b="1" dirty="0"/>
              </a:p>
            </p:txBody>
          </p:sp>
        </p:grpSp>
        <p:grpSp>
          <p:nvGrpSpPr>
            <p:cNvPr id="13" name="Группа 12"/>
            <p:cNvGrpSpPr/>
            <p:nvPr/>
          </p:nvGrpSpPr>
          <p:grpSpPr>
            <a:xfrm>
              <a:off x="7346671" y="1539717"/>
              <a:ext cx="1696279" cy="1683027"/>
              <a:chOff x="1934817" y="2464904"/>
              <a:chExt cx="1696279" cy="1683027"/>
            </a:xfrm>
          </p:grpSpPr>
          <p:sp>
            <p:nvSpPr>
              <p:cNvPr id="11" name="Куб 10"/>
              <p:cNvSpPr/>
              <p:nvPr/>
            </p:nvSpPr>
            <p:spPr>
              <a:xfrm>
                <a:off x="1934817" y="2464904"/>
                <a:ext cx="1696279" cy="1683027"/>
              </a:xfrm>
              <a:prstGeom prst="cub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001078" y="3226269"/>
                <a:ext cx="11794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SOURCE</a:t>
                </a:r>
              </a:p>
              <a:p>
                <a:r>
                  <a:rPr lang="en-US" sz="2000" b="1" dirty="0" smtClean="0"/>
                  <a:t>concrete</a:t>
                </a:r>
                <a:endParaRPr lang="ru-RU" sz="2000" b="1" dirty="0"/>
              </a:p>
            </p:txBody>
          </p:sp>
        </p:grpSp>
        <p:grpSp>
          <p:nvGrpSpPr>
            <p:cNvPr id="3" name="Группа 2"/>
            <p:cNvGrpSpPr/>
            <p:nvPr/>
          </p:nvGrpSpPr>
          <p:grpSpPr>
            <a:xfrm>
              <a:off x="5179941" y="1970089"/>
              <a:ext cx="1914938" cy="641242"/>
              <a:chOff x="4653167" y="1985479"/>
              <a:chExt cx="1914938" cy="641242"/>
            </a:xfrm>
          </p:grpSpPr>
          <p:sp>
            <p:nvSpPr>
              <p:cNvPr id="14" name="Штриховая стрелка вправо 13"/>
              <p:cNvSpPr/>
              <p:nvPr/>
            </p:nvSpPr>
            <p:spPr>
              <a:xfrm rot="10800000">
                <a:off x="4653167" y="1985479"/>
                <a:ext cx="1914938" cy="641242"/>
              </a:xfrm>
              <a:prstGeom prst="striped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124438" y="2108182"/>
                <a:ext cx="10519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mapping</a:t>
                </a:r>
                <a:endParaRPr lang="ru-RU" dirty="0"/>
              </a:p>
            </p:txBody>
          </p:sp>
        </p:grpSp>
      </p:grpSp>
      <p:sp>
        <p:nvSpPr>
          <p:cNvPr id="17" name="Объект 2"/>
          <p:cNvSpPr txBox="1">
            <a:spLocks/>
          </p:cNvSpPr>
          <p:nvPr/>
        </p:nvSpPr>
        <p:spPr>
          <a:xfrm>
            <a:off x="1897542" y="3679955"/>
            <a:ext cx="7571962" cy="6979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3200" dirty="0" smtClean="0"/>
              <a:t>Conceptual metaphor: POVERTY </a:t>
            </a:r>
            <a:r>
              <a:rPr lang="en-US" sz="3200" dirty="0"/>
              <a:t>IS A DISEASE</a:t>
            </a:r>
            <a:endParaRPr lang="en-US" sz="3200" dirty="0" smtClean="0"/>
          </a:p>
        </p:txBody>
      </p:sp>
      <p:sp>
        <p:nvSpPr>
          <p:cNvPr id="18" name="Объект 2"/>
          <p:cNvSpPr txBox="1">
            <a:spLocks/>
          </p:cNvSpPr>
          <p:nvPr/>
        </p:nvSpPr>
        <p:spPr>
          <a:xfrm>
            <a:off x="1897542" y="4607504"/>
            <a:ext cx="9862008" cy="1590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sz="3200" dirty="0" smtClean="0"/>
              <a:t>Linguistic metaphors:</a:t>
            </a:r>
          </a:p>
          <a:p>
            <a:pPr marL="45720" indent="0">
              <a:buNone/>
            </a:pPr>
            <a:r>
              <a:rPr lang="en-US" sz="3200" dirty="0" smtClean="0"/>
              <a:t>The </a:t>
            </a:r>
            <a:r>
              <a:rPr lang="en-US" sz="3200" u="sng" dirty="0" smtClean="0"/>
              <a:t>epidemic</a:t>
            </a:r>
            <a:r>
              <a:rPr lang="en-US" sz="3200" dirty="0" smtClean="0"/>
              <a:t> (</a:t>
            </a:r>
            <a:r>
              <a:rPr lang="en-US" sz="3200" b="1" i="1" dirty="0" smtClean="0"/>
              <a:t>Source</a:t>
            </a:r>
            <a:r>
              <a:rPr lang="en-US" sz="3200" dirty="0" smtClean="0"/>
              <a:t>) </a:t>
            </a:r>
            <a:r>
              <a:rPr lang="en-US" sz="3200" dirty="0"/>
              <a:t>of </a:t>
            </a:r>
            <a:r>
              <a:rPr lang="en-US" sz="3200" u="sng" dirty="0" smtClean="0"/>
              <a:t>poverty</a:t>
            </a:r>
            <a:r>
              <a:rPr lang="en-US" sz="3200" dirty="0" smtClean="0"/>
              <a:t> (</a:t>
            </a:r>
            <a:r>
              <a:rPr lang="en-US" sz="3200" b="1" i="1" dirty="0" smtClean="0"/>
              <a:t>Target</a:t>
            </a:r>
            <a:r>
              <a:rPr lang="en-US" sz="3200" dirty="0" smtClean="0"/>
              <a:t>) </a:t>
            </a:r>
            <a:r>
              <a:rPr lang="en-US" sz="3200" dirty="0"/>
              <a:t>is spreading in America...</a:t>
            </a:r>
          </a:p>
          <a:p>
            <a:pPr marL="45720" indent="0">
              <a:buNone/>
            </a:pPr>
            <a:r>
              <a:rPr lang="en-US" sz="3200" dirty="0"/>
              <a:t>... we </a:t>
            </a:r>
            <a:r>
              <a:rPr lang="en-US" sz="3200" dirty="0" smtClean="0"/>
              <a:t>can't </a:t>
            </a:r>
            <a:r>
              <a:rPr lang="en-US" sz="3200" dirty="0"/>
              <a:t>treat the </a:t>
            </a:r>
            <a:r>
              <a:rPr lang="en-US" sz="3200" u="sng" dirty="0" smtClean="0"/>
              <a:t>symptoms</a:t>
            </a:r>
            <a:r>
              <a:rPr lang="en-US" sz="3200" dirty="0" smtClean="0"/>
              <a:t> (</a:t>
            </a:r>
            <a:r>
              <a:rPr lang="en-US" sz="3200" b="1" i="1" dirty="0" smtClean="0"/>
              <a:t>Source</a:t>
            </a:r>
            <a:r>
              <a:rPr lang="en-US" sz="3200" dirty="0" smtClean="0"/>
              <a:t>) </a:t>
            </a:r>
            <a:r>
              <a:rPr lang="en-US" sz="3200" dirty="0"/>
              <a:t>of </a:t>
            </a:r>
            <a:r>
              <a:rPr lang="en-US" sz="3200" u="sng" dirty="0" smtClean="0"/>
              <a:t>poverty</a:t>
            </a:r>
            <a:r>
              <a:rPr lang="en-US" sz="3200" dirty="0" smtClean="0"/>
              <a:t> (</a:t>
            </a:r>
            <a:r>
              <a:rPr lang="en-US" sz="3200" b="1" i="1" dirty="0" smtClean="0"/>
              <a:t>Target</a:t>
            </a:r>
            <a:r>
              <a:rPr lang="en-US" sz="3200" dirty="0" smtClean="0"/>
              <a:t>) </a:t>
            </a:r>
            <a:r>
              <a:rPr lang="en-US" sz="3200" dirty="0"/>
              <a:t>in isolation.</a:t>
            </a:r>
            <a:endParaRPr lang="en-US" sz="3200" dirty="0" smtClean="0"/>
          </a:p>
        </p:txBody>
      </p:sp>
      <p:grpSp>
        <p:nvGrpSpPr>
          <p:cNvPr id="24" name="Группа 23"/>
          <p:cNvGrpSpPr/>
          <p:nvPr/>
        </p:nvGrpSpPr>
        <p:grpSpPr>
          <a:xfrm>
            <a:off x="737037" y="2618950"/>
            <a:ext cx="903840" cy="1051112"/>
            <a:chOff x="1371387" y="1965475"/>
            <a:chExt cx="903840" cy="1051112"/>
          </a:xfrm>
        </p:grpSpPr>
        <p:sp>
          <p:nvSpPr>
            <p:cNvPr id="21" name="Овал 20"/>
            <p:cNvSpPr/>
            <p:nvPr/>
          </p:nvSpPr>
          <p:spPr>
            <a:xfrm>
              <a:off x="1371387" y="2100411"/>
              <a:ext cx="903840" cy="916176"/>
            </a:xfrm>
            <a:prstGeom prst="ellipse">
              <a:avLst/>
            </a:prstGeom>
            <a:noFill/>
            <a:ln w="57150" cmpd="tri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48428" y="1965475"/>
              <a:ext cx="5168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 smtClean="0"/>
                <a:t>1</a:t>
              </a:r>
              <a:endParaRPr lang="ru-RU" sz="6000" dirty="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720575" y="4877429"/>
            <a:ext cx="903840" cy="1051112"/>
            <a:chOff x="1371387" y="1965475"/>
            <a:chExt cx="903840" cy="1051112"/>
          </a:xfrm>
        </p:grpSpPr>
        <p:sp>
          <p:nvSpPr>
            <p:cNvPr id="26" name="Овал 25"/>
            <p:cNvSpPr/>
            <p:nvPr/>
          </p:nvSpPr>
          <p:spPr>
            <a:xfrm>
              <a:off x="1371387" y="2100411"/>
              <a:ext cx="903840" cy="916176"/>
            </a:xfrm>
            <a:prstGeom prst="ellipse">
              <a:avLst/>
            </a:prstGeom>
            <a:noFill/>
            <a:ln w="57150" cmpd="tri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48428" y="1965475"/>
              <a:ext cx="5168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 smtClean="0"/>
                <a:t>2</a:t>
              </a:r>
              <a:endParaRPr lang="ru-RU" sz="6000" dirty="0"/>
            </a:p>
          </p:txBody>
        </p:sp>
      </p:grpSp>
      <p:sp>
        <p:nvSpPr>
          <p:cNvPr id="28" name="Объект 2"/>
          <p:cNvSpPr txBox="1">
            <a:spLocks/>
          </p:cNvSpPr>
          <p:nvPr/>
        </p:nvSpPr>
        <p:spPr>
          <a:xfrm>
            <a:off x="8871814" y="3670062"/>
            <a:ext cx="3003278" cy="998359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3200" dirty="0" smtClean="0"/>
              <a:t>Literature, databases, e.g.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 err="1" smtClean="0"/>
              <a:t>Lakoff</a:t>
            </a:r>
            <a:r>
              <a:rPr lang="en-US" sz="3000" dirty="0" smtClean="0"/>
              <a:t> et al. 1991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 smtClean="0"/>
              <a:t>Dodge et al. 2015</a:t>
            </a:r>
            <a:r>
              <a:rPr lang="en-US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459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603915" y="542907"/>
            <a:ext cx="5538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Paradigm: bottom up (inductive)</a:t>
            </a:r>
            <a:endParaRPr lang="ru-RU" sz="2800" b="1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3421541" y="1376847"/>
            <a:ext cx="4988168" cy="1256370"/>
            <a:chOff x="2023437" y="1481463"/>
            <a:chExt cx="7019513" cy="1961321"/>
          </a:xfrm>
        </p:grpSpPr>
        <p:grpSp>
          <p:nvGrpSpPr>
            <p:cNvPr id="6" name="Группа 5"/>
            <p:cNvGrpSpPr/>
            <p:nvPr/>
          </p:nvGrpSpPr>
          <p:grpSpPr>
            <a:xfrm>
              <a:off x="2023437" y="1481463"/>
              <a:ext cx="3048000" cy="1961321"/>
              <a:chOff x="6864626" y="2186610"/>
              <a:chExt cx="3048000" cy="1961321"/>
            </a:xfrm>
          </p:grpSpPr>
          <p:sp>
            <p:nvSpPr>
              <p:cNvPr id="4" name="Облако 3"/>
              <p:cNvSpPr/>
              <p:nvPr/>
            </p:nvSpPr>
            <p:spPr>
              <a:xfrm>
                <a:off x="6864626" y="2186610"/>
                <a:ext cx="3048000" cy="1961321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798903" y="2967215"/>
                <a:ext cx="1328073" cy="720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TARGET:</a:t>
                </a:r>
              </a:p>
              <a:p>
                <a:r>
                  <a:rPr lang="en-US" sz="1200" b="1" dirty="0" smtClean="0"/>
                  <a:t>POVERTY</a:t>
                </a:r>
                <a:endParaRPr lang="ru-RU" sz="1200" b="1" dirty="0"/>
              </a:p>
            </p:txBody>
          </p:sp>
        </p:grpSp>
        <p:grpSp>
          <p:nvGrpSpPr>
            <p:cNvPr id="13" name="Группа 12"/>
            <p:cNvGrpSpPr/>
            <p:nvPr/>
          </p:nvGrpSpPr>
          <p:grpSpPr>
            <a:xfrm>
              <a:off x="7346671" y="1539717"/>
              <a:ext cx="1696279" cy="1683027"/>
              <a:chOff x="1934817" y="2464904"/>
              <a:chExt cx="1696279" cy="1683027"/>
            </a:xfrm>
          </p:grpSpPr>
          <p:sp>
            <p:nvSpPr>
              <p:cNvPr id="11" name="Куб 10"/>
              <p:cNvSpPr/>
              <p:nvPr/>
            </p:nvSpPr>
            <p:spPr>
              <a:xfrm>
                <a:off x="1934817" y="2464904"/>
                <a:ext cx="1696279" cy="1683027"/>
              </a:xfrm>
              <a:prstGeom prst="cub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001078" y="3226269"/>
                <a:ext cx="1179443" cy="720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SOURCE:</a:t>
                </a:r>
              </a:p>
              <a:p>
                <a:r>
                  <a:rPr lang="en-US" sz="1200" b="1" dirty="0" smtClean="0"/>
                  <a:t>DISEASE</a:t>
                </a:r>
                <a:endParaRPr lang="ru-RU" sz="1200" b="1" dirty="0"/>
              </a:p>
            </p:txBody>
          </p:sp>
        </p:grpSp>
        <p:grpSp>
          <p:nvGrpSpPr>
            <p:cNvPr id="3" name="Группа 2"/>
            <p:cNvGrpSpPr/>
            <p:nvPr/>
          </p:nvGrpSpPr>
          <p:grpSpPr>
            <a:xfrm>
              <a:off x="5179941" y="1970089"/>
              <a:ext cx="1914938" cy="641242"/>
              <a:chOff x="4653167" y="1985479"/>
              <a:chExt cx="1914938" cy="641242"/>
            </a:xfrm>
          </p:grpSpPr>
          <p:sp>
            <p:nvSpPr>
              <p:cNvPr id="14" name="Штриховая стрелка вправо 13"/>
              <p:cNvSpPr/>
              <p:nvPr/>
            </p:nvSpPr>
            <p:spPr>
              <a:xfrm rot="10800000">
                <a:off x="4653167" y="1985479"/>
                <a:ext cx="1914938" cy="641242"/>
              </a:xfrm>
              <a:prstGeom prst="striped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124438" y="2108181"/>
                <a:ext cx="1051908" cy="432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mapping</a:t>
                </a:r>
                <a:endParaRPr lang="ru-RU" sz="1200" dirty="0"/>
              </a:p>
            </p:txBody>
          </p:sp>
        </p:grpSp>
      </p:grpSp>
      <p:grpSp>
        <p:nvGrpSpPr>
          <p:cNvPr id="16" name="Группа 15"/>
          <p:cNvGrpSpPr/>
          <p:nvPr/>
        </p:nvGrpSpPr>
        <p:grpSpPr>
          <a:xfrm>
            <a:off x="1476073" y="3092265"/>
            <a:ext cx="9794336" cy="3074264"/>
            <a:chOff x="2969048" y="1328510"/>
            <a:chExt cx="7865207" cy="3074264"/>
          </a:xfrm>
        </p:grpSpPr>
        <p:sp>
          <p:nvSpPr>
            <p:cNvPr id="18" name="Объект 2"/>
            <p:cNvSpPr txBox="1">
              <a:spLocks/>
            </p:cNvSpPr>
            <p:nvPr/>
          </p:nvSpPr>
          <p:spPr>
            <a:xfrm>
              <a:off x="2969048" y="1328510"/>
              <a:ext cx="7865207" cy="307426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182880" algn="l" defTabSz="914400" rtl="0" eaLnBrk="1" latinLnBrk="0" hangingPunct="1">
                <a:lnSpc>
                  <a:spcPct val="90000"/>
                </a:lnSpc>
                <a:spcBef>
                  <a:spcPts val="1400"/>
                </a:spcBef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" indent="0">
                <a:buNone/>
              </a:pPr>
              <a:r>
                <a:rPr lang="en-US" sz="3200" dirty="0" smtClean="0">
                  <a:solidFill>
                    <a:srgbClr val="C00000"/>
                  </a:solidFill>
                </a:rPr>
                <a:t>The </a:t>
              </a:r>
              <a:r>
                <a:rPr lang="en-US" sz="3200" u="sng" dirty="0" smtClean="0">
                  <a:solidFill>
                    <a:srgbClr val="C00000"/>
                  </a:solidFill>
                </a:rPr>
                <a:t>epidemic </a:t>
              </a:r>
              <a:r>
                <a:rPr lang="en-US" sz="3200" u="sng" dirty="0">
                  <a:solidFill>
                    <a:srgbClr val="C00000"/>
                  </a:solidFill>
                </a:rPr>
                <a:t>of </a:t>
              </a:r>
              <a:r>
                <a:rPr lang="en-US" sz="3200" u="sng" dirty="0" smtClean="0">
                  <a:solidFill>
                    <a:srgbClr val="C00000"/>
                  </a:solidFill>
                </a:rPr>
                <a:t>poverty </a:t>
              </a:r>
              <a:r>
                <a:rPr lang="en-US" sz="3200" dirty="0">
                  <a:solidFill>
                    <a:srgbClr val="C00000"/>
                  </a:solidFill>
                </a:rPr>
                <a:t>is spreading in America</a:t>
              </a:r>
              <a:r>
                <a:rPr lang="en-US" sz="3200" dirty="0" smtClean="0">
                  <a:solidFill>
                    <a:srgbClr val="C00000"/>
                  </a:solidFill>
                </a:rPr>
                <a:t>... </a:t>
              </a:r>
              <a:r>
                <a:rPr lang="en-US" sz="3200" dirty="0" smtClean="0">
                  <a:solidFill>
                    <a:srgbClr val="C00000"/>
                  </a:solidFill>
                  <a:sym typeface="Wingdings" panose="05000000000000000000" pitchFamily="2" charset="2"/>
                </a:rPr>
                <a:t> MET</a:t>
              </a:r>
              <a:endParaRPr lang="en-US" sz="3200" dirty="0" smtClean="0">
                <a:solidFill>
                  <a:srgbClr val="C00000"/>
                </a:solidFill>
              </a:endParaRPr>
            </a:p>
            <a:p>
              <a:pPr marL="45720" indent="0">
                <a:buNone/>
              </a:pPr>
              <a:endParaRPr lang="en-US" sz="3200" dirty="0" smtClean="0"/>
            </a:p>
            <a:p>
              <a:pPr marL="45720" indent="0">
                <a:buNone/>
              </a:pPr>
              <a:r>
                <a:rPr lang="en-US" sz="3200" dirty="0"/>
                <a:t>The </a:t>
              </a:r>
              <a:r>
                <a:rPr lang="en-US" sz="3200" u="sng" dirty="0"/>
                <a:t>epidemic of </a:t>
              </a:r>
              <a:r>
                <a:rPr lang="en-US" sz="3200" u="sng" dirty="0" smtClean="0"/>
                <a:t>Covid-19 </a:t>
              </a:r>
              <a:r>
                <a:rPr lang="en-US" sz="3200" dirty="0" smtClean="0"/>
                <a:t>is </a:t>
              </a:r>
              <a:r>
                <a:rPr lang="en-US" sz="3200" dirty="0"/>
                <a:t>spreading in America</a:t>
              </a:r>
              <a:r>
                <a:rPr lang="en-US" sz="3200" dirty="0" smtClean="0"/>
                <a:t>... </a:t>
              </a:r>
              <a:r>
                <a:rPr lang="en-US" sz="3200" dirty="0" smtClean="0">
                  <a:sym typeface="Wingdings" panose="05000000000000000000" pitchFamily="2" charset="2"/>
                </a:rPr>
                <a:t> NONMET</a:t>
              </a:r>
              <a:endParaRPr lang="en-US" sz="3200" dirty="0" smtClean="0"/>
            </a:p>
            <a:p>
              <a:pPr marL="45720" indent="0">
                <a:buNone/>
              </a:pPr>
              <a:endParaRPr lang="en-US" sz="3200" dirty="0"/>
            </a:p>
            <a:p>
              <a:pPr marL="45720" indent="0">
                <a:buNone/>
              </a:pPr>
              <a:r>
                <a:rPr lang="en-US" sz="3200" dirty="0" smtClean="0">
                  <a:solidFill>
                    <a:srgbClr val="C00000"/>
                  </a:solidFill>
                </a:rPr>
                <a:t>... </a:t>
              </a:r>
              <a:r>
                <a:rPr lang="en-US" sz="3200" dirty="0">
                  <a:solidFill>
                    <a:srgbClr val="C00000"/>
                  </a:solidFill>
                </a:rPr>
                <a:t>we </a:t>
              </a:r>
              <a:r>
                <a:rPr lang="en-US" sz="3200" dirty="0" smtClean="0">
                  <a:solidFill>
                    <a:srgbClr val="C00000"/>
                  </a:solidFill>
                </a:rPr>
                <a:t>can't </a:t>
              </a:r>
              <a:r>
                <a:rPr lang="en-US" sz="3200" dirty="0">
                  <a:solidFill>
                    <a:srgbClr val="C00000"/>
                  </a:solidFill>
                </a:rPr>
                <a:t>treat </a:t>
              </a:r>
              <a:r>
                <a:rPr lang="en-US" sz="3200" u="sng" dirty="0">
                  <a:solidFill>
                    <a:srgbClr val="C00000"/>
                  </a:solidFill>
                </a:rPr>
                <a:t>the </a:t>
              </a:r>
              <a:r>
                <a:rPr lang="en-US" sz="3200" u="sng" dirty="0" smtClean="0">
                  <a:solidFill>
                    <a:srgbClr val="C00000"/>
                  </a:solidFill>
                </a:rPr>
                <a:t>symptoms </a:t>
              </a:r>
              <a:r>
                <a:rPr lang="en-US" sz="3200" u="sng" dirty="0">
                  <a:solidFill>
                    <a:srgbClr val="C00000"/>
                  </a:solidFill>
                </a:rPr>
                <a:t>of </a:t>
              </a:r>
              <a:r>
                <a:rPr lang="en-US" sz="3200" u="sng" dirty="0" smtClean="0">
                  <a:solidFill>
                    <a:srgbClr val="C00000"/>
                  </a:solidFill>
                </a:rPr>
                <a:t>poverty </a:t>
              </a:r>
              <a:r>
                <a:rPr lang="en-US" sz="3200" dirty="0">
                  <a:solidFill>
                    <a:srgbClr val="C00000"/>
                  </a:solidFill>
                </a:rPr>
                <a:t>in isolation</a:t>
              </a:r>
              <a:r>
                <a:rPr lang="en-US" sz="3200" dirty="0" smtClean="0">
                  <a:solidFill>
                    <a:srgbClr val="C00000"/>
                  </a:solidFill>
                </a:rPr>
                <a:t>. </a:t>
              </a:r>
              <a:r>
                <a:rPr lang="en-US" sz="3200" dirty="0" smtClean="0">
                  <a:solidFill>
                    <a:srgbClr val="C00000"/>
                  </a:solidFill>
                  <a:sym typeface="Wingdings" panose="05000000000000000000" pitchFamily="2" charset="2"/>
                </a:rPr>
                <a:t> MET</a:t>
              </a:r>
              <a:endParaRPr lang="en-US" sz="3200" dirty="0" smtClean="0">
                <a:solidFill>
                  <a:srgbClr val="C00000"/>
                </a:solidFill>
              </a:endParaRPr>
            </a:p>
            <a:p>
              <a:pPr marL="45720" indent="0">
                <a:buNone/>
              </a:pPr>
              <a:endParaRPr lang="en-US" sz="3200" dirty="0"/>
            </a:p>
            <a:p>
              <a:pPr marL="45720" indent="0">
                <a:buNone/>
              </a:pPr>
              <a:r>
                <a:rPr lang="en-US" sz="3200" dirty="0"/>
                <a:t>... we </a:t>
              </a:r>
              <a:r>
                <a:rPr lang="en-US" sz="3200" dirty="0" smtClean="0"/>
                <a:t>can't </a:t>
              </a:r>
              <a:r>
                <a:rPr lang="en-US" sz="3200" dirty="0"/>
                <a:t>treat </a:t>
              </a:r>
              <a:r>
                <a:rPr lang="en-US" sz="3200" u="sng" dirty="0"/>
                <a:t>the symptoms of </a:t>
              </a:r>
              <a:r>
                <a:rPr lang="en-US" sz="3200" u="sng" dirty="0" smtClean="0"/>
                <a:t>pneumonia </a:t>
              </a:r>
              <a:r>
                <a:rPr lang="en-US" sz="3200" dirty="0" smtClean="0"/>
                <a:t>in </a:t>
              </a:r>
              <a:r>
                <a:rPr lang="en-US" sz="3200" dirty="0"/>
                <a:t>isolation</a:t>
              </a:r>
              <a:r>
                <a:rPr lang="en-US" sz="3200" dirty="0" smtClean="0"/>
                <a:t>. </a:t>
              </a:r>
              <a:r>
                <a:rPr lang="en-US" sz="3200" dirty="0" smtClean="0">
                  <a:sym typeface="Wingdings" panose="05000000000000000000" pitchFamily="2" charset="2"/>
                </a:rPr>
                <a:t> NONMET</a:t>
              </a:r>
              <a:endParaRPr lang="en-US" sz="3200" dirty="0" smtClean="0"/>
            </a:p>
          </p:txBody>
        </p:sp>
        <p:cxnSp>
          <p:nvCxnSpPr>
            <p:cNvPr id="8" name="Прямая со стрелкой 7"/>
            <p:cNvCxnSpPr/>
            <p:nvPr/>
          </p:nvCxnSpPr>
          <p:spPr>
            <a:xfrm>
              <a:off x="6330167" y="1686003"/>
              <a:ext cx="13855" cy="54792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/>
            <p:nvPr/>
          </p:nvCxnSpPr>
          <p:spPr>
            <a:xfrm>
              <a:off x="6472175" y="3473240"/>
              <a:ext cx="13855" cy="54792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Группа 21"/>
          <p:cNvGrpSpPr/>
          <p:nvPr/>
        </p:nvGrpSpPr>
        <p:grpSpPr>
          <a:xfrm>
            <a:off x="451280" y="3988074"/>
            <a:ext cx="903840" cy="1051112"/>
            <a:chOff x="1371387" y="1965475"/>
            <a:chExt cx="903840" cy="1051112"/>
          </a:xfrm>
        </p:grpSpPr>
        <p:sp>
          <p:nvSpPr>
            <p:cNvPr id="23" name="Овал 22"/>
            <p:cNvSpPr/>
            <p:nvPr/>
          </p:nvSpPr>
          <p:spPr>
            <a:xfrm>
              <a:off x="1371387" y="2100411"/>
              <a:ext cx="903840" cy="916176"/>
            </a:xfrm>
            <a:prstGeom prst="ellipse">
              <a:avLst/>
            </a:prstGeom>
            <a:noFill/>
            <a:ln w="57150" cmpd="tri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48428" y="1965475"/>
              <a:ext cx="5168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 smtClean="0"/>
                <a:t>1</a:t>
              </a:r>
              <a:endParaRPr lang="ru-RU" sz="6000" dirty="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465182" y="1479476"/>
            <a:ext cx="903840" cy="1051112"/>
            <a:chOff x="1371387" y="1965475"/>
            <a:chExt cx="903840" cy="1051112"/>
          </a:xfrm>
        </p:grpSpPr>
        <p:sp>
          <p:nvSpPr>
            <p:cNvPr id="26" name="Овал 25"/>
            <p:cNvSpPr/>
            <p:nvPr/>
          </p:nvSpPr>
          <p:spPr>
            <a:xfrm>
              <a:off x="1371387" y="2100411"/>
              <a:ext cx="903840" cy="916176"/>
            </a:xfrm>
            <a:prstGeom prst="ellipse">
              <a:avLst/>
            </a:prstGeom>
            <a:noFill/>
            <a:ln w="57150" cmpd="tri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48428" y="1965475"/>
              <a:ext cx="5168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 smtClean="0"/>
                <a:t>2</a:t>
              </a:r>
              <a:endParaRPr lang="ru-RU" sz="6000" dirty="0"/>
            </a:p>
          </p:txBody>
        </p:sp>
      </p:grpSp>
      <p:sp>
        <p:nvSpPr>
          <p:cNvPr id="29" name="Объект 2"/>
          <p:cNvSpPr txBox="1">
            <a:spLocks/>
          </p:cNvSpPr>
          <p:nvPr/>
        </p:nvSpPr>
        <p:spPr>
          <a:xfrm>
            <a:off x="11043350" y="3082317"/>
            <a:ext cx="696024" cy="2997562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  <p:txBody>
          <a:bodyPr vert="wordArtVert" wrap="square" lIns="91440" tIns="45720" rIns="91440" bIns="45720" rtlCol="0"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buNone/>
            </a:pPr>
            <a:r>
              <a:rPr lang="en-US" sz="2800" kern="100" spc="-300" dirty="0" smtClean="0"/>
              <a:t>Corpus</a:t>
            </a:r>
          </a:p>
        </p:txBody>
      </p:sp>
      <p:sp>
        <p:nvSpPr>
          <p:cNvPr id="2" name="Левая круглая скобка 1"/>
          <p:cNvSpPr/>
          <p:nvPr/>
        </p:nvSpPr>
        <p:spPr>
          <a:xfrm>
            <a:off x="1476073" y="2840182"/>
            <a:ext cx="158763" cy="3505200"/>
          </a:xfrm>
          <a:prstGeom prst="leftBracket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Левая круглая скобка 27"/>
          <p:cNvSpPr/>
          <p:nvPr/>
        </p:nvSpPr>
        <p:spPr>
          <a:xfrm>
            <a:off x="1493950" y="906472"/>
            <a:ext cx="118526" cy="1834991"/>
          </a:xfrm>
          <a:prstGeom prst="leftBracket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31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91848" y="568325"/>
            <a:ext cx="6202017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Top down vs. bottom 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8725" y="1754134"/>
            <a:ext cx="5029200" cy="3068983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b="1" u="sng" dirty="0" smtClean="0"/>
              <a:t>Top down:</a:t>
            </a:r>
          </a:p>
          <a:p>
            <a:pPr marL="45720" indent="0">
              <a:buNone/>
            </a:pPr>
            <a:r>
              <a:rPr lang="en-US" dirty="0" smtClean="0"/>
              <a:t>potentially limited set of linguistic expressions</a:t>
            </a:r>
          </a:p>
          <a:p>
            <a:pPr marL="45720" indent="0">
              <a:buNone/>
            </a:pPr>
            <a:r>
              <a:rPr lang="en-US" dirty="0" smtClean="0"/>
              <a:t>relatively easier to implement</a:t>
            </a:r>
          </a:p>
          <a:p>
            <a:pPr marL="45720" indent="0">
              <a:buNone/>
            </a:pPr>
            <a:r>
              <a:rPr lang="en-US" dirty="0" smtClean="0"/>
              <a:t>prone to bias towards preconceived  conceptual metaphors</a:t>
            </a:r>
          </a:p>
          <a:p>
            <a:pPr marL="45720" indent="0">
              <a:buNone/>
            </a:pPr>
            <a:r>
              <a:rPr lang="en-US" dirty="0"/>
              <a:t>conceptual </a:t>
            </a:r>
            <a:r>
              <a:rPr lang="en-US" dirty="0" smtClean="0"/>
              <a:t>mappings: intuition-based, criticized</a:t>
            </a:r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6868353" y="1755929"/>
            <a:ext cx="5227984" cy="28171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en-US" b="1" u="sng" dirty="0" smtClean="0"/>
              <a:t>Bottom up:</a:t>
            </a:r>
          </a:p>
          <a:p>
            <a:pPr marL="45720" indent="0">
              <a:buNone/>
            </a:pPr>
            <a:r>
              <a:rPr lang="en-US" dirty="0" smtClean="0"/>
              <a:t>reduces the bias towards preconceived CMs</a:t>
            </a:r>
          </a:p>
          <a:p>
            <a:pPr marL="45720" indent="0">
              <a:buNone/>
            </a:pPr>
            <a:r>
              <a:rPr lang="en-US" dirty="0"/>
              <a:t>r</a:t>
            </a:r>
            <a:r>
              <a:rPr lang="en-US" dirty="0" smtClean="0"/>
              <a:t>elatively more </a:t>
            </a:r>
            <a:r>
              <a:rPr lang="en-US" dirty="0"/>
              <a:t>systematic and </a:t>
            </a:r>
            <a:r>
              <a:rPr lang="en-US" dirty="0" smtClean="0"/>
              <a:t>controlled </a:t>
            </a:r>
            <a:r>
              <a:rPr lang="en-US" dirty="0" smtClean="0">
                <a:sym typeface="Wingdings" panose="05000000000000000000" pitchFamily="2" charset="2"/>
              </a:rPr>
              <a:t> annotation protocols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open set of linguistic expressions</a:t>
            </a:r>
          </a:p>
          <a:p>
            <a:pPr marL="45720" indent="0">
              <a:buNone/>
            </a:pPr>
            <a:r>
              <a:rPr lang="en-US" dirty="0"/>
              <a:t>technically more challenging</a:t>
            </a:r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4" name="Овал 3"/>
          <p:cNvSpPr/>
          <p:nvPr/>
        </p:nvSpPr>
        <p:spPr>
          <a:xfrm>
            <a:off x="908602" y="2287484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+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882512" y="2907390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+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894729" y="3442222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-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923925" y="4059220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-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6538912" y="2287484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+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6540568" y="2920827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+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6538912" y="3640827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-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6541811" y="4059220"/>
            <a:ext cx="304800" cy="287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-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006961" y="4851141"/>
            <a:ext cx="5830957" cy="861391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Most work is focused on the first step – identification of linguistic metaphors in raw text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6006961" y="3987300"/>
            <a:ext cx="501927" cy="18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6006961" y="3987300"/>
            <a:ext cx="0" cy="835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2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16835"/>
            <a:ext cx="10062209" cy="13563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Second </a:t>
            </a:r>
            <a:r>
              <a:rPr lang="en-US" sz="3600" b="1" dirty="0"/>
              <a:t>s</a:t>
            </a:r>
            <a:r>
              <a:rPr lang="ru-RU" sz="3600" b="1" dirty="0" err="1"/>
              <a:t>hared</a:t>
            </a:r>
            <a:r>
              <a:rPr lang="ru-RU" sz="3600" b="1" dirty="0"/>
              <a:t> </a:t>
            </a:r>
            <a:r>
              <a:rPr lang="ru-RU" sz="3600" b="1" dirty="0" err="1"/>
              <a:t>metaphor</a:t>
            </a:r>
            <a:r>
              <a:rPr lang="ru-RU" sz="3600" b="1" dirty="0"/>
              <a:t> </a:t>
            </a:r>
            <a:r>
              <a:rPr lang="ru-RU" sz="3600" b="1" dirty="0" err="1"/>
              <a:t>detection</a:t>
            </a:r>
            <a:r>
              <a:rPr lang="en-US" sz="3600" b="1" dirty="0"/>
              <a:t> </a:t>
            </a:r>
            <a:r>
              <a:rPr lang="en-US" sz="3600" b="1" dirty="0" smtClean="0"/>
              <a:t>task</a:t>
            </a:r>
            <a:r>
              <a:rPr lang="en-US" sz="2800" b="1" dirty="0" smtClean="0"/>
              <a:t> </a:t>
            </a:r>
            <a:br>
              <a:rPr lang="en-US" sz="2800" b="1" dirty="0" smtClean="0"/>
            </a:br>
            <a:r>
              <a:rPr lang="en-US" sz="3600" b="1" dirty="0" smtClean="0"/>
              <a:t>(</a:t>
            </a:r>
            <a:r>
              <a:rPr lang="en-US" sz="3600" b="1" dirty="0"/>
              <a:t>Leong et al</a:t>
            </a:r>
            <a:r>
              <a:rPr lang="en-US" sz="3600" b="1" dirty="0" smtClean="0"/>
              <a:t>. </a:t>
            </a:r>
            <a:r>
              <a:rPr lang="en-US" sz="3600" b="1" dirty="0"/>
              <a:t>2020</a:t>
            </a:r>
            <a:r>
              <a:rPr lang="en-US" sz="3600" b="1" dirty="0" smtClean="0"/>
              <a:t>)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5678" y="1873195"/>
            <a:ext cx="10248899" cy="1872431"/>
          </a:xfrm>
        </p:spPr>
        <p:txBody>
          <a:bodyPr>
            <a:normAutofit fontScale="70000" lnSpcReduction="20000"/>
          </a:bodyPr>
          <a:lstStyle/>
          <a:p>
            <a:pPr marL="560070" indent="-514350">
              <a:lnSpc>
                <a:spcPct val="170000"/>
              </a:lnSpc>
              <a:buFont typeface="+mj-lt"/>
              <a:buAutoNum type="arabicPeriod"/>
            </a:pPr>
            <a:r>
              <a:rPr lang="en-GB" sz="2400" b="1" dirty="0" smtClean="0"/>
              <a:t>VUAMC dataset: </a:t>
            </a:r>
            <a:r>
              <a:rPr lang="en-US" sz="2400" dirty="0"/>
              <a:t>117 texts covering four genres (academic, conversation, fiction, news</a:t>
            </a:r>
            <a:r>
              <a:rPr lang="en-US" sz="2400" dirty="0" smtClean="0"/>
              <a:t>).</a:t>
            </a:r>
          </a:p>
          <a:p>
            <a:pPr marL="560070" indent="-514350">
              <a:lnSpc>
                <a:spcPct val="170000"/>
              </a:lnSpc>
              <a:buFont typeface="+mj-lt"/>
              <a:buAutoNum type="arabicPeriod"/>
            </a:pPr>
            <a:r>
              <a:rPr lang="en-GB" sz="2400" b="1" dirty="0"/>
              <a:t>TOEFL </a:t>
            </a:r>
            <a:r>
              <a:rPr lang="en-GB" sz="2400" b="1" dirty="0" smtClean="0"/>
              <a:t>dataset: </a:t>
            </a:r>
            <a:r>
              <a:rPr lang="en-GB" sz="2400" dirty="0" smtClean="0"/>
              <a:t>180 </a:t>
            </a:r>
            <a:r>
              <a:rPr lang="en-GB" sz="2400" dirty="0"/>
              <a:t>(train) / 60 (test) </a:t>
            </a:r>
            <a:r>
              <a:rPr lang="en-GB" sz="2400" dirty="0" smtClean="0"/>
              <a:t>essays</a:t>
            </a:r>
          </a:p>
          <a:p>
            <a:pPr marL="560070" indent="-514350">
              <a:buFont typeface="+mj-lt"/>
              <a:buAutoNum type="arabicPeriod"/>
            </a:pPr>
            <a:endParaRPr lang="en-GB" sz="2400" dirty="0" smtClean="0"/>
          </a:p>
          <a:p>
            <a:pPr marL="45720" indent="0" algn="ctr">
              <a:buNone/>
            </a:pPr>
            <a:r>
              <a:rPr lang="en-GB" sz="2400" b="1" dirty="0" smtClean="0"/>
              <a:t>Tracks: (a) </a:t>
            </a:r>
            <a:r>
              <a:rPr lang="en-US" sz="2400" dirty="0" smtClean="0"/>
              <a:t>verbs </a:t>
            </a:r>
            <a:r>
              <a:rPr lang="en-US" sz="2400" dirty="0"/>
              <a:t>only, </a:t>
            </a:r>
            <a:r>
              <a:rPr lang="en-US" sz="2400" dirty="0" smtClean="0"/>
              <a:t>(b) all </a:t>
            </a:r>
            <a:r>
              <a:rPr lang="en-US" sz="2400" dirty="0"/>
              <a:t>content part-of-speech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2095" y="5804568"/>
            <a:ext cx="7161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hlinkClick r:id="rId2"/>
              </a:rPr>
              <a:t>https</a:t>
            </a:r>
            <a:r>
              <a:rPr lang="ru-RU" dirty="0">
                <a:hlinkClick r:id="rId2"/>
              </a:rPr>
              <a:t>://competitions.codalab.org/competitions/22188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2095" y="6220960"/>
            <a:ext cx="10850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Klebanov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, B. B., Leong, C. W., &amp; Flor, M. (2018). A corpus of non-native written English annotated for metaphor. 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141" y="4098822"/>
            <a:ext cx="85439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2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516835"/>
            <a:ext cx="10062209" cy="13563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Second </a:t>
            </a:r>
            <a:r>
              <a:rPr lang="en-US" sz="3600" b="1" dirty="0"/>
              <a:t>s</a:t>
            </a:r>
            <a:r>
              <a:rPr lang="ru-RU" sz="3600" b="1" dirty="0" err="1"/>
              <a:t>hared</a:t>
            </a:r>
            <a:r>
              <a:rPr lang="ru-RU" sz="3600" b="1" dirty="0"/>
              <a:t> </a:t>
            </a:r>
            <a:r>
              <a:rPr lang="ru-RU" sz="3600" b="1" dirty="0" err="1"/>
              <a:t>metaphor</a:t>
            </a:r>
            <a:r>
              <a:rPr lang="ru-RU" sz="3600" b="1" dirty="0"/>
              <a:t> </a:t>
            </a:r>
            <a:r>
              <a:rPr lang="ru-RU" sz="3600" b="1" dirty="0" err="1"/>
              <a:t>detection</a:t>
            </a:r>
            <a:r>
              <a:rPr lang="en-US" sz="3600" b="1" dirty="0"/>
              <a:t> </a:t>
            </a:r>
            <a:r>
              <a:rPr lang="en-US" sz="3600" b="1" dirty="0" smtClean="0"/>
              <a:t>task</a:t>
            </a:r>
            <a:r>
              <a:rPr lang="en-US" sz="2800" b="1" dirty="0" smtClean="0"/>
              <a:t> </a:t>
            </a:r>
            <a:br>
              <a:rPr lang="en-US" sz="2800" b="1" dirty="0" smtClean="0"/>
            </a:br>
            <a:r>
              <a:rPr lang="en-US" sz="3600" b="1" dirty="0" smtClean="0"/>
              <a:t>(</a:t>
            </a:r>
            <a:r>
              <a:rPr lang="en-US" sz="3600" b="1" dirty="0"/>
              <a:t>Leong et al</a:t>
            </a:r>
            <a:r>
              <a:rPr lang="en-US" sz="3600" b="1" dirty="0" smtClean="0"/>
              <a:t>. </a:t>
            </a:r>
            <a:r>
              <a:rPr lang="en-US" sz="3600" b="1" dirty="0"/>
              <a:t>2020</a:t>
            </a:r>
            <a:r>
              <a:rPr lang="en-US" sz="3600" b="1" dirty="0" smtClean="0"/>
              <a:t>)</a:t>
            </a:r>
            <a:endParaRPr lang="ru-RU" sz="36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768" y="1694413"/>
            <a:ext cx="2781300" cy="47148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911" y="2166668"/>
            <a:ext cx="2676525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5031" y="3651740"/>
            <a:ext cx="132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VUAMC</a:t>
            </a:r>
            <a:endParaRPr lang="en-US" sz="1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120436" y="3651740"/>
            <a:ext cx="1322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TOEFL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26793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cap="none" dirty="0" smtClean="0"/>
              <a:t>METAPHOR ANNOTATION</a:t>
            </a:r>
            <a:br>
              <a:rPr lang="en-US" sz="4400" cap="none" dirty="0" smtClean="0"/>
            </a:br>
            <a:r>
              <a:rPr lang="en-US" sz="4400" cap="none" dirty="0" smtClean="0"/>
              <a:t>and </a:t>
            </a:r>
            <a:br>
              <a:rPr lang="en-US" sz="4400" cap="none" dirty="0" smtClean="0"/>
            </a:br>
            <a:r>
              <a:rPr lang="en-US" sz="4400" cap="none" dirty="0" smtClean="0"/>
              <a:t>METAPHOR CORPORA</a:t>
            </a:r>
            <a:endParaRPr lang="ru-RU" sz="44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36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9791" y="324504"/>
            <a:ext cx="10571922" cy="13563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Linguistic metaphor :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MIPVU </a:t>
            </a:r>
            <a:r>
              <a:rPr lang="en-US" sz="3200" b="1" dirty="0" smtClean="0"/>
              <a:t>Procedure and VU Amsterdam Metaphor Corpus</a:t>
            </a:r>
            <a:endParaRPr lang="ru-RU" sz="32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3" y="1596654"/>
            <a:ext cx="3219450" cy="41719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62609" y="5837764"/>
            <a:ext cx="75802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http://</a:t>
            </a:r>
            <a:r>
              <a:rPr lang="ru-RU" sz="1400" dirty="0" smtClean="0"/>
              <a:t>www.vismet.org/metcor/search/showPage.php?page=start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Steen, G. J., </a:t>
            </a:r>
            <a:r>
              <a:rPr lang="en-US" sz="1400" dirty="0" err="1"/>
              <a:t>Dorst</a:t>
            </a:r>
            <a:r>
              <a:rPr lang="en-US" sz="1400" dirty="0"/>
              <a:t>, A. G., </a:t>
            </a:r>
            <a:r>
              <a:rPr lang="en-US" sz="1400" dirty="0" err="1"/>
              <a:t>Krennmayr</a:t>
            </a:r>
            <a:r>
              <a:rPr lang="en-US" sz="1400" dirty="0"/>
              <a:t>, T., </a:t>
            </a:r>
            <a:r>
              <a:rPr lang="en-US" sz="1400" dirty="0" err="1"/>
              <a:t>Kaal</a:t>
            </a:r>
            <a:r>
              <a:rPr lang="en-US" sz="1400" dirty="0"/>
              <a:t>, A. A., &amp; Herrmann, J. B. (2010). A method for linguistic metaphor identification.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396557" y="1590447"/>
            <a:ext cx="624536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j-lt"/>
                <a:ea typeface="Calibri" panose="020F0502020204030204" pitchFamily="34" charset="0"/>
              </a:rPr>
              <a:t>Identify the contextual meaning of the lexical unit. </a:t>
            </a:r>
            <a:endParaRPr lang="en-US" dirty="0" smtClean="0">
              <a:latin typeface="+mj-lt"/>
              <a:ea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Check if there is a more basic meaning of the lexical unit</a:t>
            </a:r>
            <a:r>
              <a:rPr lang="en-US" dirty="0" smtClean="0">
                <a:latin typeface="+mj-lt"/>
              </a:rPr>
              <a:t>. A </a:t>
            </a:r>
            <a:r>
              <a:rPr lang="en-US" dirty="0">
                <a:latin typeface="+mj-lt"/>
              </a:rPr>
              <a:t>more basic meaning of a lexical unit is defined as a more concrete, specific, and human‑oriented sense in contemporary language use. </a:t>
            </a:r>
            <a:endParaRPr lang="en-US" dirty="0" smtClean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Determine whether the more basic meaning of the lexical unit is sufficiently distinct from the contextual meaning</a:t>
            </a:r>
            <a:r>
              <a:rPr lang="en-US" dirty="0" smtClean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+mj-lt"/>
              </a:rPr>
              <a:t>Examine whether the contextual meaning of the lexical unit can be related to the more basic meaning by some form of similarity. </a:t>
            </a:r>
            <a:endParaRPr lang="ru-RU" dirty="0">
              <a:latin typeface="+mj-lt"/>
            </a:endParaRPr>
          </a:p>
        </p:txBody>
      </p:sp>
      <p:pic>
        <p:nvPicPr>
          <p:cNvPr id="1026" name="Picture 2" descr="Amazon.com: A Method for Linguistic Metaphor Identification: From MIP to  MIPVU (Converging Evidence in Language and Communication Research)  (9789027239037): Steen, Gerard J., Dorst, Aletta G., Herrmann, J. Berenike,  Kaal, Anna, Krennmayr, Tina,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4" r="27522" b="7681"/>
          <a:stretch/>
        </p:blipFill>
        <p:spPr bwMode="auto">
          <a:xfrm>
            <a:off x="9415590" y="1771281"/>
            <a:ext cx="2535382" cy="276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36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1253562" y="2384764"/>
            <a:ext cx="9913004" cy="2862322"/>
            <a:chOff x="1024962" y="3632539"/>
            <a:chExt cx="9913004" cy="2862322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1024962" y="3632539"/>
              <a:ext cx="9913004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u-RU" sz="2400" dirty="0" err="1"/>
                <a:t>Arlene</a:t>
              </a:r>
              <a:r>
                <a:rPr lang="ru-RU" sz="2400" dirty="0"/>
                <a:t> </a:t>
              </a:r>
              <a:r>
                <a:rPr lang="en-US" sz="2400" dirty="0" smtClean="0"/>
                <a:t>…</a:t>
              </a:r>
              <a:r>
                <a:rPr lang="ru-RU" sz="2400" dirty="0" err="1" smtClean="0"/>
                <a:t>looked</a:t>
              </a:r>
              <a:r>
                <a:rPr lang="ru-RU" sz="2400" dirty="0" smtClean="0"/>
                <a:t> </a:t>
              </a:r>
              <a:r>
                <a:rPr lang="ru-RU" sz="2400" dirty="0" err="1"/>
                <a:t>on</a:t>
              </a:r>
              <a:r>
                <a:rPr lang="ru-RU" sz="2400" dirty="0"/>
                <a:t> </a:t>
              </a:r>
              <a:r>
                <a:rPr lang="ru-RU" sz="2400" dirty="0" err="1"/>
                <a:t>Paula</a:t>
              </a:r>
              <a:r>
                <a:rPr lang="ru-RU" sz="2400" dirty="0"/>
                <a:t> </a:t>
              </a:r>
              <a:r>
                <a:rPr lang="ru-RU" sz="2400" dirty="0" err="1"/>
                <a:t>as</a:t>
              </a:r>
              <a:r>
                <a:rPr lang="ru-RU" sz="2400" dirty="0"/>
                <a:t> </a:t>
              </a:r>
              <a:r>
                <a:rPr lang="ru-RU" sz="2400" dirty="0" err="1"/>
                <a:t>her</a:t>
              </a:r>
              <a:r>
                <a:rPr lang="ru-RU" sz="2400" dirty="0"/>
                <a:t> </a:t>
              </a:r>
              <a:r>
                <a:rPr lang="ru-RU" sz="2400" dirty="0" err="1"/>
                <a:t>very</a:t>
              </a:r>
              <a:r>
                <a:rPr lang="ru-RU" sz="2400" dirty="0"/>
                <a:t> </a:t>
              </a:r>
              <a:r>
                <a:rPr lang="ru-RU" sz="2400" dirty="0" err="1"/>
                <a:t>own</a:t>
              </a:r>
              <a:r>
                <a:rPr lang="ru-RU" sz="2400" dirty="0"/>
                <a:t> </a:t>
              </a:r>
              <a:r>
                <a:rPr lang="ru-RU" sz="2400" dirty="0" err="1"/>
                <a:t>creation</a:t>
              </a:r>
              <a:r>
                <a:rPr lang="ru-RU" sz="2400" dirty="0"/>
                <a:t> . </a:t>
              </a:r>
              <a:r>
                <a:rPr lang="ru-RU" sz="2400" dirty="0" err="1"/>
                <a:t>The</a:t>
              </a:r>
              <a:r>
                <a:rPr lang="ru-RU" sz="2400" dirty="0"/>
                <a:t> </a:t>
              </a:r>
              <a:r>
                <a:rPr lang="ru-RU" sz="2400" dirty="0" err="1"/>
                <a:t>raw</a:t>
              </a:r>
              <a:r>
                <a:rPr lang="ru-RU" sz="2400" dirty="0"/>
                <a:t> </a:t>
              </a:r>
              <a:r>
                <a:rPr lang="ru-RU" sz="2400" dirty="0" err="1"/>
                <a:t>materials</a:t>
              </a:r>
              <a:r>
                <a:rPr lang="ru-RU" sz="2400" dirty="0"/>
                <a:t> </a:t>
              </a:r>
              <a:r>
                <a:rPr lang="ru-RU" sz="2400" dirty="0" err="1"/>
                <a:t>might</a:t>
              </a:r>
              <a:r>
                <a:rPr lang="ru-RU" sz="2400" dirty="0"/>
                <a:t> </a:t>
              </a:r>
              <a:r>
                <a:rPr lang="ru-RU" sz="2400" dirty="0" err="1"/>
                <a:t>have</a:t>
              </a:r>
              <a:r>
                <a:rPr lang="ru-RU" sz="2400" dirty="0"/>
                <a:t> </a:t>
              </a:r>
              <a:r>
                <a:rPr lang="ru-RU" sz="2400" dirty="0" err="1"/>
                <a:t>been</a:t>
              </a:r>
              <a:r>
                <a:rPr lang="ru-RU" sz="2400" dirty="0"/>
                <a:t> </a:t>
              </a:r>
              <a:r>
                <a:rPr lang="ru-RU" sz="2400" dirty="0" err="1"/>
                <a:t>there</a:t>
              </a:r>
              <a:r>
                <a:rPr lang="ru-RU" sz="2400" dirty="0"/>
                <a:t> </a:t>
              </a:r>
              <a:r>
                <a:rPr lang="ru-RU" sz="2400" dirty="0" err="1"/>
                <a:t>before</a:t>
              </a:r>
              <a:r>
                <a:rPr lang="ru-RU" sz="2400" dirty="0"/>
                <a:t> — </a:t>
              </a:r>
              <a:r>
                <a:rPr lang="ru-RU" sz="2400" dirty="0" err="1"/>
                <a:t>indeed</a:t>
              </a:r>
              <a:r>
                <a:rPr lang="ru-RU" sz="2400" dirty="0"/>
                <a:t> , </a:t>
              </a:r>
              <a:r>
                <a:rPr lang="ru-RU" sz="2400" dirty="0" err="1" smtClean="0"/>
                <a:t>hadn't</a:t>
              </a:r>
              <a:r>
                <a:rPr lang="ru-RU" sz="2400" dirty="0" smtClean="0"/>
                <a:t> </a:t>
              </a:r>
              <a:r>
                <a:rPr lang="ru-RU" sz="2400" dirty="0" err="1"/>
                <a:t>it</a:t>
              </a:r>
              <a:r>
                <a:rPr lang="ru-RU" sz="2400" dirty="0"/>
                <a:t> </a:t>
              </a:r>
              <a:r>
                <a:rPr lang="ru-RU" sz="2400" dirty="0" err="1"/>
                <a:t>been</a:t>
              </a:r>
              <a:r>
                <a:rPr lang="ru-RU" sz="2400" dirty="0"/>
                <a:t> </a:t>
              </a:r>
              <a:r>
                <a:rPr lang="ru-RU" sz="2400" dirty="0" err="1"/>
                <a:t>she</a:t>
              </a:r>
              <a:r>
                <a:rPr lang="ru-RU" sz="2400" dirty="0"/>
                <a:t> , </a:t>
              </a:r>
              <a:r>
                <a:rPr lang="ru-RU" sz="2400" dirty="0" err="1"/>
                <a:t>Arlene</a:t>
              </a:r>
              <a:r>
                <a:rPr lang="ru-RU" sz="2400" dirty="0"/>
                <a:t> , </a:t>
              </a:r>
              <a:r>
                <a:rPr lang="ru-RU" sz="2400" dirty="0" err="1"/>
                <a:t>who</a:t>
              </a:r>
              <a:r>
                <a:rPr lang="ru-RU" sz="2400" dirty="0"/>
                <a:t> </a:t>
              </a:r>
              <a:r>
                <a:rPr lang="ru-RU" sz="2400" dirty="0" err="1"/>
                <a:t>had</a:t>
              </a:r>
              <a:r>
                <a:rPr lang="ru-RU" sz="2400" dirty="0"/>
                <a:t> </a:t>
              </a:r>
              <a:r>
                <a:rPr lang="ru-RU" sz="2400" dirty="0" err="1"/>
                <a:t>spotted</a:t>
              </a:r>
              <a:r>
                <a:rPr lang="ru-RU" sz="2400" dirty="0"/>
                <a:t> </a:t>
              </a:r>
              <a:r>
                <a:rPr lang="ru-RU" sz="2400" dirty="0" err="1"/>
                <a:t>them</a:t>
              </a:r>
              <a:r>
                <a:rPr lang="ru-RU" sz="2400" dirty="0"/>
                <a:t> ? </a:t>
              </a:r>
              <a:r>
                <a:rPr lang="ru-RU" sz="2400" dirty="0" err="1"/>
                <a:t>But</a:t>
              </a:r>
              <a:r>
                <a:rPr lang="ru-RU" sz="2400" dirty="0"/>
                <a:t> </a:t>
              </a:r>
              <a:r>
                <a:rPr lang="ru-RU" sz="2400" dirty="0" err="1"/>
                <a:t>the</a:t>
              </a:r>
              <a:r>
                <a:rPr lang="ru-RU" sz="2400" dirty="0"/>
                <a:t> </a:t>
              </a:r>
              <a:r>
                <a:rPr lang="ru-RU" sz="2400" dirty="0" err="1"/>
                <a:t>transformation</a:t>
              </a:r>
              <a:r>
                <a:rPr lang="ru-RU" sz="2400" dirty="0"/>
                <a:t> </a:t>
              </a:r>
              <a:r>
                <a:rPr lang="ru-RU" sz="2400" dirty="0" err="1"/>
                <a:t>of</a:t>
              </a:r>
              <a:r>
                <a:rPr lang="ru-RU" sz="2400" dirty="0"/>
                <a:t> a </a:t>
              </a:r>
              <a:r>
                <a:rPr lang="ru-RU" sz="2400" dirty="0" err="1"/>
                <a:t>leggy</a:t>
              </a:r>
              <a:r>
                <a:rPr lang="ru-RU" sz="2400" dirty="0"/>
                <a:t> </a:t>
              </a:r>
              <a:r>
                <a:rPr lang="ru-RU" sz="2400" dirty="0" err="1"/>
                <a:t>young</a:t>
              </a:r>
              <a:r>
                <a:rPr lang="ru-RU" sz="2400" dirty="0"/>
                <a:t> </a:t>
              </a:r>
              <a:r>
                <a:rPr lang="ru-RU" sz="2400" dirty="0" err="1"/>
                <a:t>filly</a:t>
              </a:r>
              <a:r>
                <a:rPr lang="ru-RU" sz="2400" dirty="0"/>
                <a:t> </a:t>
              </a:r>
              <a:r>
                <a:rPr lang="ru-RU" sz="2400" dirty="0" err="1"/>
                <a:t>into</a:t>
              </a:r>
              <a:r>
                <a:rPr lang="ru-RU" sz="2400" dirty="0"/>
                <a:t> a </a:t>
              </a:r>
              <a:r>
                <a:rPr lang="ru-RU" sz="2400" dirty="0" err="1"/>
                <a:t>sleekly</a:t>
              </a:r>
              <a:r>
                <a:rPr lang="ru-RU" sz="2400" dirty="0"/>
                <a:t> </a:t>
              </a:r>
              <a:r>
                <a:rPr lang="ru-RU" sz="2400" dirty="0" err="1"/>
                <a:t>beautiful</a:t>
              </a:r>
              <a:r>
                <a:rPr lang="ru-RU" sz="2400" dirty="0"/>
                <a:t> </a:t>
              </a:r>
              <a:r>
                <a:rPr lang="ru-RU" sz="2400" dirty="0" err="1"/>
                <a:t>racehorse</a:t>
              </a:r>
              <a:r>
                <a:rPr lang="ru-RU" sz="2400" dirty="0"/>
                <a:t> </a:t>
              </a:r>
              <a:r>
                <a:rPr lang="ru-RU" sz="2400" dirty="0" err="1"/>
                <a:t>had</a:t>
              </a:r>
              <a:r>
                <a:rPr lang="ru-RU" sz="2400" dirty="0"/>
                <a:t> </a:t>
              </a:r>
              <a:r>
                <a:rPr lang="ru-RU" sz="2400" dirty="0" err="1"/>
                <a:t>been</a:t>
              </a:r>
              <a:r>
                <a:rPr lang="ru-RU" sz="2400" dirty="0"/>
                <a:t> </a:t>
              </a:r>
              <a:r>
                <a:rPr lang="ru-RU" sz="2400" dirty="0" err="1"/>
                <a:t>her</a:t>
              </a:r>
              <a:r>
                <a:rPr lang="ru-RU" sz="2400" dirty="0"/>
                <a:t> </a:t>
              </a:r>
              <a:r>
                <a:rPr lang="ru-RU" sz="2400" dirty="0" err="1"/>
                <a:t>doing</a:t>
              </a:r>
              <a:r>
                <a:rPr lang="ru-RU" sz="2400" dirty="0"/>
                <a:t> . </a:t>
              </a:r>
              <a:r>
                <a:rPr lang="en-US" sz="2400" dirty="0" err="1" smtClean="0"/>
                <a:t>E</a:t>
              </a:r>
              <a:r>
                <a:rPr lang="ru-RU" sz="2400" dirty="0" err="1" smtClean="0"/>
                <a:t>ighteen</a:t>
              </a:r>
              <a:r>
                <a:rPr lang="ru-RU" sz="2400" dirty="0" smtClean="0"/>
                <a:t> </a:t>
              </a:r>
              <a:r>
                <a:rPr lang="ru-RU" sz="2400" dirty="0" err="1"/>
                <a:t>months</a:t>
              </a:r>
              <a:r>
                <a:rPr lang="ru-RU" sz="2400" dirty="0"/>
                <a:t> </a:t>
              </a:r>
              <a:r>
                <a:rPr lang="en-US" sz="2400" dirty="0" smtClean="0"/>
                <a:t>in</a:t>
              </a:r>
              <a:r>
                <a:rPr lang="ru-RU" sz="2400" dirty="0" smtClean="0"/>
                <a:t> </a:t>
              </a:r>
              <a:r>
                <a:rPr lang="ru-RU" sz="2400" dirty="0" err="1"/>
                <a:t>the</a:t>
              </a:r>
              <a:r>
                <a:rPr lang="ru-RU" sz="2400" dirty="0"/>
                <a:t> </a:t>
              </a:r>
              <a:r>
                <a:rPr lang="ru-RU" sz="2400" dirty="0" err="1"/>
                <a:t>model</a:t>
              </a:r>
              <a:r>
                <a:rPr lang="ru-RU" sz="2400" dirty="0"/>
                <a:t> </a:t>
              </a:r>
              <a:r>
                <a:rPr lang="en-US" sz="2400" dirty="0" smtClean="0"/>
                <a:t>business</a:t>
              </a:r>
              <a:r>
                <a:rPr lang="ru-RU" sz="2400" dirty="0" smtClean="0"/>
                <a:t> </a:t>
              </a:r>
              <a:r>
                <a:rPr lang="ru-RU" sz="2400" dirty="0" err="1"/>
                <a:t>had</a:t>
              </a:r>
              <a:r>
                <a:rPr lang="ru-RU" sz="2400" dirty="0"/>
                <a:t> </a:t>
              </a:r>
              <a:r>
                <a:rPr lang="ru-RU" sz="2400" dirty="0" err="1"/>
                <a:t>eliminated</a:t>
              </a:r>
              <a:r>
                <a:rPr lang="ru-RU" sz="2400" dirty="0"/>
                <a:t> </a:t>
              </a:r>
              <a:r>
                <a:rPr lang="ru-RU" sz="2400" dirty="0" err="1"/>
                <a:t>all</a:t>
              </a:r>
              <a:r>
                <a:rPr lang="ru-RU" sz="2400" dirty="0"/>
                <a:t> </a:t>
              </a:r>
              <a:r>
                <a:rPr lang="ru-RU" sz="2400" dirty="0" err="1"/>
                <a:t>trace</a:t>
              </a:r>
              <a:r>
                <a:rPr lang="ru-RU" sz="2400" dirty="0"/>
                <a:t> </a:t>
              </a:r>
              <a:r>
                <a:rPr lang="ru-RU" sz="2400" dirty="0" err="1"/>
                <a:t>of</a:t>
              </a:r>
              <a:r>
                <a:rPr lang="ru-RU" sz="2400" dirty="0"/>
                <a:t> </a:t>
              </a:r>
              <a:r>
                <a:rPr lang="ru-RU" sz="2400" dirty="0" err="1"/>
                <a:t>her</a:t>
              </a:r>
              <a:r>
                <a:rPr lang="ru-RU" sz="2400" dirty="0"/>
                <a:t> </a:t>
              </a:r>
              <a:r>
                <a:rPr lang="ru-RU" sz="2400" dirty="0" err="1"/>
                <a:t>former</a:t>
              </a:r>
              <a:r>
                <a:rPr lang="ru-RU" sz="2400" dirty="0"/>
                <a:t> </a:t>
              </a:r>
              <a:r>
                <a:rPr lang="ru-RU" sz="2400" dirty="0" err="1"/>
                <a:t>Somerset</a:t>
              </a:r>
              <a:r>
                <a:rPr lang="ru-RU" sz="2400" dirty="0"/>
                <a:t> </a:t>
              </a:r>
              <a:r>
                <a:rPr lang="ru-RU" sz="2400" dirty="0" err="1"/>
                <a:t>accent</a:t>
              </a:r>
              <a:r>
                <a:rPr lang="ru-RU" sz="2400" dirty="0"/>
                <a:t> .</a:t>
              </a:r>
            </a:p>
          </p:txBody>
        </p:sp>
        <p:cxnSp>
          <p:nvCxnSpPr>
            <p:cNvPr id="17" name="Прямая соединительная линия 16"/>
            <p:cNvCxnSpPr/>
            <p:nvPr/>
          </p:nvCxnSpPr>
          <p:spPr>
            <a:xfrm flipV="1">
              <a:off x="8051075" y="4241074"/>
              <a:ext cx="1693816" cy="535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 flipV="1">
              <a:off x="1088572" y="5355771"/>
              <a:ext cx="1027611" cy="971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>
              <a:off x="8051075" y="5337161"/>
              <a:ext cx="60524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 flipV="1">
              <a:off x="2272938" y="5904411"/>
              <a:ext cx="1262742" cy="316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/>
            <p:cNvCxnSpPr/>
            <p:nvPr/>
          </p:nvCxnSpPr>
          <p:spPr>
            <a:xfrm flipV="1">
              <a:off x="2704012" y="6392091"/>
              <a:ext cx="1397725" cy="751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V="1">
              <a:off x="4386943" y="6399608"/>
              <a:ext cx="873034" cy="1481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869791" y="324504"/>
            <a:ext cx="10571922" cy="13563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Amsterdam </a:t>
            </a:r>
            <a:r>
              <a:rPr lang="en-US" sz="3200" b="1" dirty="0" smtClean="0"/>
              <a:t>Metaphor </a:t>
            </a:r>
            <a:r>
              <a:rPr lang="en-US" sz="3200" b="1" dirty="0" smtClean="0"/>
              <a:t>Corpus: An example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04024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4293" y="129074"/>
            <a:ext cx="10571922" cy="135636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Conceptual metaphor: The </a:t>
            </a:r>
            <a:r>
              <a:rPr lang="en-US" sz="2800" dirty="0" err="1" smtClean="0"/>
              <a:t>MetaNet</a:t>
            </a:r>
            <a:r>
              <a:rPr lang="en-US" sz="2800" dirty="0" smtClean="0"/>
              <a:t> Repository</a:t>
            </a:r>
            <a:endParaRPr lang="ru-RU" sz="28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73163" y="5411751"/>
            <a:ext cx="8174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https://metaphor.icsi.berkeley.edu/pub/en/index.php/Category:Metaphor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936" y="1255568"/>
            <a:ext cx="7819297" cy="402301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24375" y="5842208"/>
            <a:ext cx="969818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Dodge, E., Hong, J., &amp; Stickles, E. (2015).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MetaNet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metaphor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7505" y="303246"/>
            <a:ext cx="10571922" cy="135636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Conceptual Metaphor: Metaphor </a:t>
            </a:r>
            <a:r>
              <a:rPr lang="en-US" sz="2800" dirty="0"/>
              <a:t>Corpus Annotated for Source-Target Domain Mappings</a:t>
            </a:r>
            <a:endParaRPr lang="ru-RU" sz="28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62608" y="6014495"/>
            <a:ext cx="89793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hlinkClick r:id="rId2"/>
              </a:rPr>
              <a:t>http://citeseerx.ist.psu.edu/viewdoc/download?doi=10.1.1.415.1260&amp;rep=rep1&amp;type=pdf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13" y="1519237"/>
            <a:ext cx="2409825" cy="38004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216" y="1659606"/>
            <a:ext cx="2762250" cy="38195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521818" y="1659606"/>
            <a:ext cx="534684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761 sentences, 13642 words from BNC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3 annotators, agreement </a:t>
            </a:r>
            <a:r>
              <a:rPr lang="en-GB" sz="2400" dirty="0" smtClean="0"/>
              <a:t>0.61 </a:t>
            </a:r>
            <a:r>
              <a:rPr lang="en-GB" sz="2400" dirty="0"/>
              <a:t>(</a:t>
            </a:r>
            <a:r>
              <a:rPr lang="el-GR" sz="2400" dirty="0"/>
              <a:t>κ)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62608" y="5645163"/>
            <a:ext cx="3194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Shutova</a:t>
            </a:r>
            <a:r>
              <a:rPr lang="en-US" dirty="0"/>
              <a:t>, E., &amp; </a:t>
            </a:r>
            <a:r>
              <a:rPr lang="en-US" dirty="0" err="1"/>
              <a:t>Teufel</a:t>
            </a:r>
            <a:r>
              <a:rPr lang="en-US" dirty="0"/>
              <a:t>, S. (2010).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626321" y="2945922"/>
            <a:ext cx="4670596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If he asked her to post a letter or buy some razor blades from the chemist, she was transported with pleasure.</a:t>
            </a:r>
            <a:endParaRPr lang="ru-RU" sz="2400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flipV="1">
            <a:off x="8856617" y="4632960"/>
            <a:ext cx="1567543" cy="100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6791944" y="5251535"/>
            <a:ext cx="39978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dirty="0" smtClean="0"/>
              <a:t>EMOTIONS ARE VEHICLES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9256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9061" y="2601154"/>
            <a:ext cx="10160771" cy="2506318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RusMet</a:t>
            </a:r>
            <a:r>
              <a:rPr lang="en-US" sz="2800" dirty="0" smtClean="0"/>
              <a:t> (Badryzlova &amp; </a:t>
            </a:r>
            <a:r>
              <a:rPr lang="en-US" sz="2800" dirty="0" err="1" smtClean="0"/>
              <a:t>Panicheva</a:t>
            </a:r>
            <a:r>
              <a:rPr lang="en-US" sz="2800" dirty="0" smtClean="0"/>
              <a:t>, 2018)</a:t>
            </a:r>
          </a:p>
          <a:p>
            <a:r>
              <a:rPr lang="en-US" sz="2800" dirty="0" smtClean="0"/>
              <a:t>~7,000 sentences</a:t>
            </a:r>
          </a:p>
          <a:p>
            <a:r>
              <a:rPr lang="en-US" sz="2800" dirty="0" smtClean="0"/>
              <a:t>20 target </a:t>
            </a:r>
            <a:r>
              <a:rPr lang="en-US" sz="2800" dirty="0"/>
              <a:t>verbs (</a:t>
            </a:r>
            <a:r>
              <a:rPr lang="en-US" sz="2800" dirty="0" err="1" smtClean="0"/>
              <a:t>e.g</a:t>
            </a:r>
            <a:r>
              <a:rPr lang="en-US" sz="2800" dirty="0" smtClean="0"/>
              <a:t> </a:t>
            </a:r>
            <a:r>
              <a:rPr lang="en-US" sz="2800" i="1" dirty="0" err="1" smtClean="0"/>
              <a:t>бомбардировать</a:t>
            </a:r>
            <a:r>
              <a:rPr lang="en-US" sz="2800" dirty="0" smtClean="0"/>
              <a:t> </a:t>
            </a:r>
            <a:r>
              <a:rPr lang="en-US" sz="2800" dirty="0"/>
              <a:t>‘to bombard’, </a:t>
            </a:r>
            <a:r>
              <a:rPr lang="en-US" sz="2800" i="1" dirty="0" err="1"/>
              <a:t>нападать</a:t>
            </a:r>
            <a:r>
              <a:rPr lang="en-US" sz="2800" dirty="0"/>
              <a:t> ‘to attack’, </a:t>
            </a:r>
            <a:r>
              <a:rPr lang="en-US" sz="2800" i="1" dirty="0" err="1" smtClean="0"/>
              <a:t>взрывать</a:t>
            </a:r>
            <a:r>
              <a:rPr lang="en-US" sz="2800" dirty="0" smtClean="0"/>
              <a:t> </a:t>
            </a:r>
            <a:r>
              <a:rPr lang="en-US" sz="2800" dirty="0"/>
              <a:t>‘to explode (</a:t>
            </a:r>
            <a:r>
              <a:rPr lang="en-US" sz="2800" dirty="0" err="1"/>
              <a:t>smth</a:t>
            </a:r>
            <a:r>
              <a:rPr lang="en-US" sz="2800" dirty="0"/>
              <a:t>)’, </a:t>
            </a:r>
            <a:r>
              <a:rPr lang="en-US" sz="2800" i="1" dirty="0" err="1"/>
              <a:t>взвешивать</a:t>
            </a:r>
            <a:r>
              <a:rPr lang="en-US" sz="2800" dirty="0"/>
              <a:t> ‘to weigh’, etc</a:t>
            </a:r>
            <a:r>
              <a:rPr lang="en-US" sz="2800" dirty="0" smtClean="0"/>
              <a:t>.)</a:t>
            </a: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5912126" y="3747052"/>
            <a:ext cx="4247986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endParaRPr lang="en-US" sz="3200" dirty="0" smtClean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29061" y="819055"/>
            <a:ext cx="10124709" cy="90114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Russian corpus of verbal linguistic metaphor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78004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6324445" y="426209"/>
            <a:ext cx="4701224" cy="681934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pPr>
              <a:buClr>
                <a:srgbClr val="000000"/>
              </a:buClr>
              <a:buSzPct val="45000"/>
              <a:tabLst>
                <a:tab pos="0" algn="l"/>
                <a:tab pos="106200" algn="l"/>
                <a:tab pos="555480" algn="l"/>
                <a:tab pos="1004760" algn="l"/>
                <a:tab pos="1454040" algn="l"/>
                <a:tab pos="1903320" algn="l"/>
                <a:tab pos="2352600" algn="l"/>
                <a:tab pos="2801880" algn="l"/>
                <a:tab pos="3251159" algn="l"/>
                <a:tab pos="3700440" algn="l"/>
                <a:tab pos="4149719" algn="l"/>
                <a:tab pos="4598640" algn="l"/>
                <a:tab pos="5047920" algn="l"/>
                <a:tab pos="5497200" algn="l"/>
                <a:tab pos="5946480" algn="l"/>
                <a:tab pos="6395759" algn="l"/>
                <a:tab pos="6845040" algn="l"/>
                <a:tab pos="7294319" algn="l"/>
                <a:tab pos="7743600" algn="l"/>
                <a:tab pos="8192880" algn="l"/>
                <a:tab pos="8642160" algn="l"/>
              </a:tabLst>
            </a:pPr>
            <a:r>
              <a:rPr lang="en-US" sz="2400" b="1" dirty="0"/>
              <a:t>20 polysemous Russian verbs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1139" y="2195185"/>
            <a:ext cx="48533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bombardirovat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bombard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/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smb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doit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milk (e.g. a cow)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gret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heat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 up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napadat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attack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/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smb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ochertit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outline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otrubit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hack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 off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pilit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saw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podkhvatyvat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catch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falling)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prichesat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comb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/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smb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raspylyat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spray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471859" y="1364189"/>
            <a:ext cx="48533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razbavlyat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dilute, to liquefy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syedat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eat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 up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trubit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blow a trumpet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ukolot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prick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/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smb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utyuzhit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iron (clothes)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vykraivat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cut (in sewing: parts of a garment, from fabric)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vzorvat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blow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 up,  to explode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vzvesit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weigh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zazhigat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ignite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zhonglirovat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 - to juggle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smth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Source Sans Pro" panose="020B0604020202020204" charset="0"/>
                <a:ea typeface="Microsoft YaHei" pitchFamily="2"/>
              </a:rPr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81590" y="256193"/>
            <a:ext cx="59807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en-US" sz="2000" b="1" dirty="0" smtClean="0">
                <a:latin typeface="+mj-lt"/>
              </a:rPr>
              <a:t>Inter-annotator agreement:</a:t>
            </a:r>
          </a:p>
          <a:p>
            <a:pPr marL="457200" indent="-457200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+mj-lt"/>
              </a:rPr>
              <a:t>3 annotators</a:t>
            </a:r>
          </a:p>
          <a:p>
            <a:pPr marL="457200" indent="-457200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+mj-lt"/>
              </a:rPr>
              <a:t>20% of sentences from each verb</a:t>
            </a:r>
          </a:p>
          <a:p>
            <a:pPr marL="457200" indent="-457200" hangingPunc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+mj-lt"/>
              </a:rPr>
              <a:t>Fleiss’ kappa: </a:t>
            </a:r>
            <a:r>
              <a:rPr lang="en-US" sz="2000" b="1" dirty="0" smtClean="0">
                <a:solidFill>
                  <a:srgbClr val="0091EA"/>
                </a:solidFill>
                <a:latin typeface="+mj-lt"/>
              </a:rPr>
              <a:t>0.91</a:t>
            </a:r>
            <a:endParaRPr lang="ru-RU" sz="2000" dirty="0">
              <a:solidFill>
                <a:srgbClr val="0091E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060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5912126" y="3747052"/>
            <a:ext cx="4247986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endParaRPr lang="en-US" sz="3200" dirty="0" smtClean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2587487" y="507724"/>
            <a:ext cx="7364896" cy="90114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Two classes: </a:t>
            </a:r>
            <a:r>
              <a:rPr lang="en-US" sz="4000" b="1" dirty="0" smtClean="0"/>
              <a:t>MET </a:t>
            </a:r>
            <a:r>
              <a:rPr lang="en-US" b="1" dirty="0" smtClean="0"/>
              <a:t>and </a:t>
            </a:r>
            <a:r>
              <a:rPr lang="en-US" sz="4000" b="1" dirty="0" smtClean="0"/>
              <a:t>NONMET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79948" y="1512405"/>
            <a:ext cx="11148225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hangingPunct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800" dirty="0" smtClean="0"/>
              <a:t>(</a:t>
            </a:r>
            <a:r>
              <a:rPr lang="en-US" sz="2400" dirty="0" smtClean="0"/>
              <a:t>MET</a:t>
            </a:r>
            <a:r>
              <a:rPr lang="ru-RU" sz="2800" dirty="0" smtClean="0"/>
              <a:t>) </a:t>
            </a:r>
            <a:r>
              <a:rPr lang="ru-RU" sz="2800" i="1" dirty="0"/>
              <a:t>Самолюбие – это наполненный ветром воздушный шар, из которого вырывается буря, лишь &lt; уколешь &gt; его . </a:t>
            </a:r>
            <a:endParaRPr lang="en-US" sz="2800" i="1" dirty="0" smtClean="0"/>
          </a:p>
          <a:p>
            <a:pPr marL="457200" lvl="0" indent="-457200" hangingPunct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2800" dirty="0" smtClean="0"/>
              <a:t>(</a:t>
            </a:r>
            <a:r>
              <a:rPr lang="en-US" sz="2400" dirty="0"/>
              <a:t>MET</a:t>
            </a:r>
            <a:r>
              <a:rPr lang="ru-RU" sz="2800" dirty="0" smtClean="0"/>
              <a:t>)</a:t>
            </a:r>
            <a:r>
              <a:rPr lang="en-US" sz="2800" dirty="0" smtClean="0"/>
              <a:t> </a:t>
            </a:r>
            <a:r>
              <a:rPr lang="en-US" sz="2800" i="1" dirty="0" smtClean="0"/>
              <a:t>[</a:t>
            </a:r>
            <a:r>
              <a:rPr lang="ru-RU" sz="2800" i="1" dirty="0"/>
              <a:t>Она</a:t>
            </a:r>
            <a:r>
              <a:rPr lang="en-US" sz="2800" i="1" dirty="0"/>
              <a:t>] </a:t>
            </a:r>
            <a:r>
              <a:rPr lang="ru-RU" sz="2800" i="1" dirty="0"/>
              <a:t>не собиралась со мной поссориться, просто</a:t>
            </a:r>
            <a:r>
              <a:rPr lang="en-US" sz="2800" i="1" dirty="0"/>
              <a:t> </a:t>
            </a:r>
            <a:r>
              <a:rPr lang="ru-RU" sz="2800" b="1" i="1" dirty="0" smtClean="0"/>
              <a:t>&lt; </a:t>
            </a:r>
            <a:r>
              <a:rPr lang="ru-RU" sz="2800" b="1" i="1" dirty="0"/>
              <a:t>уколола &gt; </a:t>
            </a:r>
            <a:r>
              <a:rPr lang="ru-RU" sz="2800" i="1" dirty="0"/>
              <a:t>меня по привычке. </a:t>
            </a:r>
            <a:endParaRPr lang="en-US" sz="2800" i="1" dirty="0" smtClean="0"/>
          </a:p>
          <a:p>
            <a:pPr hangingPunct="0"/>
            <a:endParaRPr lang="ru-RU" sz="2600" dirty="0"/>
          </a:p>
          <a:p>
            <a:pPr marL="457200" lvl="0" indent="-457200" hangingPunct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ru-RU" sz="2800" dirty="0" smtClean="0"/>
              <a:t>(</a:t>
            </a:r>
            <a:r>
              <a:rPr lang="en-US" sz="2400" dirty="0" smtClean="0"/>
              <a:t>NONMET</a:t>
            </a:r>
            <a:r>
              <a:rPr lang="ru-RU" sz="2800" dirty="0" smtClean="0"/>
              <a:t>) </a:t>
            </a:r>
            <a:r>
              <a:rPr lang="ru-RU" sz="2800" i="1" dirty="0"/>
              <a:t>А маникюрша, помнится, как-то до крови &lt; уколола &gt; мне палец</a:t>
            </a:r>
            <a:r>
              <a:rPr lang="ru-RU" sz="2800" dirty="0"/>
              <a:t>. </a:t>
            </a:r>
            <a:endParaRPr lang="ru-RU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43339" y="1512405"/>
            <a:ext cx="11383618" cy="287158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43339" y="4569982"/>
            <a:ext cx="11383618" cy="1416383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28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6874" y="149040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MET subclasses: conventionalized </a:t>
            </a:r>
            <a:r>
              <a:rPr lang="en-US" sz="4000" b="1" dirty="0" smtClean="0"/>
              <a:t>vs. </a:t>
            </a:r>
            <a:r>
              <a:rPr lang="en-US" sz="4000" b="1" dirty="0" smtClean="0"/>
              <a:t>novel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4433" y="4345389"/>
            <a:ext cx="10757453" cy="1942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Мысль </a:t>
            </a:r>
            <a:r>
              <a:rPr lang="ru-RU" sz="2400" dirty="0"/>
              <a:t>&lt; &lt; уколола &gt; &gt; и ушла, как поезд, но в груди остался непонятный холод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ru-RU" sz="2400" dirty="0"/>
              <a:t> Я же не кинулся на него с бухты-барахты, а тщательно все &lt; &lt; взвесил &gt; &gt; !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854433" y="1423662"/>
            <a:ext cx="10757453" cy="2495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2400" dirty="0" smtClean="0"/>
              <a:t> Зависть подобна моли в одеждах : та &lt; &lt; съедает &gt; &gt; одежду , а эта – сердце , в котором зародится 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ru-RU" sz="2400" dirty="0" smtClean="0"/>
              <a:t>Программа о здоровье под руководством Елены Малышевой в последнее время просто &lt; &lt; взорвала &gt; &gt; российский интернет!</a:t>
            </a:r>
            <a:endParaRPr lang="en-US" sz="2400" dirty="0" smtClean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V="1">
            <a:off x="235525" y="4216610"/>
            <a:ext cx="11707091" cy="41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32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can metaphor 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be </a:t>
            </a:r>
            <a:r>
              <a:rPr lang="en-US" sz="4400" dirty="0"/>
              <a:t>captured computationally?</a:t>
            </a:r>
            <a:endParaRPr lang="ru-RU" sz="44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82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5103" y="501920"/>
            <a:ext cx="11661913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sz="2000" dirty="0"/>
              <a:t>Придя на кладбище, хорошо &lt; &lt; зажечь &gt; &gt; свечу и хотя бы кратко помолиться об умершем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Своей страстью ей удалось &lt; &lt; зажечь &gt; &gt; супруга, канадца Уильяма </a:t>
            </a:r>
            <a:r>
              <a:rPr lang="ru-RU" sz="2000" dirty="0" err="1"/>
              <a:t>Макдугалла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&lt; &lt; Зажигайте &gt; &gt; с нами под музыку в стиле «Диско</a:t>
            </a:r>
            <a:r>
              <a:rPr lang="ru-RU" sz="2000" dirty="0" smtClean="0"/>
              <a:t>»!</a:t>
            </a:r>
            <a:endParaRPr lang="en-US" sz="2000" dirty="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395103" y="4396966"/>
            <a:ext cx="1166191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Нас загримировали, &lt; &lt; причесали &gt; &gt; , как и других участников.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Зачем</a:t>
            </a:r>
            <a:r>
              <a:rPr lang="ru-RU" sz="2000" dirty="0"/>
              <a:t>, разве тебя недостаточно &lt; &lt; причесали &gt; &gt; дубинкой по голове</a:t>
            </a:r>
            <a:r>
              <a:rPr lang="ru-RU" sz="2000" dirty="0" smtClean="0"/>
              <a:t>?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В первый день после взрыва, пока информацию не " &lt; &lt; причесали &gt; &gt; ", картина выглядела по-другому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endParaRPr lang="en-US" dirty="0"/>
          </a:p>
          <a:p>
            <a:endParaRPr lang="ru-RU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235526" y="2123399"/>
            <a:ext cx="11707091" cy="41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95102" y="2388412"/>
            <a:ext cx="1166191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Иногда </a:t>
            </a:r>
            <a:r>
              <a:rPr lang="ru-RU" sz="2000" dirty="0"/>
              <a:t>, для того , чтоб успеть на работу , приходится &lt; &lt; греть &gt; &gt; воду в электрочайнике </a:t>
            </a:r>
            <a:r>
              <a:rPr lang="ru-RU" sz="2000" dirty="0" smtClean="0"/>
              <a:t>!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Но душу &lt; &lt; грела &gt; &gt; мысль , что впереди грядет продолжение 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 Вы &lt; &lt; греете &gt; &gt; и освещаете все вокруг </a:t>
            </a:r>
            <a:r>
              <a:rPr lang="ru-RU" sz="2000" dirty="0" smtClean="0"/>
              <a:t>.</a:t>
            </a:r>
            <a:endParaRPr lang="en-US" sz="2000" dirty="0"/>
          </a:p>
          <a:p>
            <a:endParaRPr lang="ru-RU" sz="2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V="1">
            <a:off x="235525" y="4216610"/>
            <a:ext cx="11707091" cy="41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38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Features for ML metaphor identification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5649" y="2233985"/>
            <a:ext cx="9872871" cy="4038600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l</a:t>
            </a:r>
            <a:r>
              <a:rPr lang="en-US" sz="2800" dirty="0" smtClean="0"/>
              <a:t>exical </a:t>
            </a:r>
          </a:p>
          <a:p>
            <a:pPr lvl="0"/>
            <a:r>
              <a:rPr lang="en-US" sz="2800" dirty="0"/>
              <a:t>m</a:t>
            </a:r>
            <a:r>
              <a:rPr lang="en-US" sz="2800" dirty="0" smtClean="0"/>
              <a:t>orphological </a:t>
            </a:r>
            <a:r>
              <a:rPr lang="en-US" sz="2800" dirty="0"/>
              <a:t>and syntactic </a:t>
            </a:r>
            <a:endParaRPr lang="en-US" sz="2800" dirty="0" smtClean="0"/>
          </a:p>
          <a:p>
            <a:pPr lvl="0"/>
            <a:r>
              <a:rPr lang="en-US" sz="2800" dirty="0"/>
              <a:t>d</a:t>
            </a:r>
            <a:r>
              <a:rPr lang="en-US" sz="2800" dirty="0" smtClean="0"/>
              <a:t>istributional </a:t>
            </a:r>
            <a:r>
              <a:rPr lang="en-US" sz="2800" dirty="0"/>
              <a:t>semantic </a:t>
            </a:r>
            <a:endParaRPr lang="en-US" sz="2800" dirty="0" smtClean="0"/>
          </a:p>
          <a:p>
            <a:r>
              <a:rPr lang="en-US" sz="2800" dirty="0"/>
              <a:t>psycholinguistic: </a:t>
            </a:r>
            <a:r>
              <a:rPr lang="en-US" sz="2800" dirty="0" smtClean="0"/>
              <a:t>e.g. concreteness-abstractness</a:t>
            </a:r>
            <a:endParaRPr lang="en-US" sz="2800" dirty="0"/>
          </a:p>
          <a:p>
            <a:pPr lvl="0"/>
            <a:r>
              <a:rPr lang="en-US" sz="2800" dirty="0" smtClean="0"/>
              <a:t>topic </a:t>
            </a:r>
            <a:r>
              <a:rPr lang="en-US" sz="2800" dirty="0" smtClean="0"/>
              <a:t>modelling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18400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05254" y="785954"/>
            <a:ext cx="6608862" cy="1061576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Experiments by </a:t>
            </a:r>
            <a:r>
              <a:rPr lang="en-US" sz="3200" b="1" dirty="0" err="1" smtClean="0"/>
              <a:t>Badryzlova</a:t>
            </a:r>
            <a:r>
              <a:rPr lang="en-US" sz="3200" b="1" dirty="0" smtClean="0"/>
              <a:t> (2019)</a:t>
            </a:r>
            <a:endParaRPr lang="ru-RU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71925" y="5201454"/>
            <a:ext cx="9875520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Badryzlova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Y. (2019). </a:t>
            </a:r>
            <a:r>
              <a:rPr lang="en-US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Automated metaphor identification in Russian texts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Badryzlova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Y.,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Nikiforova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A., &amp;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Lyashevskaya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O. (2020). Do topics make a metaphor? Topic modeling for metaphor identification and analysis in Russian.</a:t>
            </a:r>
            <a:endParaRPr lang="ru-RU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638550" y="21049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Bottom-up</a:t>
            </a:r>
            <a:r>
              <a:rPr lang="ru-RU" sz="2400" dirty="0"/>
              <a:t> </a:t>
            </a:r>
            <a:r>
              <a:rPr lang="ru-RU" sz="2400" dirty="0" err="1"/>
              <a:t>paradigm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Linguistic</a:t>
            </a:r>
            <a:r>
              <a:rPr lang="ru-RU" sz="2400" dirty="0"/>
              <a:t> </a:t>
            </a:r>
            <a:r>
              <a:rPr lang="ru-RU" sz="2400" dirty="0" err="1"/>
              <a:t>metaphor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Verbs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RusMet</a:t>
            </a:r>
            <a:r>
              <a:rPr lang="ru-RU" sz="2400" dirty="0"/>
              <a:t> </a:t>
            </a:r>
            <a:r>
              <a:rPr lang="ru-RU" sz="2400" dirty="0" err="1"/>
              <a:t>corpus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5529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Feature set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9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en-GB" b="1" dirty="0" smtClean="0"/>
              <a:t>Distributional </a:t>
            </a:r>
            <a:r>
              <a:rPr lang="en-GB" b="1" dirty="0"/>
              <a:t>semantic </a:t>
            </a:r>
            <a:r>
              <a:rPr lang="en-GB" b="1" dirty="0" smtClean="0"/>
              <a:t>feature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550" y="2175588"/>
            <a:ext cx="10584621" cy="17201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dirty="0" smtClean="0"/>
              <a:t>word‑</a:t>
            </a:r>
            <a:r>
              <a:rPr lang="en-US" sz="3200" dirty="0" err="1" smtClean="0"/>
              <a:t>embeddings</a:t>
            </a:r>
            <a:r>
              <a:rPr lang="en-US" sz="3200" dirty="0" smtClean="0"/>
              <a:t>: pre-trained word2vec</a:t>
            </a:r>
            <a:endParaRPr lang="en-US" sz="3200" dirty="0" smtClean="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semantic </a:t>
            </a:r>
            <a:r>
              <a:rPr lang="en-US" sz="3200" dirty="0"/>
              <a:t>similarity </a:t>
            </a:r>
            <a:r>
              <a:rPr lang="en-US" sz="3200" dirty="0"/>
              <a:t>measure: mean pairwise similarity of all content </a:t>
            </a:r>
            <a:r>
              <a:rPr lang="en-US" sz="3200" dirty="0" smtClean="0"/>
              <a:t>words</a:t>
            </a:r>
            <a:endParaRPr lang="en-US" sz="3200" dirty="0" smtClean="0"/>
          </a:p>
          <a:p>
            <a:pPr marL="45720" indent="0">
              <a:buNone/>
            </a:pP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71550" y="55061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Kutuzov</a:t>
            </a:r>
            <a:r>
              <a:rPr lang="ru-RU" dirty="0" smtClean="0"/>
              <a:t> </a:t>
            </a:r>
            <a:r>
              <a:rPr lang="ru-RU" dirty="0"/>
              <a:t>&amp; </a:t>
            </a:r>
            <a:r>
              <a:rPr lang="ru-RU" dirty="0" err="1" smtClean="0"/>
              <a:t>Kuzmenko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u-RU" dirty="0" smtClean="0"/>
              <a:t>2016)</a:t>
            </a:r>
            <a:r>
              <a:rPr lang="en-US" dirty="0" smtClean="0"/>
              <a:t>, </a:t>
            </a:r>
            <a:r>
              <a:rPr lang="en-US" dirty="0"/>
              <a:t>R</a:t>
            </a:r>
            <a:r>
              <a:rPr lang="ru-RU" dirty="0" err="1"/>
              <a:t>usVectōrēs</a:t>
            </a:r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Newman</a:t>
            </a:r>
            <a:r>
              <a:rPr lang="ru-RU" dirty="0" smtClean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 smtClean="0"/>
              <a:t>al</a:t>
            </a:r>
            <a:r>
              <a:rPr lang="ru-RU" dirty="0" smtClean="0"/>
              <a:t>.</a:t>
            </a:r>
            <a:r>
              <a:rPr lang="en-US" dirty="0" smtClean="0"/>
              <a:t> (</a:t>
            </a:r>
            <a:r>
              <a:rPr lang="ru-RU" dirty="0" smtClean="0"/>
              <a:t>2010)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402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276225"/>
            <a:ext cx="9875520" cy="1356360"/>
          </a:xfrm>
        </p:spPr>
        <p:txBody>
          <a:bodyPr/>
          <a:lstStyle/>
          <a:p>
            <a:r>
              <a:rPr lang="en-GB" dirty="0" smtClean="0"/>
              <a:t>2. </a:t>
            </a:r>
            <a:r>
              <a:rPr lang="en-GB" b="1" dirty="0" smtClean="0"/>
              <a:t>Lexical feature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778000"/>
                <a:ext cx="10730948" cy="4795078"/>
              </a:xfrm>
            </p:spPr>
            <p:txBody>
              <a:bodyPr>
                <a:normAutofit/>
              </a:bodyPr>
              <a:lstStyle/>
              <a:p>
                <a:pPr marL="45720" indent="0">
                  <a:buNone/>
                </a:pPr>
                <a:r>
                  <a:rPr lang="en-US" sz="2600" dirty="0" smtClean="0"/>
                  <a:t>ΔP: </a:t>
                </a:r>
                <a:r>
                  <a:rPr lang="ru-RU" sz="2600" dirty="0" err="1" smtClean="0"/>
                  <a:t>lexical</a:t>
                </a:r>
                <a:r>
                  <a:rPr lang="ru-RU" sz="2600" dirty="0" smtClean="0"/>
                  <a:t> </a:t>
                </a:r>
                <a:r>
                  <a:rPr lang="ru-RU" sz="2600" dirty="0" err="1" smtClean="0"/>
                  <a:t>metaphor</a:t>
                </a:r>
                <a:r>
                  <a:rPr lang="ru-RU" sz="2600" dirty="0" smtClean="0"/>
                  <a:t> </a:t>
                </a:r>
                <a:r>
                  <a:rPr lang="ru-RU" sz="2600" dirty="0" err="1" smtClean="0"/>
                  <a:t>association</a:t>
                </a:r>
                <a:r>
                  <a:rPr lang="en-US" sz="2600" dirty="0" smtClean="0"/>
                  <a:t>(Ellis</a:t>
                </a:r>
                <a:r>
                  <a:rPr lang="en-US" sz="2600" dirty="0" smtClean="0"/>
                  <a:t>, 2006):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800" dirty="0" smtClean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i="1" dirty="0" smtClean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i="1" dirty="0" smtClean="0"/>
                  <a:t>a, </a:t>
                </a:r>
                <a:r>
                  <a:rPr lang="en-US" sz="2400" i="1" dirty="0"/>
                  <a:t>b</a:t>
                </a:r>
                <a:r>
                  <a:rPr lang="en-US" sz="2400" dirty="0" smtClean="0"/>
                  <a:t> – number </a:t>
                </a:r>
                <a:r>
                  <a:rPr lang="en-US" sz="2400" dirty="0"/>
                  <a:t>of occurrences of a </a:t>
                </a:r>
                <a:r>
                  <a:rPr lang="en-US" sz="2400" dirty="0" smtClean="0"/>
                  <a:t>(lexical) unit in </a:t>
                </a:r>
                <a:r>
                  <a:rPr lang="en-US" sz="2400" dirty="0"/>
                  <a:t>the </a:t>
                </a:r>
                <a:r>
                  <a:rPr lang="en-US" sz="2400" dirty="0" smtClean="0"/>
                  <a:t>MET, NONMET subcorpora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– size </a:t>
                </a:r>
                <a:r>
                  <a:rPr lang="en-US" sz="2400" dirty="0"/>
                  <a:t>of the </a:t>
                </a:r>
                <a:r>
                  <a:rPr lang="en-US" sz="2400" dirty="0" smtClean="0"/>
                  <a:t>MET subcorpus </a:t>
                </a:r>
                <a:r>
                  <a:rPr lang="en-US" sz="2400" dirty="0"/>
                  <a:t>minus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400" i="1" dirty="0" smtClean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– size of </a:t>
                </a:r>
                <a:r>
                  <a:rPr lang="en-US" sz="2400" dirty="0"/>
                  <a:t>the </a:t>
                </a:r>
                <a:r>
                  <a:rPr lang="en-US" sz="2400" dirty="0" smtClean="0"/>
                  <a:t>NONMET </a:t>
                </a:r>
                <a:r>
                  <a:rPr lang="en-US" sz="2400" dirty="0"/>
                  <a:t>subcorpus minus b</a:t>
                </a:r>
                <a:endParaRPr lang="ru-RU" sz="24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778000"/>
                <a:ext cx="10730948" cy="4795078"/>
              </a:xfrm>
              <a:blipFill>
                <a:blip r:embed="rId2"/>
                <a:stretch>
                  <a:fillRect l="-568" t="-2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Скругленный прямоугольник 4"/>
          <p:cNvSpPr/>
          <p:nvPr/>
        </p:nvSpPr>
        <p:spPr>
          <a:xfrm>
            <a:off x="5026715" y="2464077"/>
            <a:ext cx="2963517" cy="12036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46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0478" y="609600"/>
            <a:ext cx="10333383" cy="1356360"/>
          </a:xfrm>
        </p:spPr>
        <p:txBody>
          <a:bodyPr/>
          <a:lstStyle/>
          <a:p>
            <a:r>
              <a:rPr lang="en-GB" dirty="0" smtClean="0"/>
              <a:t>3. </a:t>
            </a:r>
            <a:r>
              <a:rPr lang="en-GB" b="1" dirty="0" smtClean="0"/>
              <a:t>Morphosyntactic feature</a:t>
            </a:r>
            <a:endParaRPr lang="ru-RU" b="1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1171575" y="2511009"/>
            <a:ext cx="8946358" cy="155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3200" dirty="0" smtClean="0"/>
              <a:t>ΔP: morphosyntactic </a:t>
            </a:r>
            <a:r>
              <a:rPr lang="en-US" sz="3200" dirty="0" smtClean="0"/>
              <a:t>metaphor </a:t>
            </a:r>
            <a:r>
              <a:rPr lang="en-US" sz="3200" dirty="0"/>
              <a:t>association </a:t>
            </a:r>
          </a:p>
          <a:p>
            <a:pPr marL="45720" indent="0">
              <a:buNone/>
            </a:pPr>
            <a:r>
              <a:rPr lang="en-US" sz="3200" dirty="0" smtClean="0"/>
              <a:t>on </a:t>
            </a:r>
            <a:r>
              <a:rPr lang="en-US" sz="3200" dirty="0" smtClean="0"/>
              <a:t>morphosyntactic </a:t>
            </a:r>
            <a:r>
              <a:rPr lang="en-US" sz="3200" dirty="0" smtClean="0"/>
              <a:t>unigrams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0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61053" y="5981804"/>
            <a:ext cx="4316895" cy="458753"/>
          </a:xfrm>
        </p:spPr>
        <p:txBody>
          <a:bodyPr>
            <a:noAutofit/>
          </a:bodyPr>
          <a:lstStyle/>
          <a:p>
            <a:pPr marL="4572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 err="1" smtClean="0"/>
              <a:t>KartaSlov</a:t>
            </a:r>
            <a:r>
              <a:rPr lang="en-US" sz="1800" dirty="0" smtClean="0"/>
              <a:t> </a:t>
            </a:r>
            <a:r>
              <a:rPr lang="en-US" sz="1800" dirty="0"/>
              <a:t>(</a:t>
            </a:r>
            <a:r>
              <a:rPr lang="en-US" sz="1800" dirty="0" err="1"/>
              <a:t>Kulagin</a:t>
            </a:r>
            <a:r>
              <a:rPr lang="en-US" sz="1800" dirty="0"/>
              <a:t>, </a:t>
            </a:r>
            <a:r>
              <a:rPr lang="en-US" sz="1800" dirty="0" smtClean="0"/>
              <a:t>2017, 2019)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4. </a:t>
            </a:r>
            <a:r>
              <a:rPr lang="ru-RU" b="1" dirty="0" err="1" smtClean="0"/>
              <a:t>Concreteness</a:t>
            </a:r>
            <a:r>
              <a:rPr lang="en-US" b="1" dirty="0"/>
              <a:t>-</a:t>
            </a:r>
            <a:r>
              <a:rPr lang="ru-RU" b="1" dirty="0" err="1" smtClean="0"/>
              <a:t>abstractness</a:t>
            </a:r>
            <a:r>
              <a:rPr lang="ru-RU" b="1" dirty="0" smtClean="0"/>
              <a:t> </a:t>
            </a:r>
            <a:r>
              <a:rPr lang="ru-RU" b="1" dirty="0" err="1" smtClean="0"/>
              <a:t>feature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19210"/>
              </p:ext>
            </p:extLst>
          </p:nvPr>
        </p:nvGraphicFramePr>
        <p:xfrm>
          <a:off x="2514596" y="1752600"/>
          <a:ext cx="6734178" cy="3884295"/>
        </p:xfrm>
        <a:graphic>
          <a:graphicData uri="http://schemas.openxmlformats.org/drawingml/2006/table">
            <a:tbl>
              <a:tblPr firstRow="1" firstCol="1" bandRow="1"/>
              <a:tblGrid>
                <a:gridCol w="3367089">
                  <a:extLst>
                    <a:ext uri="{9D8B030D-6E8A-4147-A177-3AD203B41FA5}">
                      <a16:colId xmlns:a16="http://schemas.microsoft.com/office/drawing/2014/main" val="3237796994"/>
                    </a:ext>
                  </a:extLst>
                </a:gridCol>
                <a:gridCol w="3367089">
                  <a:extLst>
                    <a:ext uri="{9D8B030D-6E8A-4147-A177-3AD203B41FA5}">
                      <a16:colId xmlns:a16="http://schemas.microsoft.com/office/drawing/2014/main" val="23520258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Abstract paradigm </a:t>
                      </a:r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excerpt)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Concrete paradigm </a:t>
                      </a:r>
                      <a:endParaRPr lang="en-US" sz="24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r>
                        <a:rPr lang="en-US" sz="2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excerpt)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6208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домашность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арфа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98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мечтательность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теплоход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0945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автоматизм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зеркальце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1101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распутство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пельмени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553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чрезвычайность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электрогитара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426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партийность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гранатомет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935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активация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линейка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1538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буддизм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фуганок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697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правильность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узелок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5695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минимализм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полупальто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36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33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189495" y="103192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4. </a:t>
            </a:r>
            <a:r>
              <a:rPr lang="ru-RU" b="1" dirty="0" err="1" smtClean="0"/>
              <a:t>Concreteness</a:t>
            </a:r>
            <a:r>
              <a:rPr lang="en-US" b="1" dirty="0"/>
              <a:t>-</a:t>
            </a:r>
            <a:r>
              <a:rPr lang="ru-RU" b="1" dirty="0" err="1" smtClean="0"/>
              <a:t>abstractness</a:t>
            </a:r>
            <a:r>
              <a:rPr lang="ru-RU" b="1" dirty="0" smtClean="0"/>
              <a:t> </a:t>
            </a:r>
            <a:r>
              <a:rPr lang="ru-RU" b="1" dirty="0" err="1" smtClean="0"/>
              <a:t>feature</a:t>
            </a:r>
            <a:endParaRPr lang="ru-RU" b="1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1130350" y="1391215"/>
            <a:ext cx="4309146" cy="4217367"/>
            <a:chOff x="647364" y="1400452"/>
            <a:chExt cx="4309146" cy="4217367"/>
          </a:xfrm>
        </p:grpSpPr>
        <p:grpSp>
          <p:nvGrpSpPr>
            <p:cNvPr id="25" name="Группа 24"/>
            <p:cNvGrpSpPr/>
            <p:nvPr/>
          </p:nvGrpSpPr>
          <p:grpSpPr>
            <a:xfrm>
              <a:off x="647364" y="1400452"/>
              <a:ext cx="4309146" cy="2585323"/>
              <a:chOff x="540327" y="2228349"/>
              <a:chExt cx="4309146" cy="2585323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540327" y="3104727"/>
                <a:ext cx="1205346" cy="1107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400" b="1" dirty="0" smtClean="0"/>
                  <a:t>word from corpus</a:t>
                </a:r>
                <a:endParaRPr lang="ru-RU" sz="2400" b="1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031474" y="2228349"/>
                <a:ext cx="1817999" cy="258532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400" b="1" dirty="0" smtClean="0"/>
                  <a:t>CONCRETE PARADIGM</a:t>
                </a:r>
              </a:p>
              <a:p>
                <a:pPr algn="ctr"/>
                <a:r>
                  <a:rPr lang="en-US" sz="2400" b="1" dirty="0" smtClean="0"/>
                  <a:t>word 1</a:t>
                </a:r>
              </a:p>
              <a:p>
                <a:pPr algn="ctr"/>
                <a:r>
                  <a:rPr lang="en-US" sz="2400" b="1" dirty="0" smtClean="0"/>
                  <a:t>word 2</a:t>
                </a:r>
              </a:p>
              <a:p>
                <a:pPr algn="ctr"/>
                <a:r>
                  <a:rPr lang="en-US" sz="2400" b="1" dirty="0" smtClean="0"/>
                  <a:t>word 3</a:t>
                </a:r>
              </a:p>
              <a:p>
                <a:pPr algn="ctr"/>
                <a:r>
                  <a:rPr lang="en-US" sz="2400" b="1" dirty="0" smtClean="0"/>
                  <a:t>…</a:t>
                </a:r>
              </a:p>
              <a:p>
                <a:pPr algn="ctr"/>
                <a:r>
                  <a:rPr lang="en-US" sz="2400" b="1" dirty="0" smtClean="0"/>
                  <a:t>word </a:t>
                </a:r>
                <a:r>
                  <a:rPr lang="en-US" sz="2400" b="1" i="1" dirty="0" smtClean="0"/>
                  <a:t>n</a:t>
                </a:r>
              </a:p>
            </p:txBody>
          </p:sp>
          <p:cxnSp>
            <p:nvCxnSpPr>
              <p:cNvPr id="11" name="Прямая соединительная линия 10"/>
              <p:cNvCxnSpPr>
                <a:stCxn id="2" idx="3"/>
              </p:cNvCxnSpPr>
              <p:nvPr/>
            </p:nvCxnSpPr>
            <p:spPr>
              <a:xfrm flipV="1">
                <a:off x="1745673" y="3254644"/>
                <a:ext cx="1285801" cy="40408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1785900" y="2636986"/>
                <a:ext cx="1205346" cy="61555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000" b="1" dirty="0" smtClean="0"/>
                  <a:t>semantic similarity</a:t>
                </a:r>
                <a:endParaRPr lang="ru-RU" sz="2000" b="1" dirty="0"/>
              </a:p>
            </p:txBody>
          </p:sp>
          <p:cxnSp>
            <p:nvCxnSpPr>
              <p:cNvPr id="15" name="Прямая соединительная линия 14"/>
              <p:cNvCxnSpPr>
                <a:stCxn id="2" idx="3"/>
              </p:cNvCxnSpPr>
              <p:nvPr/>
            </p:nvCxnSpPr>
            <p:spPr>
              <a:xfrm>
                <a:off x="1745673" y="3658725"/>
                <a:ext cx="1285801" cy="20814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/>
              <p:cNvCxnSpPr>
                <a:stCxn id="2" idx="3"/>
                <a:endCxn id="8" idx="1"/>
              </p:cNvCxnSpPr>
              <p:nvPr/>
            </p:nvCxnSpPr>
            <p:spPr>
              <a:xfrm flipV="1">
                <a:off x="1745673" y="3521011"/>
                <a:ext cx="1285801" cy="13771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/>
              <p:cNvCxnSpPr>
                <a:stCxn id="2" idx="3"/>
              </p:cNvCxnSpPr>
              <p:nvPr/>
            </p:nvCxnSpPr>
            <p:spPr>
              <a:xfrm>
                <a:off x="1745673" y="3658725"/>
                <a:ext cx="1285801" cy="882498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Прямая со стрелкой 27"/>
            <p:cNvCxnSpPr/>
            <p:nvPr/>
          </p:nvCxnSpPr>
          <p:spPr>
            <a:xfrm>
              <a:off x="4047510" y="3985775"/>
              <a:ext cx="0" cy="524048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354608" y="4509823"/>
              <a:ext cx="1446922" cy="1107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 smtClean="0"/>
                <a:t>mean of</a:t>
              </a:r>
            </a:p>
            <a:p>
              <a:pPr algn="ctr"/>
              <a:r>
                <a:rPr lang="en-US" sz="2400" b="1" dirty="0" smtClean="0"/>
                <a:t>10 nearest neighbors</a:t>
              </a:r>
              <a:endParaRPr lang="ru-RU" sz="2400" b="1" dirty="0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6740583" y="1418873"/>
            <a:ext cx="4324432" cy="2585323"/>
            <a:chOff x="6127255" y="1430002"/>
            <a:chExt cx="4324432" cy="2585323"/>
          </a:xfrm>
        </p:grpSpPr>
        <p:sp>
          <p:nvSpPr>
            <p:cNvPr id="55" name="TextBox 54"/>
            <p:cNvSpPr txBox="1"/>
            <p:nvPr/>
          </p:nvSpPr>
          <p:spPr>
            <a:xfrm>
              <a:off x="6127255" y="1430002"/>
              <a:ext cx="1817999" cy="258532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 smtClean="0"/>
                <a:t>ABSTRACT PARADIGM</a:t>
              </a:r>
            </a:p>
            <a:p>
              <a:pPr algn="ctr"/>
              <a:r>
                <a:rPr lang="en-US" sz="2400" b="1" dirty="0" smtClean="0"/>
                <a:t>word 1</a:t>
              </a:r>
            </a:p>
            <a:p>
              <a:pPr algn="ctr"/>
              <a:r>
                <a:rPr lang="en-US" sz="2400" b="1" dirty="0" smtClean="0"/>
                <a:t>word 2</a:t>
              </a:r>
            </a:p>
            <a:p>
              <a:pPr algn="ctr"/>
              <a:r>
                <a:rPr lang="en-US" sz="2400" b="1" dirty="0" smtClean="0"/>
                <a:t>word 3</a:t>
              </a:r>
            </a:p>
            <a:p>
              <a:pPr algn="ctr"/>
              <a:r>
                <a:rPr lang="en-US" sz="2400" b="1" dirty="0" smtClean="0"/>
                <a:t>…</a:t>
              </a:r>
            </a:p>
            <a:p>
              <a:pPr algn="ctr"/>
              <a:r>
                <a:rPr lang="en-US" sz="2400" b="1" dirty="0" smtClean="0"/>
                <a:t>word </a:t>
              </a:r>
              <a:r>
                <a:rPr lang="en-US" sz="2400" b="1" i="1" dirty="0" smtClean="0"/>
                <a:t>n</a:t>
              </a:r>
            </a:p>
          </p:txBody>
        </p:sp>
        <p:grpSp>
          <p:nvGrpSpPr>
            <p:cNvPr id="74" name="Группа 73"/>
            <p:cNvGrpSpPr/>
            <p:nvPr/>
          </p:nvGrpSpPr>
          <p:grpSpPr>
            <a:xfrm>
              <a:off x="7945254" y="1820545"/>
              <a:ext cx="2506433" cy="1932771"/>
              <a:chOff x="7945254" y="1820545"/>
              <a:chExt cx="2506433" cy="1932771"/>
            </a:xfrm>
          </p:grpSpPr>
          <p:sp>
            <p:nvSpPr>
              <p:cNvPr id="56" name="TextBox 55"/>
              <p:cNvSpPr txBox="1"/>
              <p:nvPr/>
            </p:nvSpPr>
            <p:spPr>
              <a:xfrm>
                <a:off x="9246341" y="2207973"/>
                <a:ext cx="1205346" cy="1107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400" b="1" dirty="0" smtClean="0"/>
                  <a:t>word from corpus</a:t>
                </a:r>
                <a:endParaRPr lang="ru-RU" sz="2400" b="1" dirty="0"/>
              </a:p>
            </p:txBody>
          </p:sp>
          <p:cxnSp>
            <p:nvCxnSpPr>
              <p:cNvPr id="57" name="Прямая соединительная линия 56"/>
              <p:cNvCxnSpPr/>
              <p:nvPr/>
            </p:nvCxnSpPr>
            <p:spPr>
              <a:xfrm>
                <a:off x="7945254" y="2387727"/>
                <a:ext cx="1333119" cy="38615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Прямая соединительная линия 60"/>
              <p:cNvCxnSpPr>
                <a:stCxn id="55" idx="3"/>
                <a:endCxn id="56" idx="1"/>
              </p:cNvCxnSpPr>
              <p:nvPr/>
            </p:nvCxnSpPr>
            <p:spPr>
              <a:xfrm>
                <a:off x="7945254" y="2722664"/>
                <a:ext cx="1301087" cy="3930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Прямая соединительная линия 64"/>
              <p:cNvCxnSpPr>
                <a:endCxn id="56" idx="1"/>
              </p:cNvCxnSpPr>
              <p:nvPr/>
            </p:nvCxnSpPr>
            <p:spPr>
              <a:xfrm flipV="1">
                <a:off x="7945254" y="2761971"/>
                <a:ext cx="1301087" cy="325713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Прямая соединительная линия 68"/>
              <p:cNvCxnSpPr>
                <a:endCxn id="56" idx="1"/>
              </p:cNvCxnSpPr>
              <p:nvPr/>
            </p:nvCxnSpPr>
            <p:spPr>
              <a:xfrm flipV="1">
                <a:off x="7945254" y="2761971"/>
                <a:ext cx="1301087" cy="99134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Box 72"/>
              <p:cNvSpPr txBox="1"/>
              <p:nvPr/>
            </p:nvSpPr>
            <p:spPr>
              <a:xfrm>
                <a:off x="8040995" y="1820545"/>
                <a:ext cx="1205346" cy="61555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000" b="1" dirty="0" smtClean="0"/>
                  <a:t>semantic similarity</a:t>
                </a:r>
                <a:endParaRPr lang="ru-RU" sz="2000" b="1" dirty="0"/>
              </a:p>
            </p:txBody>
          </p:sp>
        </p:grpSp>
      </p:grpSp>
      <p:cxnSp>
        <p:nvCxnSpPr>
          <p:cNvPr id="76" name="Прямая со стрелкой 75"/>
          <p:cNvCxnSpPr/>
          <p:nvPr/>
        </p:nvCxnSpPr>
        <p:spPr>
          <a:xfrm>
            <a:off x="7658571" y="4010440"/>
            <a:ext cx="0" cy="5240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965669" y="4534488"/>
            <a:ext cx="1446922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 smtClean="0"/>
              <a:t>mean of</a:t>
            </a:r>
          </a:p>
          <a:p>
            <a:pPr algn="ctr"/>
            <a:r>
              <a:rPr lang="en-US" sz="2400" b="1" dirty="0" smtClean="0"/>
              <a:t>10 nearest neighbors</a:t>
            </a:r>
            <a:endParaRPr lang="ru-RU" sz="2400" b="1" dirty="0"/>
          </a:p>
        </p:txBody>
      </p:sp>
      <p:cxnSp>
        <p:nvCxnSpPr>
          <p:cNvPr id="92" name="Прямая соединительная линия 91"/>
          <p:cNvCxnSpPr>
            <a:stCxn id="30" idx="2"/>
          </p:cNvCxnSpPr>
          <p:nvPr/>
        </p:nvCxnSpPr>
        <p:spPr>
          <a:xfrm>
            <a:off x="4561055" y="5608582"/>
            <a:ext cx="0" cy="420259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/>
          <p:nvPr/>
        </p:nvCxnSpPr>
        <p:spPr>
          <a:xfrm>
            <a:off x="7658571" y="5642484"/>
            <a:ext cx="0" cy="420259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 flipV="1">
            <a:off x="4530496" y="6028841"/>
            <a:ext cx="315863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621497" y="5889841"/>
            <a:ext cx="5114440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 smtClean="0"/>
              <a:t>Mean = concreteness-abstractness index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05508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b="1" dirty="0" smtClean="0"/>
              <a:t>Topics</a:t>
            </a:r>
            <a:r>
              <a:rPr lang="ru-RU" b="1" dirty="0" smtClean="0"/>
              <a:t> feature</a:t>
            </a:r>
            <a:r>
              <a:rPr lang="ru-RU" baseline="30000" dirty="0" smtClean="0"/>
              <a:t>1</a:t>
            </a:r>
            <a:endParaRPr lang="ru-RU" b="1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145649" y="2415209"/>
            <a:ext cx="9872871" cy="128214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dirty="0" smtClean="0"/>
              <a:t>Topic </a:t>
            </a:r>
            <a:r>
              <a:rPr lang="en-US" sz="2800" dirty="0"/>
              <a:t>models: LDA and </a:t>
            </a:r>
            <a:r>
              <a:rPr lang="en-US" sz="2800" dirty="0" smtClean="0"/>
              <a:t>ARTM</a:t>
            </a:r>
            <a:r>
              <a:rPr lang="ru-RU" sz="2800" baseline="30000" dirty="0"/>
              <a:t>2</a:t>
            </a:r>
            <a:r>
              <a:rPr lang="en-US" sz="2800" dirty="0" smtClean="0"/>
              <a:t> (dense and sparse)</a:t>
            </a:r>
          </a:p>
          <a:p>
            <a:pPr marL="45720" indent="0">
              <a:buNone/>
            </a:pPr>
            <a:r>
              <a:rPr lang="en-US" sz="2800" dirty="0" smtClean="0"/>
              <a:t>Trained on Russian Wikipedia</a:t>
            </a:r>
            <a:endParaRPr lang="ru-RU" sz="2800" dirty="0"/>
          </a:p>
        </p:txBody>
      </p:sp>
      <p:sp>
        <p:nvSpPr>
          <p:cNvPr id="6" name="Объект 1"/>
          <p:cNvSpPr txBox="1">
            <a:spLocks/>
          </p:cNvSpPr>
          <p:nvPr/>
        </p:nvSpPr>
        <p:spPr>
          <a:xfrm>
            <a:off x="1143000" y="5287616"/>
            <a:ext cx="4767469" cy="675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ru-RU" baseline="30000" dirty="0" smtClean="0"/>
              <a:t>1 </a:t>
            </a:r>
            <a:r>
              <a:rPr lang="en-US" dirty="0" err="1" smtClean="0"/>
              <a:t>Nikiforova</a:t>
            </a:r>
            <a:r>
              <a:rPr lang="en-US" dirty="0" smtClean="0"/>
              <a:t>, 2020</a:t>
            </a:r>
          </a:p>
          <a:p>
            <a:pPr marL="45720" indent="0">
              <a:buNone/>
            </a:pPr>
            <a:r>
              <a:rPr lang="en-US" baseline="30000" dirty="0"/>
              <a:t>2</a:t>
            </a:r>
            <a:r>
              <a:rPr lang="en-US" dirty="0" smtClean="0"/>
              <a:t>Vorontsov, </a:t>
            </a:r>
            <a:r>
              <a:rPr lang="en-US" dirty="0" err="1" smtClean="0"/>
              <a:t>Potapenko</a:t>
            </a:r>
            <a:r>
              <a:rPr lang="en-US" dirty="0" smtClean="0"/>
              <a:t>, 2014</a:t>
            </a: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42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Results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04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 txBox="1">
            <a:spLocks/>
          </p:cNvSpPr>
          <p:nvPr/>
        </p:nvSpPr>
        <p:spPr>
          <a:xfrm>
            <a:off x="183875" y="6319571"/>
            <a:ext cx="5594074" cy="293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 smtClean="0"/>
              <a:t>*Logistic regression; TM – LDA with 80 features 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78514"/>
              </p:ext>
            </p:extLst>
          </p:nvPr>
        </p:nvGraphicFramePr>
        <p:xfrm>
          <a:off x="2597426" y="630152"/>
          <a:ext cx="6056243" cy="5393806"/>
        </p:xfrm>
        <a:graphic>
          <a:graphicData uri="http://schemas.openxmlformats.org/drawingml/2006/table">
            <a:tbl>
              <a:tblPr firstRow="1" firstCol="1" bandRow="1"/>
              <a:tblGrid>
                <a:gridCol w="3861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feature / classifier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</a:t>
                      </a:r>
                      <a:r>
                        <a:rPr lang="ru-RU" sz="2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0.817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0.731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CONC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0.716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 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0.703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MORPH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0.675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LEX+SEM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0.848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LEX+CONC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0.833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LEX+TM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0.829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</a:t>
                      </a:r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MORPH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0.820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</a:t>
                      </a:r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MORPH</a:t>
                      </a: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+CONC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0.835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</a:t>
                      </a:r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MORPH</a:t>
                      </a: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+SEM+CONC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0.854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LEX+MORPH+SEM+CONC+TM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000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0.854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597427" y="1020417"/>
            <a:ext cx="6056242" cy="212034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597427" y="5221356"/>
            <a:ext cx="6056242" cy="80260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8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Analysis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2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834" y="2077390"/>
            <a:ext cx="11379200" cy="1356360"/>
          </a:xfrm>
        </p:spPr>
        <p:txBody>
          <a:bodyPr/>
          <a:lstStyle/>
          <a:p>
            <a:pPr algn="ctr"/>
            <a:r>
              <a:rPr lang="en-US" dirty="0" smtClean="0"/>
              <a:t>Possible lexical predictors of metaphoricity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3298" y="3483129"/>
            <a:ext cx="9872871" cy="573928"/>
          </a:xfrm>
        </p:spPr>
        <p:txBody>
          <a:bodyPr>
            <a:normAutofit fontScale="92500" lnSpcReduction="10000"/>
          </a:bodyPr>
          <a:lstStyle/>
          <a:p>
            <a:pPr marL="45720" indent="0" algn="ctr">
              <a:buNone/>
            </a:pPr>
            <a:r>
              <a:rPr lang="en-US" sz="4000" dirty="0" smtClean="0"/>
              <a:t>~230 words</a:t>
            </a:r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5" name="Стрелка вниз 4"/>
          <p:cNvSpPr/>
          <p:nvPr/>
        </p:nvSpPr>
        <p:spPr>
          <a:xfrm>
            <a:off x="5800034" y="1558111"/>
            <a:ext cx="279400" cy="4699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389834" y="3642030"/>
            <a:ext cx="1156970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 algn="ctr"/>
            <a:r>
              <a:rPr lang="en-US" sz="3600" dirty="0" smtClean="0"/>
              <a:t>(Random Forest feature importance)</a:t>
            </a:r>
            <a:endParaRPr lang="en-US" sz="3600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389834" y="512750"/>
            <a:ext cx="1137920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Robustness of lexical feature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369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111" y="780564"/>
            <a:ext cx="3698748" cy="190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525" y="2772727"/>
            <a:ext cx="3657000" cy="1908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727" y="4689508"/>
            <a:ext cx="3745132" cy="190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488" y="778055"/>
            <a:ext cx="3779903" cy="190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487" y="2781841"/>
            <a:ext cx="3791616" cy="190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100" y="4712102"/>
            <a:ext cx="3787003" cy="1908000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241300" y="2713834"/>
            <a:ext cx="11696700" cy="2802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41300" y="4712089"/>
            <a:ext cx="11696700" cy="2802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 rot="16200000">
            <a:off x="507992" y="1180929"/>
            <a:ext cx="1314227" cy="863600"/>
          </a:xfrm>
        </p:spPr>
        <p:txBody>
          <a:bodyPr>
            <a:normAutofit/>
          </a:bodyPr>
          <a:lstStyle/>
          <a:p>
            <a:pPr marL="45720">
              <a:lnSpc>
                <a:spcPct val="80000"/>
              </a:lnSpc>
              <a:spcBef>
                <a:spcPts val="100"/>
              </a:spcBef>
            </a:pPr>
            <a:r>
              <a:rPr lang="en-US" sz="2800" b="1" dirty="0" smtClean="0"/>
              <a:t>Nouns</a:t>
            </a:r>
            <a:endParaRPr lang="en-US" sz="2800" b="1" dirty="0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 rot="16200000">
            <a:off x="578177" y="3340976"/>
            <a:ext cx="1173856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80000"/>
              </a:lnSpc>
              <a:spcBef>
                <a:spcPts val="100"/>
              </a:spcBef>
            </a:pPr>
            <a:r>
              <a:rPr lang="en-US" sz="2800" b="1" dirty="0" smtClean="0"/>
              <a:t>Verbs</a:t>
            </a:r>
            <a:endParaRPr lang="en-US" sz="2800" b="1" dirty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 rot="16200000">
            <a:off x="671709" y="5404740"/>
            <a:ext cx="986791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80000"/>
              </a:lnSpc>
              <a:spcBef>
                <a:spcPts val="100"/>
              </a:spcBef>
            </a:pPr>
            <a:r>
              <a:rPr lang="en-US" sz="3200" b="1" dirty="0" err="1" smtClean="0"/>
              <a:t>Adj</a:t>
            </a:r>
            <a:endParaRPr lang="en-US" sz="3200" b="1" dirty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3309905" y="267315"/>
            <a:ext cx="1050060" cy="58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80000"/>
              </a:lnSpc>
              <a:spcBef>
                <a:spcPts val="100"/>
              </a:spcBef>
            </a:pPr>
            <a:r>
              <a:rPr lang="en-US" sz="2800" b="1" dirty="0" smtClean="0"/>
              <a:t>MET</a:t>
            </a:r>
            <a:endParaRPr lang="en-US" sz="2800" b="1" dirty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7842284" y="288695"/>
            <a:ext cx="1884812" cy="58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">
              <a:lnSpc>
                <a:spcPct val="80000"/>
              </a:lnSpc>
              <a:spcBef>
                <a:spcPts val="100"/>
              </a:spcBef>
            </a:pPr>
            <a:r>
              <a:rPr lang="en-US" sz="2800" b="1" dirty="0" smtClean="0"/>
              <a:t>NONMET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3599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9482" y="1154570"/>
            <a:ext cx="10651436" cy="1055803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CONCEPTUAL METAPHOR THEORY</a:t>
            </a:r>
            <a:endParaRPr lang="en-US" sz="2800" b="1" baseline="300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434396" y="5956063"/>
            <a:ext cx="3003278" cy="389320"/>
          </a:xfrm>
          <a:prstGeom prst="rect">
            <a:avLst/>
          </a:prstGeom>
          <a:ln w="28575">
            <a:solidFill>
              <a:schemeClr val="bg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en-US" sz="1600" dirty="0" smtClean="0"/>
              <a:t> </a:t>
            </a:r>
            <a:r>
              <a:rPr lang="en-US" sz="1600" dirty="0" err="1" smtClean="0"/>
              <a:t>Lakoff</a:t>
            </a:r>
            <a:r>
              <a:rPr lang="en-US" sz="1600" dirty="0" smtClean="0"/>
              <a:t> et al. 1991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830319" y="2210373"/>
            <a:ext cx="9117245" cy="157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lnSpc>
                <a:spcPct val="150000"/>
              </a:lnSpc>
              <a:buNone/>
            </a:pPr>
            <a:r>
              <a:rPr lang="en-US" dirty="0" smtClean="0"/>
              <a:t>NONMET discourse is more concrete, related to physical experience</a:t>
            </a:r>
          </a:p>
          <a:p>
            <a:pPr marL="45720" indent="0" algn="ctr">
              <a:lnSpc>
                <a:spcPct val="150000"/>
              </a:lnSpc>
              <a:buNone/>
            </a:pPr>
            <a:r>
              <a:rPr lang="en-US" dirty="0" smtClean="0"/>
              <a:t>MET discourse is more abstract </a:t>
            </a: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4" name="Левая круглая скобка 3"/>
          <p:cNvSpPr/>
          <p:nvPr/>
        </p:nvSpPr>
        <p:spPr>
          <a:xfrm rot="16200000">
            <a:off x="5256552" y="77448"/>
            <a:ext cx="384326" cy="7025360"/>
          </a:xfrm>
          <a:prstGeom prst="leftBracke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3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1064" y="413324"/>
            <a:ext cx="10651436" cy="1055803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CONCEPTUAL METAPHOR THEORY</a:t>
            </a:r>
            <a:endParaRPr lang="en-US" sz="2800" b="1" baseline="300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558159" y="824315"/>
            <a:ext cx="9117245" cy="157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lnSpc>
                <a:spcPct val="150000"/>
              </a:lnSpc>
              <a:buNone/>
            </a:pPr>
            <a:r>
              <a:rPr lang="en-US" b="1" dirty="0" smtClean="0"/>
              <a:t>NONMET discourse: </a:t>
            </a:r>
            <a:r>
              <a:rPr lang="en-US" dirty="0" smtClean="0"/>
              <a:t>more concrete</a:t>
            </a:r>
          </a:p>
          <a:p>
            <a:pPr marL="45720" indent="0" algn="ctr">
              <a:lnSpc>
                <a:spcPct val="150000"/>
              </a:lnSpc>
              <a:buNone/>
            </a:pPr>
            <a:r>
              <a:rPr lang="en-US" b="1" dirty="0" smtClean="0"/>
              <a:t>MET discourse:</a:t>
            </a:r>
            <a:r>
              <a:rPr lang="en-US" dirty="0" smtClean="0"/>
              <a:t> more abstract</a:t>
            </a: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6" name="Правая круглая скобка 5"/>
          <p:cNvSpPr/>
          <p:nvPr/>
        </p:nvSpPr>
        <p:spPr>
          <a:xfrm rot="5400000">
            <a:off x="6075218" y="-602413"/>
            <a:ext cx="415636" cy="5417127"/>
          </a:xfrm>
          <a:prstGeom prst="rightBracke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2500739" y="2500708"/>
            <a:ext cx="7232084" cy="3934318"/>
            <a:chOff x="2500739" y="2238086"/>
            <a:chExt cx="7232084" cy="3934318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739" y="2238086"/>
              <a:ext cx="7232084" cy="3616042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624104" y="5772294"/>
              <a:ext cx="31311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m</a:t>
              </a:r>
              <a:r>
                <a:rPr lang="en-US" sz="2000" b="1" dirty="0" smtClean="0"/>
                <a:t>etaphor association (ΔP)</a:t>
              </a:r>
              <a:endParaRPr lang="ru-RU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4267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9482" y="1154570"/>
            <a:ext cx="10651436" cy="1055803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MET </a:t>
            </a:r>
            <a:r>
              <a:rPr lang="en-US" sz="2800" b="1" dirty="0" smtClean="0">
                <a:sym typeface="Wingdings" panose="05000000000000000000" pitchFamily="2" charset="2"/>
              </a:rPr>
              <a:t>discourse: Source and Target domains</a:t>
            </a:r>
          </a:p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NONMET </a:t>
            </a:r>
            <a:r>
              <a:rPr lang="en-US" sz="2800" b="1" dirty="0" smtClean="0">
                <a:sym typeface="Wingdings" panose="05000000000000000000" pitchFamily="2" charset="2"/>
              </a:rPr>
              <a:t>discourse: only Source domain</a:t>
            </a:r>
            <a:endParaRPr lang="en-US" sz="2800" b="1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732182" y="2988829"/>
            <a:ext cx="10651436" cy="858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sz="2800" b="1" dirty="0" smtClean="0">
                <a:sym typeface="Wingdings" panose="05000000000000000000" pitchFamily="2" charset="2"/>
              </a:rPr>
              <a:t>Hypothesis: </a:t>
            </a:r>
            <a:r>
              <a:rPr lang="en-US" sz="2400" dirty="0" smtClean="0">
                <a:sym typeface="Wingdings" panose="05000000000000000000" pitchFamily="2" charset="2"/>
              </a:rPr>
              <a:t>MET</a:t>
            </a:r>
            <a:r>
              <a:rPr lang="en-US" sz="2800" dirty="0" smtClean="0">
                <a:sym typeface="Wingdings" panose="05000000000000000000" pitchFamily="2" charset="2"/>
              </a:rPr>
              <a:t> is </a:t>
            </a:r>
            <a:r>
              <a:rPr lang="en-US" sz="2800" u="sng" dirty="0" smtClean="0">
                <a:sym typeface="Wingdings" panose="05000000000000000000" pitchFamily="2" charset="2"/>
              </a:rPr>
              <a:t>semantically</a:t>
            </a:r>
            <a:r>
              <a:rPr lang="en-US" sz="2800" dirty="0" smtClean="0">
                <a:sym typeface="Wingdings" panose="05000000000000000000" pitchFamily="2" charset="2"/>
              </a:rPr>
              <a:t> more heterogeneous than </a:t>
            </a:r>
            <a:r>
              <a:rPr lang="en-US" sz="2400" dirty="0" smtClean="0">
                <a:sym typeface="Wingdings" panose="05000000000000000000" pitchFamily="2" charset="2"/>
              </a:rPr>
              <a:t>NONMET</a:t>
            </a: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 algn="ctr">
              <a:buFont typeface="Corbel" pitchFamily="34" charset="0"/>
              <a:buNone/>
            </a:pP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5" name="Стрелка вниз 4"/>
          <p:cNvSpPr/>
          <p:nvPr/>
        </p:nvSpPr>
        <p:spPr>
          <a:xfrm>
            <a:off x="5778500" y="2364651"/>
            <a:ext cx="279400" cy="4699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624417" y="4860464"/>
            <a:ext cx="10841565" cy="855010"/>
            <a:chOff x="624417" y="4860464"/>
            <a:chExt cx="10841565" cy="855010"/>
          </a:xfrm>
        </p:grpSpPr>
        <p:sp>
          <p:nvSpPr>
            <p:cNvPr id="10" name="Объект 2"/>
            <p:cNvSpPr txBox="1">
              <a:spLocks/>
            </p:cNvSpPr>
            <p:nvPr/>
          </p:nvSpPr>
          <p:spPr>
            <a:xfrm>
              <a:off x="624417" y="4860464"/>
              <a:ext cx="10841565" cy="42021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182880" algn="l" defTabSz="914400" rtl="0" eaLnBrk="1" latinLnBrk="0" hangingPunct="1">
                <a:lnSpc>
                  <a:spcPct val="90000"/>
                </a:lnSpc>
                <a:spcBef>
                  <a:spcPts val="1400"/>
                </a:spcBef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tx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" indent="0" algn="ctr">
                <a:buFont typeface="Corbel" pitchFamily="34" charset="0"/>
                <a:buNone/>
              </a:pPr>
              <a:r>
                <a:rPr lang="en-US" sz="3300" dirty="0" smtClean="0"/>
                <a:t>mean </a:t>
              </a:r>
              <a:r>
                <a:rPr lang="en-US" sz="3300" i="1" dirty="0" err="1" smtClean="0"/>
                <a:t>SemSim</a:t>
              </a:r>
              <a:r>
                <a:rPr lang="en-US" sz="3300" dirty="0" smtClean="0"/>
                <a:t> of MET </a:t>
              </a:r>
              <a:r>
                <a:rPr lang="en-US" sz="3300" b="1" dirty="0" smtClean="0"/>
                <a:t>&lt; </a:t>
              </a:r>
              <a:r>
                <a:rPr lang="en-US" sz="3300" dirty="0" smtClean="0"/>
                <a:t>mean </a:t>
              </a:r>
              <a:r>
                <a:rPr lang="en-US" sz="3300" i="1" dirty="0" err="1" smtClean="0"/>
                <a:t>SemSim</a:t>
              </a:r>
              <a:r>
                <a:rPr lang="en-US" sz="3300" dirty="0" smtClean="0"/>
                <a:t> of NONMET</a:t>
              </a:r>
              <a:endParaRPr lang="ru-RU" sz="3300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sz="2400" dirty="0" smtClean="0">
                <a:sym typeface="Wingdings" panose="05000000000000000000" pitchFamily="2" charset="2"/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>
                <a:solidFill>
                  <a:srgbClr val="FF0000"/>
                </a:solidFill>
              </a:endParaRPr>
            </a:p>
            <a:p>
              <a:pPr marL="45720" indent="0">
                <a:buFont typeface="Corbel" pitchFamily="34" charset="0"/>
                <a:buNone/>
              </a:pPr>
              <a:endParaRPr lang="en-US" dirty="0" smtClean="0"/>
            </a:p>
            <a:p>
              <a:pPr marL="45720" indent="0">
                <a:buFont typeface="Corbel" pitchFamily="34" charset="0"/>
                <a:buNone/>
              </a:pPr>
              <a:endParaRPr lang="ru-RU" dirty="0" smtClean="0"/>
            </a:p>
            <a:p>
              <a:pPr marL="45720" indent="0">
                <a:buFont typeface="Corbel" pitchFamily="34" charset="0"/>
                <a:buNone/>
              </a:pPr>
              <a:endParaRPr lang="en-US" dirty="0" smtClean="0"/>
            </a:p>
            <a:p>
              <a:pPr marL="45720" indent="0">
                <a:buFont typeface="Corbel" pitchFamily="34" charset="0"/>
                <a:buNone/>
              </a:pPr>
              <a:endParaRPr lang="en-US" dirty="0" smtClean="0"/>
            </a:p>
            <a:p>
              <a:pPr marL="45720" indent="0">
                <a:buFont typeface="Corbel" pitchFamily="34" charset="0"/>
                <a:buNone/>
              </a:pPr>
              <a:endParaRPr lang="en-US" dirty="0" smtClean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1232" y="5253809"/>
              <a:ext cx="72861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+mj-lt"/>
                  <a:cs typeface="Calibri" panose="020F0502020204030204" pitchFamily="34" charset="0"/>
                </a:rPr>
                <a:t>statistically significant (</a:t>
              </a:r>
              <a:r>
                <a:rPr lang="en-GB" sz="2400" dirty="0" smtClean="0">
                  <a:latin typeface="+mj-lt"/>
                </a:rPr>
                <a:t>Mann-Whitney U-test)</a:t>
              </a:r>
            </a:p>
          </p:txBody>
        </p:sp>
      </p:grpSp>
      <p:sp>
        <p:nvSpPr>
          <p:cNvPr id="14" name="Объект 2"/>
          <p:cNvSpPr txBox="1">
            <a:spLocks/>
          </p:cNvSpPr>
          <p:nvPr/>
        </p:nvSpPr>
        <p:spPr>
          <a:xfrm>
            <a:off x="814546" y="3996191"/>
            <a:ext cx="10651436" cy="858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sz="2800" i="1" dirty="0" err="1" smtClean="0">
                <a:sym typeface="Wingdings" panose="05000000000000000000" pitchFamily="2" charset="2"/>
              </a:rPr>
              <a:t>SemSim</a:t>
            </a:r>
            <a:r>
              <a:rPr lang="en-US" sz="2800" dirty="0" smtClean="0">
                <a:sym typeface="Wingdings" panose="05000000000000000000" pitchFamily="2" charset="2"/>
              </a:rPr>
              <a:t> = pairwise semantic similarity of words in a sentence</a:t>
            </a:r>
          </a:p>
          <a:p>
            <a:pPr marL="45720" indent="0" algn="ctr">
              <a:buFont typeface="Corbel" pitchFamily="34" charset="0"/>
              <a:buNone/>
            </a:pP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15" name="Левая круглая скобка 14"/>
          <p:cNvSpPr/>
          <p:nvPr/>
        </p:nvSpPr>
        <p:spPr>
          <a:xfrm rot="16200000">
            <a:off x="5862274" y="-1449553"/>
            <a:ext cx="384326" cy="10113818"/>
          </a:xfrm>
          <a:prstGeom prst="leftBracke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997527" y="511704"/>
            <a:ext cx="10651436" cy="1055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CONCEPTUAL METAPHOR THEORY</a:t>
            </a:r>
            <a:endParaRPr lang="en-US" sz="2800" b="1" baseline="300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0400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44313" y="1033324"/>
            <a:ext cx="9616890" cy="2737390"/>
          </a:xfrm>
          <a:prstGeom prst="rect">
            <a:avLst/>
          </a:prstGeom>
        </p:spPr>
      </p:pic>
      <p:sp>
        <p:nvSpPr>
          <p:cNvPr id="11" name="Объект 2"/>
          <p:cNvSpPr txBox="1">
            <a:spLocks/>
          </p:cNvSpPr>
          <p:nvPr/>
        </p:nvSpPr>
        <p:spPr>
          <a:xfrm>
            <a:off x="805070" y="4530997"/>
            <a:ext cx="10473406" cy="754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000" b="1" dirty="0" smtClean="0"/>
              <a:t>NONMET</a:t>
            </a:r>
            <a:r>
              <a:rPr lang="en-US" b="1" dirty="0" smtClean="0"/>
              <a:t>:</a:t>
            </a:r>
            <a:r>
              <a:rPr lang="en-US" dirty="0" smtClean="0"/>
              <a:t> Biology</a:t>
            </a:r>
            <a:r>
              <a:rPr lang="en-US" dirty="0"/>
              <a:t>, Language, Cars, Chemistry, Aviation, Peoples and Traditions, </a:t>
            </a:r>
            <a:r>
              <a:rPr lang="en-US" dirty="0" smtClean="0"/>
              <a:t>Religion</a:t>
            </a: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805070" y="3981580"/>
            <a:ext cx="10473406" cy="563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600" b="1" dirty="0" smtClean="0"/>
              <a:t>MET</a:t>
            </a:r>
            <a:r>
              <a:rPr lang="en-US" sz="2800" b="1" dirty="0" smtClean="0"/>
              <a:t>: </a:t>
            </a:r>
            <a:r>
              <a:rPr lang="en-US" sz="2800" dirty="0"/>
              <a:t>Literature and Writing, Economy, Judicial System, Corporate Management, </a:t>
            </a:r>
            <a:r>
              <a:rPr lang="en-US" sz="2800" dirty="0" smtClean="0"/>
              <a:t>Railway </a:t>
            </a: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805070" y="5095439"/>
            <a:ext cx="10473406" cy="760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000" b="1" dirty="0" smtClean="0"/>
              <a:t>MET and NONMET</a:t>
            </a:r>
            <a:r>
              <a:rPr lang="en-US" b="1" dirty="0" smtClean="0"/>
              <a:t>:</a:t>
            </a:r>
            <a:r>
              <a:rPr lang="en-US" dirty="0" smtClean="0"/>
              <a:t> Military </a:t>
            </a:r>
            <a:r>
              <a:rPr lang="en-US" dirty="0"/>
              <a:t>and Warfare, Cinema, TV Series and Computer Games, </a:t>
            </a:r>
            <a:r>
              <a:rPr lang="en-US" dirty="0" smtClean="0"/>
              <a:t>Architecture </a:t>
            </a:r>
            <a:r>
              <a:rPr lang="en-US" dirty="0"/>
              <a:t>and Construction</a:t>
            </a: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27040" y="519486"/>
            <a:ext cx="10651436" cy="513838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Topical cues of metaphoricity</a:t>
            </a:r>
            <a:endParaRPr lang="en-US" sz="2800" b="1" baseline="30000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10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8727" y="640960"/>
            <a:ext cx="6571075" cy="72887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Hypothesis: topics as proxies for conceptual domains </a:t>
            </a:r>
            <a:endParaRPr lang="ru-RU" b="1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2530289" y="2584685"/>
            <a:ext cx="7019513" cy="1961321"/>
            <a:chOff x="2023437" y="1481463"/>
            <a:chExt cx="7019513" cy="1961321"/>
          </a:xfrm>
        </p:grpSpPr>
        <p:grpSp>
          <p:nvGrpSpPr>
            <p:cNvPr id="6" name="Группа 5"/>
            <p:cNvGrpSpPr/>
            <p:nvPr/>
          </p:nvGrpSpPr>
          <p:grpSpPr>
            <a:xfrm>
              <a:off x="2023437" y="1481463"/>
              <a:ext cx="3048000" cy="1961321"/>
              <a:chOff x="6864626" y="2186610"/>
              <a:chExt cx="3048000" cy="1961321"/>
            </a:xfrm>
          </p:grpSpPr>
          <p:sp>
            <p:nvSpPr>
              <p:cNvPr id="13" name="Облако 12"/>
              <p:cNvSpPr/>
              <p:nvPr/>
            </p:nvSpPr>
            <p:spPr>
              <a:xfrm>
                <a:off x="6864626" y="2186610"/>
                <a:ext cx="3048000" cy="1961321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798904" y="2967215"/>
                <a:ext cx="13227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TARGET</a:t>
                </a:r>
                <a:endParaRPr lang="en-US" sz="1600" dirty="0" smtClean="0"/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7346671" y="1539717"/>
              <a:ext cx="1696279" cy="1683027"/>
              <a:chOff x="1934817" y="2464904"/>
              <a:chExt cx="1696279" cy="1683027"/>
            </a:xfrm>
          </p:grpSpPr>
          <p:sp>
            <p:nvSpPr>
              <p:cNvPr id="11" name="Куб 10"/>
              <p:cNvSpPr/>
              <p:nvPr/>
            </p:nvSpPr>
            <p:spPr>
              <a:xfrm>
                <a:off x="1934817" y="2464904"/>
                <a:ext cx="1696279" cy="1683027"/>
              </a:xfrm>
              <a:prstGeom prst="cub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934817" y="3187255"/>
                <a:ext cx="1373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SOURCE</a:t>
                </a:r>
                <a:endParaRPr lang="en-US" sz="1600" dirty="0" smtClean="0"/>
              </a:p>
            </p:txBody>
          </p:sp>
        </p:grpSp>
        <p:grpSp>
          <p:nvGrpSpPr>
            <p:cNvPr id="8" name="Группа 7"/>
            <p:cNvGrpSpPr/>
            <p:nvPr/>
          </p:nvGrpSpPr>
          <p:grpSpPr>
            <a:xfrm>
              <a:off x="5179941" y="1970089"/>
              <a:ext cx="1914938" cy="641242"/>
              <a:chOff x="4653167" y="1985479"/>
              <a:chExt cx="1914938" cy="641242"/>
            </a:xfrm>
          </p:grpSpPr>
          <p:sp>
            <p:nvSpPr>
              <p:cNvPr id="9" name="Штриховая стрелка вправо 8"/>
              <p:cNvSpPr/>
              <p:nvPr/>
            </p:nvSpPr>
            <p:spPr>
              <a:xfrm rot="10800000">
                <a:off x="4653167" y="1985479"/>
                <a:ext cx="1914938" cy="641242"/>
              </a:xfrm>
              <a:prstGeom prst="striped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24438" y="2108182"/>
                <a:ext cx="1244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mapping</a:t>
                </a:r>
                <a:endParaRPr lang="ru-RU" dirty="0"/>
              </a:p>
            </p:txBody>
          </p:sp>
        </p:grpSp>
      </p:grpSp>
      <p:grpSp>
        <p:nvGrpSpPr>
          <p:cNvPr id="17" name="Группа 16"/>
          <p:cNvGrpSpPr/>
          <p:nvPr/>
        </p:nvGrpSpPr>
        <p:grpSpPr>
          <a:xfrm>
            <a:off x="2133600" y="1369830"/>
            <a:ext cx="8451273" cy="4435225"/>
            <a:chOff x="2133600" y="1369830"/>
            <a:chExt cx="8451273" cy="4435225"/>
          </a:xfrm>
        </p:grpSpPr>
        <p:cxnSp>
          <p:nvCxnSpPr>
            <p:cNvPr id="4" name="Прямая соединительная линия 3"/>
            <p:cNvCxnSpPr/>
            <p:nvPr/>
          </p:nvCxnSpPr>
          <p:spPr>
            <a:xfrm>
              <a:off x="2313709" y="1369830"/>
              <a:ext cx="7980218" cy="44352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/>
            <p:nvPr/>
          </p:nvCxnSpPr>
          <p:spPr>
            <a:xfrm flipH="1">
              <a:off x="2133600" y="1369830"/>
              <a:ext cx="8451273" cy="43105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932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2182" y="665605"/>
            <a:ext cx="10651436" cy="1055803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MET </a:t>
            </a:r>
            <a:r>
              <a:rPr lang="en-US" sz="2800" b="1" dirty="0" smtClean="0">
                <a:sym typeface="Wingdings" panose="05000000000000000000" pitchFamily="2" charset="2"/>
              </a:rPr>
              <a:t>discourse: Source and Target domains</a:t>
            </a:r>
          </a:p>
          <a:p>
            <a:pPr marL="45720" indent="0" algn="ctr">
              <a:buNone/>
            </a:pPr>
            <a:r>
              <a:rPr lang="en-US" sz="2400" b="1" dirty="0" smtClean="0">
                <a:sym typeface="Wingdings" panose="05000000000000000000" pitchFamily="2" charset="2"/>
              </a:rPr>
              <a:t>NONMET </a:t>
            </a:r>
            <a:r>
              <a:rPr lang="en-US" sz="2800" b="1" dirty="0" smtClean="0">
                <a:sym typeface="Wingdings" panose="05000000000000000000" pitchFamily="2" charset="2"/>
              </a:rPr>
              <a:t>discourse: only Source domain</a:t>
            </a:r>
            <a:endParaRPr lang="en-US" sz="2800" b="1" dirty="0">
              <a:sym typeface="Wingdings" panose="05000000000000000000" pitchFamily="2" charset="2"/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776055" y="2317715"/>
            <a:ext cx="10651436" cy="858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sz="2800" b="1" dirty="0" smtClean="0">
                <a:sym typeface="Wingdings" panose="05000000000000000000" pitchFamily="2" charset="2"/>
              </a:rPr>
              <a:t>Hypothesis: </a:t>
            </a:r>
            <a:r>
              <a:rPr lang="en-US" sz="2400" dirty="0" smtClean="0">
                <a:sym typeface="Wingdings" panose="05000000000000000000" pitchFamily="2" charset="2"/>
              </a:rPr>
              <a:t>MET</a:t>
            </a:r>
            <a:r>
              <a:rPr lang="en-US" sz="2800" dirty="0" smtClean="0">
                <a:sym typeface="Wingdings" panose="05000000000000000000" pitchFamily="2" charset="2"/>
              </a:rPr>
              <a:t> is </a:t>
            </a:r>
            <a:r>
              <a:rPr lang="en-US" sz="2800" u="sng" dirty="0" smtClean="0">
                <a:sym typeface="Wingdings" panose="05000000000000000000" pitchFamily="2" charset="2"/>
              </a:rPr>
              <a:t>thematically</a:t>
            </a:r>
            <a:r>
              <a:rPr lang="en-US" sz="2800" dirty="0" smtClean="0">
                <a:sym typeface="Wingdings" panose="05000000000000000000" pitchFamily="2" charset="2"/>
              </a:rPr>
              <a:t> more heterogeneous than </a:t>
            </a:r>
            <a:r>
              <a:rPr lang="en-US" sz="2400" dirty="0" smtClean="0">
                <a:sym typeface="Wingdings" panose="05000000000000000000" pitchFamily="2" charset="2"/>
              </a:rPr>
              <a:t>NONMET</a:t>
            </a: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 algn="ctr">
              <a:buFont typeface="Corbel" pitchFamily="34" charset="0"/>
              <a:buNone/>
            </a:pP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2388152" y="4571310"/>
            <a:ext cx="7060096" cy="472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800" dirty="0"/>
              <a:t>latent profile </a:t>
            </a:r>
            <a:r>
              <a:rPr lang="en-US" sz="2800" dirty="0" smtClean="0"/>
              <a:t>analysis: insufficient evidence </a:t>
            </a:r>
            <a:endParaRPr lang="en-US" sz="2800" dirty="0" smtClean="0">
              <a:sym typeface="Wingdings" panose="05000000000000000000" pitchFamily="2" charset="2"/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ru-RU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5" name="Стрелка вниз 4"/>
          <p:cNvSpPr/>
          <p:nvPr/>
        </p:nvSpPr>
        <p:spPr>
          <a:xfrm>
            <a:off x="5778500" y="1752600"/>
            <a:ext cx="279400" cy="4699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/>
          <p:cNvGrpSpPr/>
          <p:nvPr/>
        </p:nvGrpSpPr>
        <p:grpSpPr>
          <a:xfrm>
            <a:off x="1044864" y="3028041"/>
            <a:ext cx="10113818" cy="845947"/>
            <a:chOff x="1000991" y="2882989"/>
            <a:chExt cx="10113818" cy="845947"/>
          </a:xfrm>
        </p:grpSpPr>
        <p:sp>
          <p:nvSpPr>
            <p:cNvPr id="2" name="Правая круглая скобка 1"/>
            <p:cNvSpPr/>
            <p:nvPr/>
          </p:nvSpPr>
          <p:spPr>
            <a:xfrm rot="5400000">
              <a:off x="5850082" y="-1960199"/>
              <a:ext cx="415636" cy="10113818"/>
            </a:xfrm>
            <a:prstGeom prst="rightBracket">
              <a:avLst/>
            </a:prstGeom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" name="Группа 13"/>
            <p:cNvGrpSpPr/>
            <p:nvPr/>
          </p:nvGrpSpPr>
          <p:grpSpPr>
            <a:xfrm>
              <a:off x="5221859" y="2882989"/>
              <a:ext cx="908928" cy="845947"/>
              <a:chOff x="5221859" y="2882989"/>
              <a:chExt cx="908928" cy="845947"/>
            </a:xfrm>
          </p:grpSpPr>
          <p:cxnSp>
            <p:nvCxnSpPr>
              <p:cNvPr id="7" name="Прямая соединительная линия 6"/>
              <p:cNvCxnSpPr/>
              <p:nvPr/>
            </p:nvCxnSpPr>
            <p:spPr>
              <a:xfrm>
                <a:off x="5244097" y="2888892"/>
                <a:ext cx="886690" cy="81244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/>
              <p:cNvCxnSpPr/>
              <p:nvPr/>
            </p:nvCxnSpPr>
            <p:spPr>
              <a:xfrm flipV="1">
                <a:off x="5221859" y="2882989"/>
                <a:ext cx="879914" cy="845947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Объект 2"/>
          <p:cNvSpPr txBox="1">
            <a:spLocks/>
          </p:cNvSpPr>
          <p:nvPr/>
        </p:nvSpPr>
        <p:spPr>
          <a:xfrm>
            <a:off x="434395" y="5956063"/>
            <a:ext cx="4650223" cy="389320"/>
          </a:xfrm>
          <a:prstGeom prst="rect">
            <a:avLst/>
          </a:prstGeom>
          <a:ln w="28575">
            <a:solidFill>
              <a:schemeClr val="bg1"/>
            </a:solidFill>
            <a:prstDash val="dash"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en-US" dirty="0" err="1" smtClean="0"/>
              <a:t>mclust</a:t>
            </a:r>
            <a:r>
              <a:rPr lang="en-US" dirty="0"/>
              <a:t>: https://mclust-org.github.io/mclust/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09241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1143000" y="609601"/>
            <a:ext cx="9875520" cy="530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Morphological cues</a:t>
            </a:r>
            <a:endParaRPr lang="ru-RU" b="1" dirty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1143000" y="1139687"/>
            <a:ext cx="9875520" cy="437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(Random forest feature importance)</a:t>
            </a:r>
            <a:endParaRPr lang="ru-RU" b="1" dirty="0"/>
          </a:p>
        </p:txBody>
      </p:sp>
      <p:sp>
        <p:nvSpPr>
          <p:cNvPr id="23" name="Объект 2"/>
          <p:cNvSpPr>
            <a:spLocks noGrp="1"/>
          </p:cNvSpPr>
          <p:nvPr>
            <p:ph idx="1"/>
          </p:nvPr>
        </p:nvSpPr>
        <p:spPr>
          <a:xfrm>
            <a:off x="786516" y="2107096"/>
            <a:ext cx="6290143" cy="2994992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b="1" u="sng" dirty="0" smtClean="0"/>
              <a:t>MET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superlative adjectives (</a:t>
            </a:r>
            <a:r>
              <a:rPr lang="ru-RU" i="1" dirty="0" smtClean="0"/>
              <a:t>важнейший</a:t>
            </a:r>
            <a:r>
              <a:rPr lang="en-US" dirty="0" smtClean="0"/>
              <a:t>, </a:t>
            </a:r>
            <a:r>
              <a:rPr lang="ru-RU" i="1" dirty="0" smtClean="0"/>
              <a:t>величайший</a:t>
            </a:r>
            <a:r>
              <a:rPr lang="en-US" dirty="0" smtClean="0"/>
              <a:t>, </a:t>
            </a:r>
            <a:r>
              <a:rPr lang="ru-RU" i="1" dirty="0" smtClean="0"/>
              <a:t>крупнейший</a:t>
            </a:r>
            <a:r>
              <a:rPr lang="en-US" i="1" dirty="0" smtClean="0"/>
              <a:t>, </a:t>
            </a:r>
            <a:r>
              <a:rPr lang="en-US" dirty="0" smtClean="0"/>
              <a:t>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particles – sentential focus, rhetoric </a:t>
            </a:r>
            <a:r>
              <a:rPr lang="en-US" dirty="0"/>
              <a:t>function </a:t>
            </a:r>
            <a:r>
              <a:rPr lang="en-US" dirty="0" smtClean="0"/>
              <a:t>(</a:t>
            </a:r>
            <a:r>
              <a:rPr lang="en-US" i="1" dirty="0" err="1" smtClean="0"/>
              <a:t>же</a:t>
            </a:r>
            <a:r>
              <a:rPr lang="en-US" i="1" dirty="0" smtClean="0"/>
              <a:t> </a:t>
            </a:r>
            <a:r>
              <a:rPr lang="en-US" i="1" dirty="0"/>
              <a:t>, </a:t>
            </a:r>
            <a:r>
              <a:rPr lang="en-US" i="1" dirty="0" err="1"/>
              <a:t>только</a:t>
            </a:r>
            <a:r>
              <a:rPr lang="en-US" i="1" dirty="0"/>
              <a:t> , </a:t>
            </a:r>
            <a:r>
              <a:rPr lang="en-US" i="1" dirty="0" err="1"/>
              <a:t>даже</a:t>
            </a:r>
            <a:r>
              <a:rPr lang="en-US" i="1" dirty="0"/>
              <a:t> , </a:t>
            </a:r>
            <a:r>
              <a:rPr lang="en-US" i="1" dirty="0" err="1"/>
              <a:t>просто</a:t>
            </a:r>
            <a:r>
              <a:rPr lang="en-US" i="1" dirty="0"/>
              <a:t> , </a:t>
            </a:r>
            <a:r>
              <a:rPr lang="en-US" i="1" dirty="0" err="1"/>
              <a:t>вот</a:t>
            </a:r>
            <a:r>
              <a:rPr lang="en-US" i="1" dirty="0"/>
              <a:t> , </a:t>
            </a:r>
            <a:r>
              <a:rPr lang="en-US" i="1" dirty="0" err="1"/>
              <a:t>лишь</a:t>
            </a:r>
            <a:r>
              <a:rPr lang="en-US" i="1" dirty="0"/>
              <a:t> , </a:t>
            </a:r>
            <a:r>
              <a:rPr lang="en-US" i="1" dirty="0" err="1"/>
              <a:t>ли</a:t>
            </a:r>
            <a:r>
              <a:rPr lang="en-US" i="1" dirty="0"/>
              <a:t> , </a:t>
            </a:r>
            <a:r>
              <a:rPr lang="en-US" i="1" dirty="0" err="1" smtClean="0"/>
              <a:t>именно</a:t>
            </a:r>
            <a:r>
              <a:rPr lang="en-US" i="1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</a:t>
            </a:r>
            <a:r>
              <a:rPr lang="en-US" dirty="0" smtClean="0"/>
              <a:t>erbs: </a:t>
            </a:r>
            <a:r>
              <a:rPr lang="en-US" dirty="0"/>
              <a:t>first and </a:t>
            </a:r>
            <a:r>
              <a:rPr lang="en-US" dirty="0" smtClean="0"/>
              <a:t>second </a:t>
            </a:r>
            <a:r>
              <a:rPr lang="en-US" dirty="0"/>
              <a:t>person</a:t>
            </a:r>
            <a:endParaRPr lang="ru-RU" dirty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24" name="Объект 2"/>
          <p:cNvSpPr txBox="1">
            <a:spLocks/>
          </p:cNvSpPr>
          <p:nvPr/>
        </p:nvSpPr>
        <p:spPr>
          <a:xfrm>
            <a:off x="7888770" y="2107095"/>
            <a:ext cx="3368289" cy="147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en-US" b="1" u="sng" dirty="0" smtClean="0"/>
              <a:t>NONMET</a:t>
            </a:r>
          </a:p>
          <a:p>
            <a:r>
              <a:rPr lang="en-US" dirty="0"/>
              <a:t>numerals and </a:t>
            </a:r>
            <a:r>
              <a:rPr lang="en-US" dirty="0" smtClean="0"/>
              <a:t>quantifiers </a:t>
            </a:r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  <a:p>
            <a:pPr marL="45720" indent="0">
              <a:buFont typeface="Corbel" pitchFamily="34" charset="0"/>
              <a:buNone/>
            </a:pPr>
            <a:endParaRPr 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786516" y="5530888"/>
            <a:ext cx="5561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greater degree of emotionality, modality, or speaker-centricity</a:t>
            </a:r>
            <a:endParaRPr lang="ru-RU" sz="3200" dirty="0"/>
          </a:p>
        </p:txBody>
      </p:sp>
      <p:sp>
        <p:nvSpPr>
          <p:cNvPr id="25" name="Стрелка вниз 24"/>
          <p:cNvSpPr/>
          <p:nvPr/>
        </p:nvSpPr>
        <p:spPr>
          <a:xfrm>
            <a:off x="2969039" y="5047736"/>
            <a:ext cx="279400" cy="4699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56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Conclusions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600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779771" y="569842"/>
            <a:ext cx="10584621" cy="60387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/>
              <a:t>Robustness of lexical feature (consistent with previous work, e.g. </a:t>
            </a:r>
            <a:r>
              <a:rPr lang="en-US" sz="4100" dirty="0" err="1" smtClean="0"/>
              <a:t>Klebanov</a:t>
            </a:r>
            <a:r>
              <a:rPr lang="en-US" sz="4100" dirty="0" smtClean="0"/>
              <a:t> et al. 2014 for English)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/>
              <a:t>Lexical cues of metaphoricity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>
                <a:sym typeface="Wingdings" panose="05000000000000000000" pitchFamily="2" charset="2"/>
              </a:rPr>
              <a:t>MET is </a:t>
            </a:r>
            <a:r>
              <a:rPr lang="en-US" sz="4100" i="1" dirty="0">
                <a:sym typeface="Wingdings" panose="05000000000000000000" pitchFamily="2" charset="2"/>
              </a:rPr>
              <a:t>semantically</a:t>
            </a:r>
            <a:r>
              <a:rPr lang="en-US" sz="4100" dirty="0">
                <a:sym typeface="Wingdings" panose="05000000000000000000" pitchFamily="2" charset="2"/>
              </a:rPr>
              <a:t> more heterogeneous </a:t>
            </a:r>
            <a:r>
              <a:rPr lang="en-US" sz="4100" dirty="0" smtClean="0">
                <a:sym typeface="Wingdings" panose="05000000000000000000" pitchFamily="2" charset="2"/>
              </a:rPr>
              <a:t>than NONMET: 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>
                <a:sym typeface="Wingdings" panose="05000000000000000000" pitchFamily="2" charset="2"/>
              </a:rPr>
              <a:t>MET </a:t>
            </a:r>
            <a:r>
              <a:rPr lang="en-US" sz="4100" dirty="0">
                <a:sym typeface="Wingdings" panose="05000000000000000000" pitchFamily="2" charset="2"/>
              </a:rPr>
              <a:t>is </a:t>
            </a:r>
            <a:r>
              <a:rPr lang="en-US" sz="4100" i="1" dirty="0">
                <a:sym typeface="Wingdings" panose="05000000000000000000" pitchFamily="2" charset="2"/>
              </a:rPr>
              <a:t>thematically</a:t>
            </a:r>
            <a:r>
              <a:rPr lang="en-US" sz="4100" dirty="0">
                <a:sym typeface="Wingdings" panose="05000000000000000000" pitchFamily="2" charset="2"/>
              </a:rPr>
              <a:t> more </a:t>
            </a:r>
            <a:r>
              <a:rPr lang="en-US" sz="4100" dirty="0" smtClean="0">
                <a:sym typeface="Wingdings" panose="05000000000000000000" pitchFamily="2" charset="2"/>
              </a:rPr>
              <a:t>heterogeneous than NONMET: </a:t>
            </a:r>
            <a:r>
              <a:rPr lang="en-US" sz="4100" u="sng" dirty="0" smtClean="0">
                <a:sym typeface="Wingdings" panose="05000000000000000000" pitchFamily="2" charset="2"/>
              </a:rPr>
              <a:t>insufficient evidence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>
                <a:sym typeface="Wingdings" panose="05000000000000000000" pitchFamily="2" charset="2"/>
              </a:rPr>
              <a:t>Topical cues of metaphoricity – reflect topics, not conceptual mappings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>
                <a:sym typeface="Wingdings" panose="05000000000000000000" pitchFamily="2" charset="2"/>
              </a:rPr>
              <a:t>NONMET is more concrete than MET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100" dirty="0" smtClean="0">
                <a:sym typeface="Wingdings" panose="05000000000000000000" pitchFamily="2" charset="2"/>
              </a:rPr>
              <a:t>Morphological cues of metaphoricity – genre, domain, and pragmatic characteristics of discourse </a:t>
            </a:r>
            <a:endParaRPr lang="en-US" sz="4800" dirty="0"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600" dirty="0" smtClean="0"/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600" dirty="0" smtClean="0"/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600" dirty="0" smtClean="0"/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600" dirty="0" smtClean="0"/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056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1226128" y="1052947"/>
            <a:ext cx="9875520" cy="530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LIMITATION</a:t>
            </a:r>
            <a:endParaRPr lang="ru-R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466109" y="2219651"/>
            <a:ext cx="7774809" cy="192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Size and design of </a:t>
            </a:r>
            <a:r>
              <a:rPr lang="en-US" sz="3200" dirty="0"/>
              <a:t>experimental </a:t>
            </a:r>
            <a:r>
              <a:rPr lang="en-US" sz="3200" dirty="0" smtClean="0"/>
              <a:t>corpus</a:t>
            </a:r>
            <a:endParaRPr lang="ru-RU" sz="3200" dirty="0" smtClean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One language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2212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729" y="515735"/>
            <a:ext cx="5653694" cy="565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1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26" y="820764"/>
            <a:ext cx="5413844" cy="192236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72" y="1632155"/>
            <a:ext cx="5815224" cy="189415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997" y="4588626"/>
            <a:ext cx="5758599" cy="16176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258" y="499945"/>
            <a:ext cx="3287225" cy="67808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44" y="3461743"/>
            <a:ext cx="5621753" cy="225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1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189" y="473825"/>
            <a:ext cx="5978236" cy="597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4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498" y="315884"/>
            <a:ext cx="6252556" cy="625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5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cap="none" dirty="0" smtClean="0"/>
              <a:t>Thank you</a:t>
            </a:r>
            <a:endParaRPr lang="ru-RU" sz="6000" cap="none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76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TM03457444[[fn=Основа]]</Template>
  <TotalTime>16655</TotalTime>
  <Words>3688</Words>
  <Application>Microsoft Office PowerPoint</Application>
  <PresentationFormat>Широкоэкранный</PresentationFormat>
  <Paragraphs>622</Paragraphs>
  <Slides>80</Slides>
  <Notes>5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91" baseType="lpstr">
      <vt:lpstr>Microsoft YaHei</vt:lpstr>
      <vt:lpstr>Arial</vt:lpstr>
      <vt:lpstr>ArialMT</vt:lpstr>
      <vt:lpstr>Calibri</vt:lpstr>
      <vt:lpstr>Cambria Math</vt:lpstr>
      <vt:lpstr>Corbel</vt:lpstr>
      <vt:lpstr>Courier New</vt:lpstr>
      <vt:lpstr>Source Sans Pro</vt:lpstr>
      <vt:lpstr>Times New Roman</vt:lpstr>
      <vt:lpstr>Wingdings</vt:lpstr>
      <vt:lpstr>Базис</vt:lpstr>
      <vt:lpstr>COMPUTATIONAL research on METAPHOR</vt:lpstr>
      <vt:lpstr>History of metaphor theory</vt:lpstr>
      <vt:lpstr>Презентация PowerPoint</vt:lpstr>
      <vt:lpstr>μεταφορά</vt:lpstr>
      <vt:lpstr>Презентация PowerPoint</vt:lpstr>
      <vt:lpstr>Презентация PowerPoint</vt:lpstr>
      <vt:lpstr>The Cognitive Turn</vt:lpstr>
      <vt:lpstr>Ivor Armstrong Richards (1936)</vt:lpstr>
      <vt:lpstr>Ivor Armostrong Richards</vt:lpstr>
      <vt:lpstr>The interaction theory of metaphor</vt:lpstr>
      <vt:lpstr>M. Black</vt:lpstr>
      <vt:lpstr>George Lakoff (1980, 1993)</vt:lpstr>
      <vt:lpstr>Презентация PowerPoint</vt:lpstr>
      <vt:lpstr>G. Lakoff</vt:lpstr>
      <vt:lpstr>George Lakoff</vt:lpstr>
      <vt:lpstr>George Lakoff</vt:lpstr>
      <vt:lpstr>George Lakoff</vt:lpstr>
      <vt:lpstr>George Lakoff</vt:lpstr>
      <vt:lpstr>Lakoff, G., Espenson, J., &amp; Schwartz, A. (1991).  Master Metaphor List </vt:lpstr>
      <vt:lpstr>UNIVERSAL vs. CULTURE-SPECIFIC metaphors</vt:lpstr>
      <vt:lpstr>UNIVERSAL vs. CULTURE-SPECIFIC metaphors</vt:lpstr>
      <vt:lpstr>UNIVERSAL vs. CULTURE-SPECIFIC metaphors</vt:lpstr>
      <vt:lpstr>Role of metaphor in decision-making: metaphorical framing</vt:lpstr>
      <vt:lpstr>Презентация PowerPoint</vt:lpstr>
      <vt:lpstr>Презентация PowerPoint</vt:lpstr>
      <vt:lpstr>G.W. Bush on September 11 attacks</vt:lpstr>
      <vt:lpstr>Role of metaphor in decision-making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Metaphor in nlp</vt:lpstr>
      <vt:lpstr>Metaphor</vt:lpstr>
      <vt:lpstr>metaphor identification</vt:lpstr>
      <vt:lpstr>Презентация PowerPoint</vt:lpstr>
      <vt:lpstr>Презентация PowerPoint</vt:lpstr>
      <vt:lpstr>Top down vs. bottom up</vt:lpstr>
      <vt:lpstr>Second shared metaphor detection task  (Leong et al. 2020)</vt:lpstr>
      <vt:lpstr>Second shared metaphor detection task  (Leong et al. 2020)</vt:lpstr>
      <vt:lpstr>METAPHOR ANNOTATION and  METAPHOR CORPORA</vt:lpstr>
      <vt:lpstr>Linguistic metaphor :  MIPVU Procedure and VU Amsterdam Metaphor Corpus</vt:lpstr>
      <vt:lpstr>Amsterdam Metaphor Corpus: An example</vt:lpstr>
      <vt:lpstr>Conceptual metaphor: The MetaNet Repository</vt:lpstr>
      <vt:lpstr>Conceptual Metaphor: Metaphor Corpus Annotated for Source-Target Domain Mappings</vt:lpstr>
      <vt:lpstr>Russian corpus of verbal linguistic metaphor</vt:lpstr>
      <vt:lpstr>20 polysemous Russian verbs</vt:lpstr>
      <vt:lpstr>Two classes: MET and NONMET</vt:lpstr>
      <vt:lpstr>MET subclasses: conventionalized vs. novel</vt:lpstr>
      <vt:lpstr>How can metaphor  be captured computationally?</vt:lpstr>
      <vt:lpstr>Презентация PowerPoint</vt:lpstr>
      <vt:lpstr>Features for ML metaphor identification</vt:lpstr>
      <vt:lpstr>Experiments by Badryzlova (2019)</vt:lpstr>
      <vt:lpstr>Feature set</vt:lpstr>
      <vt:lpstr>1. Distributional semantic feature</vt:lpstr>
      <vt:lpstr>2. Lexical feature</vt:lpstr>
      <vt:lpstr>3. Morphosyntactic feature</vt:lpstr>
      <vt:lpstr>Презентация PowerPoint</vt:lpstr>
      <vt:lpstr>Презентация PowerPoint</vt:lpstr>
      <vt:lpstr>Презентация PowerPoint</vt:lpstr>
      <vt:lpstr>Results</vt:lpstr>
      <vt:lpstr>Презентация PowerPoint</vt:lpstr>
      <vt:lpstr>Analysis</vt:lpstr>
      <vt:lpstr>Possible lexical predictors of metaphoricity </vt:lpstr>
      <vt:lpstr>Nouns</vt:lpstr>
      <vt:lpstr>Презентация PowerPoint</vt:lpstr>
      <vt:lpstr>Презентация PowerPoint</vt:lpstr>
      <vt:lpstr>Презентация PowerPoint</vt:lpstr>
      <vt:lpstr>Презентация PowerPoint</vt:lpstr>
      <vt:lpstr>Hypothesis: topics as proxies for conceptual domains </vt:lpstr>
      <vt:lpstr>Презентация PowerPoint</vt:lpstr>
      <vt:lpstr>Презентация PowerPoint</vt:lpstr>
      <vt:lpstr>Conclusions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METAPHOR IDENTIFICATION  IN RUSSIAN TEXTS</dc:title>
  <dc:creator>Badryzlova Yulia</dc:creator>
  <cp:lastModifiedBy>Администратор</cp:lastModifiedBy>
  <cp:revision>323</cp:revision>
  <dcterms:created xsi:type="dcterms:W3CDTF">2019-10-10T12:12:18Z</dcterms:created>
  <dcterms:modified xsi:type="dcterms:W3CDTF">2026-04-22T13:17:18Z</dcterms:modified>
</cp:coreProperties>
</file>