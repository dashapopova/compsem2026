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2"/>
  </p:notesMasterIdLst>
  <p:sldIdLst>
    <p:sldId id="256" r:id="rId2"/>
    <p:sldId id="310" r:id="rId3"/>
    <p:sldId id="311" r:id="rId4"/>
    <p:sldId id="312" r:id="rId5"/>
    <p:sldId id="313" r:id="rId6"/>
    <p:sldId id="300" r:id="rId7"/>
    <p:sldId id="301" r:id="rId8"/>
    <p:sldId id="302" r:id="rId9"/>
    <p:sldId id="303" r:id="rId10"/>
    <p:sldId id="271" r:id="rId11"/>
    <p:sldId id="282" r:id="rId12"/>
    <p:sldId id="283" r:id="rId13"/>
    <p:sldId id="307" r:id="rId14"/>
    <p:sldId id="299" r:id="rId15"/>
    <p:sldId id="304" r:id="rId16"/>
    <p:sldId id="305" r:id="rId17"/>
    <p:sldId id="309" r:id="rId18"/>
    <p:sldId id="306" r:id="rId19"/>
    <p:sldId id="259" r:id="rId20"/>
    <p:sldId id="260" r:id="rId21"/>
    <p:sldId id="261" r:id="rId22"/>
    <p:sldId id="262" r:id="rId23"/>
    <p:sldId id="263" r:id="rId24"/>
    <p:sldId id="264" r:id="rId25"/>
    <p:sldId id="265" r:id="rId26"/>
    <p:sldId id="266" r:id="rId27"/>
    <p:sldId id="267" r:id="rId28"/>
    <p:sldId id="268" r:id="rId29"/>
    <p:sldId id="269" r:id="rId30"/>
    <p:sldId id="270" r:id="rId31"/>
    <p:sldId id="272" r:id="rId32"/>
    <p:sldId id="273" r:id="rId33"/>
    <p:sldId id="274" r:id="rId34"/>
    <p:sldId id="276" r:id="rId35"/>
    <p:sldId id="277" r:id="rId36"/>
    <p:sldId id="278" r:id="rId37"/>
    <p:sldId id="279" r:id="rId38"/>
    <p:sldId id="280" r:id="rId39"/>
    <p:sldId id="286" r:id="rId40"/>
    <p:sldId id="281" r:id="rId41"/>
    <p:sldId id="287" r:id="rId42"/>
    <p:sldId id="289" r:id="rId43"/>
    <p:sldId id="290" r:id="rId44"/>
    <p:sldId id="291" r:id="rId45"/>
    <p:sldId id="292" r:id="rId46"/>
    <p:sldId id="293" r:id="rId47"/>
    <p:sldId id="294" r:id="rId48"/>
    <p:sldId id="295" r:id="rId49"/>
    <p:sldId id="296" r:id="rId50"/>
    <p:sldId id="297" r:id="rId51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enis Paperno" initials="" lastIdx="3" clrIdx="0"/>
  <p:cmAuthor id="2" name="Дарья Рыжова" initials="" lastIdx="5" clrIdx="1"/>
  <p:cmAuthor id="3" name="Мария Суворова" initials="" lastIdx="16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commentAuthors" Target="commentAuthor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34C1E0C-4914-48BF-94D5-A6843B1FFC1B}" type="datetimeFigureOut">
              <a:rPr lang="ru-RU" smtClean="0"/>
              <a:t>11.02.2026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3E579E7-5184-4172-ACED-3E1B3D4CDB5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619234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3" Type="http://schemas.openxmlformats.org/officeDocument/2006/relationships/hyperlink" Target="http://vja.ruslang.ru/ru/archive/2005-1/3-30" TargetMode="External"/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E579E7-5184-4172-ACED-3E1B3D4CDB53}" type="slidenum">
              <a:rPr lang="ru-RU" smtClean="0"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661491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 – disambiguation vector; </a:t>
            </a:r>
            <a:r>
              <a:rPr lang="ru-RU" dirty="0"/>
              <a:t>будет так подбирать векторы </a:t>
            </a:r>
            <a:r>
              <a:rPr lang="en-US" dirty="0"/>
              <a:t>d, </a:t>
            </a:r>
            <a:r>
              <a:rPr lang="ru-RU" dirty="0"/>
              <a:t>чтобы они позволяли нам выбрать значение, наиболее близкое к наблюдаемому </a:t>
            </a:r>
            <a:r>
              <a:rPr lang="ru-RU" dirty="0" err="1"/>
              <a:t>контекстуализированному</a:t>
            </a:r>
            <a:r>
              <a:rPr lang="ru-RU" dirty="0"/>
              <a:t> </a:t>
            </a:r>
            <a:r>
              <a:rPr lang="ru-RU" dirty="0" err="1"/>
              <a:t>бертом</a:t>
            </a:r>
            <a:endParaRPr lang="en-US" dirty="0"/>
          </a:p>
          <a:p>
            <a:r>
              <a:rPr lang="ru-RU" dirty="0"/>
              <a:t>Синий сегмент – </a:t>
            </a:r>
            <a:r>
              <a:rPr lang="ru-RU" dirty="0" err="1"/>
              <a:t>контекстуализированные</a:t>
            </a:r>
            <a:r>
              <a:rPr lang="ru-RU" dirty="0"/>
              <a:t> представления элементов контекста из </a:t>
            </a:r>
            <a:r>
              <a:rPr lang="en-US" dirty="0"/>
              <a:t>BERT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E579E7-5184-4172-ACED-3E1B3D4CDB53}" type="slidenum">
              <a:rPr lang="ru-RU" smtClean="0"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0473063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2830907292_0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2830907292_0_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2026410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2830907292_0_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2830907292_0_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852515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2943869d07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2943869d07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5760874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2830907292_0_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2830907292_0_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С</a:t>
            </a:r>
            <a:r>
              <a:rPr lang="en" dirty="0"/>
              <a:t>оставлять такую анкету вручную долго + ты не всегда уверен, что всё учел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924479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2830907292_0_1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9" name="Google Shape;249;g2830907292_0_1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4893342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2830907292_0_1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9" name="Google Shape;259;g2830907292_0_1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3906026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2830907292_0_1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0" name="Google Shape;270;g2830907292_0_1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5482500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863dd56076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863dd56076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u="sng">
                <a:solidFill>
                  <a:schemeClr val="hlink"/>
                </a:solidFill>
                <a:hlinkClick r:id="rId3"/>
              </a:rPr>
              <a:t>http://vja.ruslang.ru/ru/archive/2005-1/3-30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97370672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863dd56076_1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863dd56076_1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1275190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8829e67890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8829e67890_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0525833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863dd56076_1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863dd56076_1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8800898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863dd56076_1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863dd56076_1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6029239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86576f17eb_0_1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86576f17eb_0_1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6606027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8829e67890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8829e67890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904732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863dd56076_1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863dd56076_1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1876466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8829e67890_2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1" name="Google Shape;271;g8829e67890_2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725046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474EA3-F801-4325-85D7-7802763B6A3D}" type="datetimeFigureOut">
              <a:rPr lang="ru-RU" smtClean="0"/>
              <a:t>11.02.2026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31E9B-5C3D-4714-8F15-3277D4063BE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211064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474EA3-F801-4325-85D7-7802763B6A3D}" type="datetimeFigureOut">
              <a:rPr lang="ru-RU" smtClean="0"/>
              <a:t>11.02.2026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31E9B-5C3D-4714-8F15-3277D4063BE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403844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474EA3-F801-4325-85D7-7802763B6A3D}" type="datetimeFigureOut">
              <a:rPr lang="ru-RU" smtClean="0"/>
              <a:t>11.02.2026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31E9B-5C3D-4714-8F15-3277D4063BE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472244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474EA3-F801-4325-85D7-7802763B6A3D}" type="datetimeFigureOut">
              <a:rPr lang="ru-RU" smtClean="0"/>
              <a:t>11.02.2026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31E9B-5C3D-4714-8F15-3277D4063BE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876062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474EA3-F801-4325-85D7-7802763B6A3D}" type="datetimeFigureOut">
              <a:rPr lang="ru-RU" smtClean="0"/>
              <a:t>11.02.2026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31E9B-5C3D-4714-8F15-3277D4063BE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095097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474EA3-F801-4325-85D7-7802763B6A3D}" type="datetimeFigureOut">
              <a:rPr lang="ru-RU" smtClean="0"/>
              <a:t>11.02.2026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31E9B-5C3D-4714-8F15-3277D4063BE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426099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474EA3-F801-4325-85D7-7802763B6A3D}" type="datetimeFigureOut">
              <a:rPr lang="ru-RU" smtClean="0"/>
              <a:t>11.02.2026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31E9B-5C3D-4714-8F15-3277D4063BE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93777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474EA3-F801-4325-85D7-7802763B6A3D}" type="datetimeFigureOut">
              <a:rPr lang="ru-RU" smtClean="0"/>
              <a:t>11.02.2026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31E9B-5C3D-4714-8F15-3277D4063BE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502231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474EA3-F801-4325-85D7-7802763B6A3D}" type="datetimeFigureOut">
              <a:rPr lang="ru-RU" smtClean="0"/>
              <a:t>11.02.2026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31E9B-5C3D-4714-8F15-3277D4063BE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845315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474EA3-F801-4325-85D7-7802763B6A3D}" type="datetimeFigureOut">
              <a:rPr lang="ru-RU" smtClean="0"/>
              <a:t>11.02.2026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31E9B-5C3D-4714-8F15-3277D4063BE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591915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474EA3-F801-4325-85D7-7802763B6A3D}" type="datetimeFigureOut">
              <a:rPr lang="ru-RU" smtClean="0"/>
              <a:t>11.02.2026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31E9B-5C3D-4714-8F15-3277D4063BE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3965209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/>
          <p:nvPr/>
        </p:nvSpPr>
        <p:spPr>
          <a:xfrm>
            <a:off x="-100" y="6727600"/>
            <a:ext cx="12192000" cy="1304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7" name="Google Shape;27;p4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943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body" idx="1"/>
          </p:nvPr>
        </p:nvSpPr>
        <p:spPr>
          <a:xfrm>
            <a:off x="415600" y="1688433"/>
            <a:ext cx="11360800" cy="44036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57189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>
              <a:spcBef>
                <a:spcPts val="2133"/>
              </a:spcBef>
              <a:spcAft>
                <a:spcPts val="2133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3991603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474EA3-F801-4325-85D7-7802763B6A3D}" type="datetimeFigureOut">
              <a:rPr lang="ru-RU" smtClean="0"/>
              <a:t>11.02.2026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131E9B-5C3D-4714-8F15-3277D4063BE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918789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9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2.png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260629" y="1122363"/>
            <a:ext cx="9407371" cy="2387600"/>
          </a:xfrm>
        </p:spPr>
        <p:txBody>
          <a:bodyPr/>
          <a:lstStyle/>
          <a:p>
            <a:r>
              <a:rPr lang="ru-RU" dirty="0"/>
              <a:t>Дистрибутивные модели - 2</a:t>
            </a:r>
          </a:p>
        </p:txBody>
      </p:sp>
    </p:spTree>
    <p:extLst>
      <p:ext uri="{BB962C8B-B14F-4D97-AF65-F5344CB8AC3E}">
        <p14:creationId xmlns:p14="http://schemas.microsoft.com/office/powerpoint/2010/main" val="23979622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DD9F8E5-263C-43E1-ACFC-B78B0366C3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План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280AB93-8C8B-4986-AAC7-6E9621287F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Краткое содержание предыдущей серии: матрицы совместной встречаемости</a:t>
            </a:r>
          </a:p>
          <a:p>
            <a:r>
              <a:rPr lang="en-US" dirty="0"/>
              <a:t>Word2vec</a:t>
            </a:r>
          </a:p>
          <a:p>
            <a:r>
              <a:rPr lang="en-US" dirty="0"/>
              <a:t>Word sense induction:</a:t>
            </a:r>
          </a:p>
          <a:p>
            <a:pPr lvl="1"/>
            <a:r>
              <a:rPr lang="en-US" sz="2800" dirty="0"/>
              <a:t>WSI vs. VSD</a:t>
            </a:r>
          </a:p>
          <a:p>
            <a:pPr lvl="1"/>
            <a:r>
              <a:rPr lang="ru-RU" sz="2800" dirty="0"/>
              <a:t>Кластеризация</a:t>
            </a:r>
          </a:p>
          <a:p>
            <a:pPr lvl="1"/>
            <a:r>
              <a:rPr lang="ru-RU" sz="2800" dirty="0"/>
              <a:t>Подходы к </a:t>
            </a:r>
            <a:r>
              <a:rPr lang="en-US" sz="2800" dirty="0"/>
              <a:t>WSI</a:t>
            </a:r>
            <a:endParaRPr lang="ru-RU" sz="2800" dirty="0"/>
          </a:p>
          <a:p>
            <a:pPr lvl="1"/>
            <a:r>
              <a:rPr lang="en-US" sz="2800" dirty="0"/>
              <a:t>Case study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41075323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A62868A-7B1E-45E7-ABF6-A85FC471F5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Матрицы совместной встречаемости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A2031E05-45B2-4523-B037-01F61B21E1B5}"/>
              </a:ext>
            </a:extLst>
          </p:cNvPr>
          <p:cNvPicPr>
            <a:picLocks noGrp="1"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347404" y="1700266"/>
            <a:ext cx="7137302" cy="47926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25086842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81D1E1B-7E87-4825-B2ED-AA03EAD792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Матрицы совместной встречаемости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90EE9E6-5751-4F8F-B566-571E86FE2E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Как строится такая модель?</a:t>
            </a:r>
          </a:p>
          <a:p>
            <a:r>
              <a:rPr lang="ru-RU" dirty="0"/>
              <a:t>В чем ее достоинства и недостатки?</a:t>
            </a:r>
          </a:p>
          <a:p>
            <a:r>
              <a:rPr lang="ru-RU" dirty="0"/>
              <a:t>Для моделирования каких единиц подходит?</a:t>
            </a:r>
          </a:p>
        </p:txBody>
      </p:sp>
    </p:spTree>
    <p:extLst>
      <p:ext uri="{BB962C8B-B14F-4D97-AF65-F5344CB8AC3E}">
        <p14:creationId xmlns:p14="http://schemas.microsoft.com/office/powerpoint/2010/main" val="5437556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FA589AC-652D-4DD5-821B-37DD887A9F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Область применения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C853D8A-7EA9-432D-972D-3BF95A2033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dirty="0"/>
              <a:t>Расстояние между векторами </a:t>
            </a:r>
            <a:r>
              <a:rPr lang="en-US" dirty="0"/>
              <a:t>~ </a:t>
            </a:r>
            <a:r>
              <a:rPr lang="ru-RU" dirty="0"/>
              <a:t>семантическая близость:</a:t>
            </a:r>
          </a:p>
          <a:p>
            <a:r>
              <a:rPr lang="ru-RU" dirty="0"/>
              <a:t>Парадигматическая (синонимы, антонимы, гипонимы-</a:t>
            </a:r>
            <a:r>
              <a:rPr lang="ru-RU" dirty="0" err="1"/>
              <a:t>гиперонимы</a:t>
            </a:r>
            <a:r>
              <a:rPr lang="ru-RU" dirty="0"/>
              <a:t>)</a:t>
            </a:r>
            <a:r>
              <a:rPr lang="en-US" dirty="0"/>
              <a:t> = similarity</a:t>
            </a:r>
            <a:endParaRPr lang="ru-RU" dirty="0"/>
          </a:p>
          <a:p>
            <a:r>
              <a:rPr lang="ru-RU" dirty="0"/>
              <a:t>Синтагматическая</a:t>
            </a:r>
            <a:r>
              <a:rPr lang="en-US" dirty="0"/>
              <a:t> = relatedness</a:t>
            </a:r>
            <a:r>
              <a:rPr lang="ru-RU" dirty="0"/>
              <a:t>:</a:t>
            </a:r>
          </a:p>
          <a:p>
            <a:pPr lvl="1"/>
            <a:r>
              <a:rPr lang="en-US" dirty="0"/>
              <a:t>Collocations </a:t>
            </a:r>
            <a:r>
              <a:rPr lang="ru-RU" dirty="0"/>
              <a:t>(устойчивые сочетания с конкретными словами)</a:t>
            </a:r>
            <a:endParaRPr lang="en-US" dirty="0"/>
          </a:p>
          <a:p>
            <a:pPr lvl="1"/>
            <a:r>
              <a:rPr lang="en-US" dirty="0"/>
              <a:t>Colligations</a:t>
            </a:r>
            <a:r>
              <a:rPr lang="ru-RU" dirty="0"/>
              <a:t> (устойчивая связь с определенными грамматическими паттернами)</a:t>
            </a:r>
            <a:endParaRPr lang="en-US" dirty="0"/>
          </a:p>
          <a:p>
            <a:pPr lvl="1"/>
            <a:r>
              <a:rPr lang="en-US" dirty="0"/>
              <a:t>Semantic preference</a:t>
            </a:r>
            <a:r>
              <a:rPr lang="ru-RU" dirty="0"/>
              <a:t> (предпочтение к сочетаемости со словами определенных семантических классов)</a:t>
            </a:r>
          </a:p>
          <a:p>
            <a:pPr lvl="1"/>
            <a:endParaRPr lang="ru-RU" dirty="0"/>
          </a:p>
          <a:p>
            <a:pPr marL="457200" lvl="1" indent="0">
              <a:buNone/>
            </a:pPr>
            <a:r>
              <a:rPr lang="en-US" dirty="0"/>
              <a:t>(Geeraerts et al. 2024)</a:t>
            </a:r>
          </a:p>
        </p:txBody>
      </p:sp>
    </p:spTree>
    <p:extLst>
      <p:ext uri="{BB962C8B-B14F-4D97-AF65-F5344CB8AC3E}">
        <p14:creationId xmlns:p14="http://schemas.microsoft.com/office/powerpoint/2010/main" val="3825051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C32BFDD-8577-4180-BC01-E89257D675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Дистрибутивные модели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ED30CBC-0219-4F80-9CF9-BE3CC9A1D2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Матрицы совместной встречаемости</a:t>
            </a:r>
          </a:p>
          <a:p>
            <a:r>
              <a:rPr lang="ru-RU" b="1" dirty="0"/>
              <a:t>Нейросети (</a:t>
            </a:r>
            <a:r>
              <a:rPr lang="en-US" b="1" dirty="0"/>
              <a:t>word2vec </a:t>
            </a:r>
            <a:r>
              <a:rPr lang="ru-RU" b="1" dirty="0"/>
              <a:t>и дальше)</a:t>
            </a:r>
          </a:p>
          <a:p>
            <a:r>
              <a:rPr lang="ru-RU" dirty="0"/>
              <a:t>Трансформеры (</a:t>
            </a:r>
            <a:r>
              <a:rPr lang="en-US" dirty="0"/>
              <a:t>BERT </a:t>
            </a:r>
            <a:r>
              <a:rPr lang="ru-RU" dirty="0"/>
              <a:t>и дальше)</a:t>
            </a:r>
          </a:p>
          <a:p>
            <a:endParaRPr lang="ru-RU" dirty="0"/>
          </a:p>
          <a:p>
            <a:pPr marL="0" indent="0">
              <a:buNone/>
            </a:pPr>
            <a:r>
              <a:rPr lang="en-US" dirty="0"/>
              <a:t>Don’t count, predict!</a:t>
            </a:r>
            <a:endParaRPr lang="ru-RU" dirty="0"/>
          </a:p>
        </p:txBody>
      </p:sp>
      <p:sp>
        <p:nvSpPr>
          <p:cNvPr id="4" name="Правая круглая скобка 3">
            <a:extLst>
              <a:ext uri="{FF2B5EF4-FFF2-40B4-BE49-F238E27FC236}">
                <a16:creationId xmlns:a16="http://schemas.microsoft.com/office/drawing/2014/main" id="{3E72DE6A-EC44-4E1B-9BAC-7F6724724976}"/>
              </a:ext>
            </a:extLst>
          </p:cNvPr>
          <p:cNvSpPr/>
          <p:nvPr/>
        </p:nvSpPr>
        <p:spPr>
          <a:xfrm>
            <a:off x="6968971" y="1908699"/>
            <a:ext cx="88777" cy="328474"/>
          </a:xfrm>
          <a:prstGeom prst="rightBracket">
            <a:avLst/>
          </a:prstGeom>
          <a:noFill/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Правая круглая скобка 4">
            <a:extLst>
              <a:ext uri="{FF2B5EF4-FFF2-40B4-BE49-F238E27FC236}">
                <a16:creationId xmlns:a16="http://schemas.microsoft.com/office/drawing/2014/main" id="{60928B6B-7B1A-4E29-9B54-465EF0101515}"/>
              </a:ext>
            </a:extLst>
          </p:cNvPr>
          <p:cNvSpPr/>
          <p:nvPr/>
        </p:nvSpPr>
        <p:spPr>
          <a:xfrm>
            <a:off x="6968971" y="2389572"/>
            <a:ext cx="88777" cy="886287"/>
          </a:xfrm>
          <a:prstGeom prst="rightBracket">
            <a:avLst/>
          </a:prstGeom>
          <a:noFill/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DE19C8C-A17C-4A65-8C69-555F9E5A1490}"/>
              </a:ext>
            </a:extLst>
          </p:cNvPr>
          <p:cNvSpPr txBox="1"/>
          <p:nvPr/>
        </p:nvSpPr>
        <p:spPr>
          <a:xfrm>
            <a:off x="7297445" y="1811326"/>
            <a:ext cx="211288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count-based</a:t>
            </a:r>
            <a:endParaRPr lang="ru-RU" sz="2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8A2C1FD-0FCD-4F49-A5D4-47B42F8702B7}"/>
              </a:ext>
            </a:extLst>
          </p:cNvPr>
          <p:cNvSpPr txBox="1"/>
          <p:nvPr/>
        </p:nvSpPr>
        <p:spPr>
          <a:xfrm>
            <a:off x="7297444" y="2571105"/>
            <a:ext cx="311606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prediction-based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25830432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5F284EE-49E9-4DFB-A3A8-E0E48592B9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6359" y="134307"/>
            <a:ext cx="10515600" cy="735706"/>
          </a:xfrm>
        </p:spPr>
        <p:txBody>
          <a:bodyPr/>
          <a:lstStyle/>
          <a:p>
            <a:r>
              <a:rPr lang="en-US" dirty="0"/>
              <a:t>Word2vec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BDFC9D4-8605-4364-9A2F-423B060E3E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6359" y="6454823"/>
            <a:ext cx="10515600" cy="370967"/>
          </a:xfrm>
        </p:spPr>
        <p:txBody>
          <a:bodyPr/>
          <a:lstStyle/>
          <a:p>
            <a:pPr marL="0" indent="0">
              <a:buNone/>
            </a:pPr>
            <a:r>
              <a:rPr lang="en-US" sz="2000" dirty="0"/>
              <a:t>https://github.com/dashapopova/CompSem2026/blob/main/CompSem_word2vec_2026.ipynb</a:t>
            </a: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74840F7-EEBE-4022-8894-F08B6C0F820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9972" y="870013"/>
            <a:ext cx="8208373" cy="52200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70959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C32BFDD-8577-4180-BC01-E89257D675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Дистрибутивные модели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ED30CBC-0219-4F80-9CF9-BE3CC9A1D2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Матрицы совместной встречаемости</a:t>
            </a:r>
          </a:p>
          <a:p>
            <a:r>
              <a:rPr lang="ru-RU" b="1" dirty="0"/>
              <a:t>Нейросети (</a:t>
            </a:r>
            <a:r>
              <a:rPr lang="en-US" b="1" dirty="0"/>
              <a:t>word2vec </a:t>
            </a:r>
            <a:r>
              <a:rPr lang="ru-RU" b="1" dirty="0"/>
              <a:t>и др.)</a:t>
            </a:r>
          </a:p>
          <a:p>
            <a:r>
              <a:rPr lang="ru-RU" dirty="0" err="1"/>
              <a:t>Контекстуализированные</a:t>
            </a:r>
            <a:r>
              <a:rPr lang="ru-RU" dirty="0"/>
              <a:t>: </a:t>
            </a:r>
            <a:r>
              <a:rPr lang="en-US" dirty="0"/>
              <a:t>BERT, </a:t>
            </a:r>
            <a:r>
              <a:rPr lang="en-US" dirty="0" err="1"/>
              <a:t>ELMo</a:t>
            </a:r>
            <a:r>
              <a:rPr lang="ru-RU" dirty="0"/>
              <a:t>…</a:t>
            </a:r>
          </a:p>
          <a:p>
            <a:pPr marL="0" indent="0">
              <a:buNone/>
            </a:pPr>
            <a:endParaRPr lang="ru-RU" dirty="0"/>
          </a:p>
        </p:txBody>
      </p:sp>
      <p:sp>
        <p:nvSpPr>
          <p:cNvPr id="4" name="Правая круглая скобка 3">
            <a:extLst>
              <a:ext uri="{FF2B5EF4-FFF2-40B4-BE49-F238E27FC236}">
                <a16:creationId xmlns:a16="http://schemas.microsoft.com/office/drawing/2014/main" id="{3E72DE6A-EC44-4E1B-9BAC-7F6724724976}"/>
              </a:ext>
            </a:extLst>
          </p:cNvPr>
          <p:cNvSpPr/>
          <p:nvPr/>
        </p:nvSpPr>
        <p:spPr>
          <a:xfrm>
            <a:off x="7093258" y="2903533"/>
            <a:ext cx="88777" cy="328474"/>
          </a:xfrm>
          <a:prstGeom prst="rightBracket">
            <a:avLst/>
          </a:prstGeom>
          <a:noFill/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Правая круглая скобка 4">
            <a:extLst>
              <a:ext uri="{FF2B5EF4-FFF2-40B4-BE49-F238E27FC236}">
                <a16:creationId xmlns:a16="http://schemas.microsoft.com/office/drawing/2014/main" id="{60928B6B-7B1A-4E29-9B54-465EF0101515}"/>
              </a:ext>
            </a:extLst>
          </p:cNvPr>
          <p:cNvSpPr/>
          <p:nvPr/>
        </p:nvSpPr>
        <p:spPr>
          <a:xfrm>
            <a:off x="7093257" y="1906660"/>
            <a:ext cx="88777" cy="886287"/>
          </a:xfrm>
          <a:prstGeom prst="rightBracket">
            <a:avLst/>
          </a:prstGeom>
          <a:noFill/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DE19C8C-A17C-4A65-8C69-555F9E5A1490}"/>
              </a:ext>
            </a:extLst>
          </p:cNvPr>
          <p:cNvSpPr txBox="1"/>
          <p:nvPr/>
        </p:nvSpPr>
        <p:spPr>
          <a:xfrm>
            <a:off x="7297445" y="2088194"/>
            <a:ext cx="211288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static</a:t>
            </a:r>
            <a:endParaRPr lang="ru-RU" sz="2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8A2C1FD-0FCD-4F49-A5D4-47B42F8702B7}"/>
              </a:ext>
            </a:extLst>
          </p:cNvPr>
          <p:cNvSpPr txBox="1"/>
          <p:nvPr/>
        </p:nvSpPr>
        <p:spPr>
          <a:xfrm>
            <a:off x="7297445" y="2806160"/>
            <a:ext cx="311606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dynamic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9873645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41F3507-4B91-49CA-8C83-577E18CB2D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Word Sense Induction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2324750-E2F8-43DC-A3D8-4DB51ECDC8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72359"/>
            <a:ext cx="10515600" cy="4351338"/>
          </a:xfrm>
        </p:spPr>
        <p:txBody>
          <a:bodyPr>
            <a:normAutofit lnSpcReduction="10000"/>
          </a:bodyPr>
          <a:lstStyle/>
          <a:p>
            <a:r>
              <a:rPr lang="ru-RU" dirty="0"/>
              <a:t>Методы обнаружения полисемии и работы с ней: вычисление отдельных векторных представлений для разных значений многозначного слова</a:t>
            </a:r>
          </a:p>
          <a:p>
            <a:r>
              <a:rPr lang="ru-RU" dirty="0"/>
              <a:t>Чем отличается от </a:t>
            </a:r>
            <a:r>
              <a:rPr lang="en-US" dirty="0"/>
              <a:t>Word Sense Disambiguation?</a:t>
            </a:r>
          </a:p>
          <a:p>
            <a:pPr lvl="1"/>
            <a:r>
              <a:rPr lang="ru-RU" dirty="0"/>
              <a:t>Нет заданного списка значений (</a:t>
            </a:r>
            <a:r>
              <a:rPr lang="en-US" dirty="0"/>
              <a:t>unsupervised</a:t>
            </a:r>
            <a:r>
              <a:rPr lang="ru-RU" dirty="0"/>
              <a:t>)</a:t>
            </a:r>
            <a:r>
              <a:rPr lang="en-US" dirty="0"/>
              <a:t> =&gt; </a:t>
            </a:r>
            <a:r>
              <a:rPr lang="ru-RU" dirty="0"/>
              <a:t>перспективнее для </a:t>
            </a:r>
            <a:r>
              <a:rPr lang="en-US" dirty="0"/>
              <a:t>NLP </a:t>
            </a:r>
            <a:r>
              <a:rPr lang="ru-RU" dirty="0"/>
              <a:t>приложений</a:t>
            </a:r>
          </a:p>
          <a:p>
            <a:pPr lvl="1"/>
            <a:r>
              <a:rPr lang="ru-RU" dirty="0"/>
              <a:t>Разумнее с лингвистической точки зрения (</a:t>
            </a:r>
            <a:r>
              <a:rPr lang="en-US" dirty="0"/>
              <a:t>data-driven; </a:t>
            </a:r>
            <a:r>
              <a:rPr lang="ru-RU" dirty="0"/>
              <a:t>континуум от </a:t>
            </a:r>
            <a:r>
              <a:rPr lang="ru-RU" dirty="0" err="1"/>
              <a:t>моносемии</a:t>
            </a:r>
            <a:r>
              <a:rPr lang="ru-RU" dirty="0"/>
              <a:t> к омонимии)</a:t>
            </a:r>
          </a:p>
          <a:p>
            <a:pPr lvl="1"/>
            <a:r>
              <a:rPr lang="ru-RU" dirty="0"/>
              <a:t>В целом между этими двумя задачами нет четкой границы</a:t>
            </a:r>
          </a:p>
          <a:p>
            <a:pPr marL="0" indent="0">
              <a:buNone/>
            </a:pPr>
            <a:r>
              <a:rPr lang="ru-RU" dirty="0"/>
              <a:t>Методологически </a:t>
            </a:r>
            <a:r>
              <a:rPr lang="en-US" dirty="0"/>
              <a:t>WSD – </a:t>
            </a:r>
            <a:r>
              <a:rPr lang="ru-RU" dirty="0"/>
              <a:t>скорее классификация, </a:t>
            </a:r>
            <a:r>
              <a:rPr lang="en-US" dirty="0"/>
              <a:t>WSI – </a:t>
            </a:r>
            <a:r>
              <a:rPr lang="ru-RU" dirty="0"/>
              <a:t>кластеризация</a:t>
            </a:r>
          </a:p>
        </p:txBody>
      </p:sp>
    </p:spTree>
    <p:extLst>
      <p:ext uri="{BB962C8B-B14F-4D97-AF65-F5344CB8AC3E}">
        <p14:creationId xmlns:p14="http://schemas.microsoft.com/office/powerpoint/2010/main" val="8133922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Кластеризация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Bef>
                <a:spcPts val="1200"/>
              </a:spcBef>
            </a:pPr>
            <a:r>
              <a:rPr lang="ru-RU" dirty="0"/>
              <a:t>Алгоритмы с автоматическим определением числа кластеров</a:t>
            </a:r>
            <a:r>
              <a:rPr lang="en-US" dirty="0"/>
              <a:t>:</a:t>
            </a:r>
          </a:p>
          <a:p>
            <a:pPr lvl="1">
              <a:spcBef>
                <a:spcPts val="1200"/>
              </a:spcBef>
            </a:pPr>
            <a:r>
              <a:rPr lang="en-US" dirty="0"/>
              <a:t>Affinity propagation</a:t>
            </a:r>
          </a:p>
          <a:p>
            <a:pPr lvl="1">
              <a:spcBef>
                <a:spcPts val="1200"/>
              </a:spcBef>
            </a:pPr>
            <a:r>
              <a:rPr lang="en-US" dirty="0" err="1"/>
              <a:t>DBScan</a:t>
            </a:r>
            <a:endParaRPr lang="en-US" dirty="0"/>
          </a:p>
          <a:p>
            <a:pPr lvl="1">
              <a:spcBef>
                <a:spcPts val="1200"/>
              </a:spcBef>
            </a:pPr>
            <a:r>
              <a:rPr lang="ru-RU" b="1" dirty="0"/>
              <a:t>Иерархическая кластеризация</a:t>
            </a:r>
            <a:r>
              <a:rPr lang="ru-RU" dirty="0"/>
              <a:t>…</a:t>
            </a:r>
          </a:p>
          <a:p>
            <a:pPr>
              <a:spcBef>
                <a:spcPts val="1200"/>
              </a:spcBef>
            </a:pPr>
            <a:r>
              <a:rPr lang="ru-RU" dirty="0"/>
              <a:t>Алгоритмы без определения числа кластеров:</a:t>
            </a:r>
          </a:p>
          <a:p>
            <a:pPr lvl="1">
              <a:spcBef>
                <a:spcPts val="1200"/>
              </a:spcBef>
            </a:pPr>
            <a:r>
              <a:rPr lang="en-US" b="1" dirty="0"/>
              <a:t>K-</a:t>
            </a:r>
            <a:r>
              <a:rPr lang="ru-RU" b="1" dirty="0"/>
              <a:t>средних</a:t>
            </a:r>
          </a:p>
          <a:p>
            <a:pPr lvl="1">
              <a:spcBef>
                <a:spcPts val="1200"/>
              </a:spcBef>
            </a:pPr>
            <a:r>
              <a:rPr lang="ru-RU" dirty="0" err="1"/>
              <a:t>Графовые</a:t>
            </a:r>
            <a:endParaRPr lang="ru-RU" dirty="0"/>
          </a:p>
          <a:p>
            <a:pPr lvl="1">
              <a:spcBef>
                <a:spcPts val="1200"/>
              </a:spcBef>
            </a:pPr>
            <a:r>
              <a:rPr lang="ru-RU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5635373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03058" y="466758"/>
            <a:ext cx="7631120" cy="943200"/>
          </a:xfrm>
        </p:spPr>
        <p:txBody>
          <a:bodyPr/>
          <a:lstStyle/>
          <a:p>
            <a:r>
              <a:rPr lang="ru-RU" dirty="0"/>
              <a:t>Иерархическая кластеризация</a:t>
            </a: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2511" y="572598"/>
            <a:ext cx="6103785" cy="57390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05294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15600" y="382351"/>
            <a:ext cx="5098935" cy="943200"/>
          </a:xfrm>
        </p:spPr>
        <p:txBody>
          <a:bodyPr/>
          <a:lstStyle/>
          <a:p>
            <a:r>
              <a:rPr lang="ru-RU" dirty="0"/>
              <a:t>Алгоритм </a:t>
            </a:r>
            <a:r>
              <a:rPr lang="en-US" dirty="0"/>
              <a:t>K-</a:t>
            </a:r>
            <a:r>
              <a:rPr lang="ru-RU" dirty="0"/>
              <a:t>средних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15600" y="1142310"/>
            <a:ext cx="11360800" cy="366482"/>
          </a:xfrm>
        </p:spPr>
        <p:txBody>
          <a:bodyPr>
            <a:normAutofit fontScale="55000" lnSpcReduction="20000"/>
          </a:bodyPr>
          <a:lstStyle/>
          <a:p>
            <a:pPr marL="152396" indent="0">
              <a:buNone/>
            </a:pPr>
            <a:r>
              <a:rPr lang="en-US" dirty="0"/>
              <a:t>https://www.intuit.ru/studies/courses/6/6/lecture/184</a:t>
            </a:r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8653" y="112541"/>
            <a:ext cx="5719396" cy="6494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91517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1723A2A-CB8A-4B84-B801-70F18B84A8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Кластеризация в </a:t>
            </a:r>
            <a:r>
              <a:rPr lang="en-US" dirty="0"/>
              <a:t>WSI</a:t>
            </a:r>
            <a:endParaRPr lang="ru-RU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1913C0E-D062-4AC4-985F-C17A51A288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marL="152396" indent="0">
              <a:buNone/>
            </a:pPr>
            <a:r>
              <a:rPr lang="ru-RU" dirty="0"/>
              <a:t>Одна из существенных проблем </a:t>
            </a:r>
            <a:r>
              <a:rPr lang="en-US" dirty="0"/>
              <a:t>WSI –</a:t>
            </a:r>
            <a:r>
              <a:rPr lang="ru-RU" dirty="0"/>
              <a:t> определение количества значений многозначного слова. Решается по-разному:</a:t>
            </a:r>
            <a:endParaRPr lang="en-US" dirty="0"/>
          </a:p>
          <a:p>
            <a:pPr marL="152396" indent="0">
              <a:buNone/>
            </a:pPr>
            <a:endParaRPr lang="ru-RU" dirty="0"/>
          </a:p>
          <a:p>
            <a:r>
              <a:rPr lang="ru-RU" dirty="0"/>
              <a:t>В </a:t>
            </a:r>
            <a:r>
              <a:rPr lang="en-US" dirty="0"/>
              <a:t>knowledge-based </a:t>
            </a:r>
            <a:r>
              <a:rPr lang="ru-RU" dirty="0"/>
              <a:t>подходах – с опорой на базу знаний</a:t>
            </a:r>
          </a:p>
          <a:p>
            <a:r>
              <a:rPr lang="ru-RU" dirty="0"/>
              <a:t>Часто просто устанавливается по умолчанию одинаковый уровень для всех слов (например, предполагаем, что у каждого слова 3 значения)</a:t>
            </a:r>
          </a:p>
          <a:p>
            <a:r>
              <a:rPr lang="ru-RU" dirty="0"/>
              <a:t>Подбирается автоматически на основе </a:t>
            </a:r>
            <a:r>
              <a:rPr lang="en-US" dirty="0"/>
              <a:t>silhouette score </a:t>
            </a:r>
            <a:r>
              <a:rPr lang="en-US" b="0" i="0" dirty="0">
                <a:solidFill>
                  <a:srgbClr val="000000"/>
                </a:solidFill>
                <a:effectLst/>
              </a:rPr>
              <a:t>(</a:t>
            </a:r>
            <a:r>
              <a:rPr lang="en-US" b="0" i="0" dirty="0" err="1">
                <a:solidFill>
                  <a:srgbClr val="000000"/>
                </a:solidFill>
                <a:effectLst/>
              </a:rPr>
              <a:t>Rousseeuw</a:t>
            </a:r>
            <a:r>
              <a:rPr lang="en-US" b="0" i="0" dirty="0">
                <a:solidFill>
                  <a:srgbClr val="000000"/>
                </a:solidFill>
                <a:effectLst/>
              </a:rPr>
              <a:t> 1987)</a:t>
            </a:r>
          </a:p>
          <a:p>
            <a:r>
              <a:rPr lang="ru-RU" dirty="0">
                <a:solidFill>
                  <a:srgbClr val="000000"/>
                </a:solidFill>
              </a:rPr>
              <a:t>Классификация на основе дистрибутивных характеристик и лингвистических профилей </a:t>
            </a:r>
            <a:r>
              <a:rPr lang="en-US" dirty="0">
                <a:solidFill>
                  <a:srgbClr val="000000"/>
                </a:solidFill>
              </a:rPr>
              <a:t>(</a:t>
            </a:r>
            <a:r>
              <a:rPr lang="en-US" dirty="0" err="1">
                <a:solidFill>
                  <a:srgbClr val="000000"/>
                </a:solidFill>
              </a:rPr>
              <a:t>Aksenova</a:t>
            </a:r>
            <a:r>
              <a:rPr lang="en-US" dirty="0">
                <a:solidFill>
                  <a:srgbClr val="000000"/>
                </a:solidFill>
              </a:rPr>
              <a:t> 2022)</a:t>
            </a:r>
            <a:br>
              <a:rPr lang="en-US" dirty="0"/>
            </a:b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71910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Методы </a:t>
            </a:r>
            <a:r>
              <a:rPr lang="en-US" dirty="0"/>
              <a:t>WSI:</a:t>
            </a:r>
            <a:br>
              <a:rPr lang="ru-RU" dirty="0"/>
            </a:br>
            <a:r>
              <a:rPr lang="ru-RU" sz="3600" dirty="0"/>
              <a:t>на основе уже готовых глобальных векторов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2163223"/>
            <a:ext cx="10515600" cy="3696039"/>
          </a:xfrm>
        </p:spPr>
        <p:txBody>
          <a:bodyPr>
            <a:normAutofit/>
          </a:bodyPr>
          <a:lstStyle/>
          <a:p>
            <a:r>
              <a:rPr lang="ru-RU" dirty="0"/>
              <a:t>Разбиение готового вектора на несколько:</a:t>
            </a:r>
          </a:p>
          <a:p>
            <a:pPr marL="0" indent="0">
              <a:buNone/>
            </a:pPr>
            <a:r>
              <a:rPr lang="ru-RU" dirty="0"/>
              <a:t>КОСА – ВОЛОС = МЫС, ПОЛУОСТРОВ</a:t>
            </a:r>
          </a:p>
          <a:p>
            <a:r>
              <a:rPr lang="ru-RU" dirty="0"/>
              <a:t>Кластеризация соседей (являются ли соседями друг для друга)</a:t>
            </a:r>
          </a:p>
          <a:p>
            <a:r>
              <a:rPr lang="ru-RU" dirty="0"/>
              <a:t>Кластеризация контекстов</a:t>
            </a:r>
          </a:p>
          <a:p>
            <a:r>
              <a:rPr lang="ru-RU" dirty="0"/>
              <a:t>(см. </a:t>
            </a:r>
            <a:r>
              <a:rPr lang="en-US" dirty="0"/>
              <a:t>Case study</a:t>
            </a:r>
            <a:r>
              <a:rPr lang="ru-RU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6774790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2174AD8-3F9B-462B-9548-9EEB5E0A18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808"/>
            <a:ext cx="10515600" cy="1325563"/>
          </a:xfrm>
        </p:spPr>
        <p:txBody>
          <a:bodyPr/>
          <a:lstStyle/>
          <a:p>
            <a:r>
              <a:rPr lang="ru-RU" dirty="0"/>
              <a:t>Методы </a:t>
            </a:r>
            <a:r>
              <a:rPr lang="en-US" dirty="0"/>
              <a:t>WSI:</a:t>
            </a:r>
            <a:br>
              <a:rPr lang="en-US" dirty="0"/>
            </a:br>
            <a:r>
              <a:rPr lang="ru-RU" sz="3600" dirty="0"/>
              <a:t>на этапе обучения моделей типа </a:t>
            </a:r>
            <a:r>
              <a:rPr lang="en-US" sz="3600" dirty="0"/>
              <a:t>word2vec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5684560-8843-41AF-8D4E-1B44106DEA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86502"/>
            <a:ext cx="10515600" cy="4214998"/>
          </a:xfrm>
        </p:spPr>
        <p:txBody>
          <a:bodyPr/>
          <a:lstStyle/>
          <a:p>
            <a:r>
              <a:rPr lang="ru-RU" dirty="0"/>
              <a:t>Обучение сразу нескольких векторов для одного слова (разные варианты доработок </a:t>
            </a:r>
            <a:r>
              <a:rPr lang="en-US" dirty="0"/>
              <a:t>word2vec</a:t>
            </a:r>
            <a:r>
              <a:rPr lang="ru-RU" dirty="0"/>
              <a:t>: кластеризация / классификация на этапе обучения)</a:t>
            </a:r>
            <a:endParaRPr lang="en-US" dirty="0"/>
          </a:p>
          <a:p>
            <a:pPr lvl="1"/>
            <a:r>
              <a:rPr lang="ru-RU" dirty="0"/>
              <a:t>ориентация на определения из баз знаний типа </a:t>
            </a:r>
            <a:r>
              <a:rPr lang="en-US" dirty="0"/>
              <a:t>WordNet</a:t>
            </a:r>
          </a:p>
          <a:p>
            <a:pPr lvl="1"/>
            <a:r>
              <a:rPr lang="en-US" dirty="0"/>
              <a:t>Unsupervised </a:t>
            </a:r>
            <a:r>
              <a:rPr lang="ru-RU" dirty="0"/>
              <a:t>кластеризация типа </a:t>
            </a:r>
            <a:r>
              <a:rPr lang="en-US" dirty="0"/>
              <a:t>k-means</a:t>
            </a:r>
            <a:endParaRPr lang="ru-RU" dirty="0"/>
          </a:p>
          <a:p>
            <a:pPr lvl="1"/>
            <a:r>
              <a:rPr lang="ru-RU" dirty="0"/>
              <a:t>Более сложная модель вместо учителя (</a:t>
            </a:r>
            <a:r>
              <a:rPr lang="en-US" dirty="0" err="1"/>
              <a:t>Saha</a:t>
            </a:r>
            <a:r>
              <a:rPr lang="en-US" dirty="0"/>
              <a:t> et al. 2023</a:t>
            </a:r>
            <a:r>
              <a:rPr lang="ru-RU" dirty="0"/>
              <a:t>)</a:t>
            </a:r>
          </a:p>
          <a:p>
            <a:pPr lvl="1"/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26183328-99EC-41AA-9A9F-65351F736B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95537" y="3831223"/>
            <a:ext cx="7400925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73395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A312F7A-3027-46B4-A255-FCD4A3E9ED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Методы </a:t>
            </a:r>
            <a:r>
              <a:rPr lang="en-US" dirty="0"/>
              <a:t>WSI:</a:t>
            </a:r>
            <a:br>
              <a:rPr lang="en-US" dirty="0"/>
            </a:br>
            <a:r>
              <a:rPr lang="ru-RU" sz="3600" dirty="0"/>
              <a:t>на основе </a:t>
            </a:r>
            <a:r>
              <a:rPr lang="ru-RU" sz="3600" dirty="0" err="1"/>
              <a:t>контекстуализированных</a:t>
            </a:r>
            <a:r>
              <a:rPr lang="ru-RU" sz="3600" dirty="0"/>
              <a:t> моделей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69D1E61-0748-4F20-BACA-1A4B8EF93D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64311"/>
            <a:ext cx="10515600" cy="4312652"/>
          </a:xfrm>
        </p:spPr>
        <p:txBody>
          <a:bodyPr/>
          <a:lstStyle/>
          <a:p>
            <a:r>
              <a:rPr lang="ru-RU" dirty="0"/>
              <a:t>Кластеризация контекстов в чистом виде</a:t>
            </a:r>
          </a:p>
          <a:p>
            <a:r>
              <a:rPr lang="ru-RU" dirty="0"/>
              <a:t>Через задачу маскирования (</a:t>
            </a:r>
            <a:r>
              <a:rPr lang="en-US" dirty="0"/>
              <a:t>lexical substitution</a:t>
            </a:r>
            <a:r>
              <a:rPr lang="ru-RU" dirty="0"/>
              <a:t>): кластеризация </a:t>
            </a:r>
            <a:r>
              <a:rPr lang="en-US" dirty="0"/>
              <a:t>top-k </a:t>
            </a:r>
            <a:r>
              <a:rPr lang="ru-RU" dirty="0"/>
              <a:t>предсказаний модели для целевого токена или для токена в сочинительной конструкции</a:t>
            </a:r>
            <a:r>
              <a:rPr lang="en-US" dirty="0"/>
              <a:t> (</a:t>
            </a:r>
            <a:r>
              <a:rPr lang="en-US" dirty="0" err="1"/>
              <a:t>Arefyev</a:t>
            </a:r>
            <a:r>
              <a:rPr lang="en-US" dirty="0"/>
              <a:t> and </a:t>
            </a:r>
            <a:r>
              <a:rPr lang="en-US" dirty="0" err="1"/>
              <a:t>Bykov</a:t>
            </a:r>
            <a:r>
              <a:rPr lang="en-US" dirty="0"/>
              <a:t> 2021)</a:t>
            </a:r>
          </a:p>
          <a:p>
            <a:endParaRPr lang="en-US" dirty="0"/>
          </a:p>
          <a:p>
            <a:pPr marL="0" indent="0">
              <a:buNone/>
            </a:pPr>
            <a:r>
              <a:rPr lang="ru-RU" dirty="0"/>
              <a:t>Лук – традиционное оружие кочевых народов</a:t>
            </a:r>
          </a:p>
          <a:p>
            <a:pPr marL="0" indent="0">
              <a:buNone/>
            </a:pPr>
            <a:r>
              <a:rPr lang="en-US" dirty="0"/>
              <a:t>[MASK] </a:t>
            </a:r>
            <a:r>
              <a:rPr lang="ru-RU" dirty="0"/>
              <a:t>и лук – традиционное оружие кочевых народов</a:t>
            </a:r>
          </a:p>
          <a:p>
            <a:pPr marL="0" indent="0">
              <a:buNone/>
            </a:pPr>
            <a:r>
              <a:rPr lang="ru-RU" dirty="0"/>
              <a:t>Лук и </a:t>
            </a:r>
            <a:r>
              <a:rPr lang="en-US" dirty="0"/>
              <a:t>[MASK] – </a:t>
            </a:r>
            <a:r>
              <a:rPr lang="ru-RU" dirty="0"/>
              <a:t>традиционное оружие кочевых народов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656879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7C20BB7-9D61-4F97-ADC2-2885DCB8B0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8695"/>
            <a:ext cx="10515600" cy="1161834"/>
          </a:xfrm>
        </p:spPr>
        <p:txBody>
          <a:bodyPr>
            <a:normAutofit/>
          </a:bodyPr>
          <a:lstStyle/>
          <a:p>
            <a:r>
              <a:rPr lang="en-US" sz="3600" dirty="0"/>
              <a:t>WSI </a:t>
            </a:r>
            <a:r>
              <a:rPr lang="ru-RU" sz="3600" dirty="0"/>
              <a:t>в эпоху больших моделей</a:t>
            </a:r>
            <a:br>
              <a:rPr lang="en-US" sz="3600" dirty="0"/>
            </a:br>
            <a:r>
              <a:rPr lang="ru-RU" sz="3600" dirty="0"/>
              <a:t>(</a:t>
            </a:r>
            <a:r>
              <a:rPr lang="en-US" sz="3600" dirty="0" err="1"/>
              <a:t>Mosolova</a:t>
            </a:r>
            <a:r>
              <a:rPr lang="en-US" sz="3600" dirty="0"/>
              <a:t> et al. 2025</a:t>
            </a:r>
            <a:r>
              <a:rPr lang="ru-RU" sz="3600" dirty="0"/>
              <a:t>)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1C0628B-3C96-4E5C-B4B0-62CBBADEE9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8114"/>
            <a:ext cx="10515600" cy="5211191"/>
          </a:xfrm>
        </p:spPr>
        <p:txBody>
          <a:bodyPr>
            <a:normAutofit lnSpcReduction="10000"/>
          </a:bodyPr>
          <a:lstStyle/>
          <a:p>
            <a:r>
              <a:rPr lang="ru-RU" dirty="0"/>
              <a:t>Проблемы имеющихся на сегодняшний день подходов и </a:t>
            </a:r>
            <a:r>
              <a:rPr lang="ru-RU" dirty="0" err="1"/>
              <a:t>датасетов</a:t>
            </a:r>
            <a:r>
              <a:rPr lang="ru-RU" dirty="0"/>
              <a:t>:</a:t>
            </a:r>
          </a:p>
          <a:p>
            <a:pPr marL="457200" lvl="1" indent="0">
              <a:buNone/>
            </a:pPr>
            <a:r>
              <a:rPr lang="ru-RU" dirty="0"/>
              <a:t>(1) Перекос в сторону многозначных слов (нарушение естественного распределения однозначных </a:t>
            </a:r>
            <a:r>
              <a:rPr lang="en-US" dirty="0"/>
              <a:t>vs. </a:t>
            </a:r>
            <a:r>
              <a:rPr lang="ru-RU" dirty="0"/>
              <a:t>многозначных слов в текстах)</a:t>
            </a:r>
          </a:p>
          <a:p>
            <a:pPr marL="457200" lvl="1" indent="0">
              <a:buNone/>
            </a:pPr>
            <a:r>
              <a:rPr lang="ru-RU" dirty="0"/>
              <a:t>(2) Заранее определенный «золотой» набор значений</a:t>
            </a:r>
          </a:p>
          <a:p>
            <a:r>
              <a:rPr lang="ru-RU" dirty="0"/>
              <a:t>Предлагают свой </a:t>
            </a:r>
            <a:r>
              <a:rPr lang="ru-RU" dirty="0" err="1"/>
              <a:t>датасет</a:t>
            </a:r>
            <a:r>
              <a:rPr lang="ru-RU" dirty="0"/>
              <a:t>: сплошная разметка корпуса на основе </a:t>
            </a:r>
            <a:r>
              <a:rPr lang="en-US" dirty="0"/>
              <a:t>WordNet-</a:t>
            </a:r>
            <a:r>
              <a:rPr lang="ru-RU" dirty="0"/>
              <a:t>а, т.е. преодолевают первую проблему, но не вторую</a:t>
            </a:r>
          </a:p>
          <a:p>
            <a:r>
              <a:rPr lang="ru-RU" dirty="0"/>
              <a:t>На этом </a:t>
            </a:r>
            <a:r>
              <a:rPr lang="ru-RU" dirty="0" err="1"/>
              <a:t>датасете</a:t>
            </a:r>
            <a:r>
              <a:rPr lang="ru-RU" dirty="0"/>
              <a:t> проверяют несколько имеющихся моделей: </a:t>
            </a:r>
            <a:r>
              <a:rPr lang="en-US" dirty="0"/>
              <a:t>BERT </a:t>
            </a:r>
            <a:r>
              <a:rPr lang="ru-RU" dirty="0" err="1"/>
              <a:t>дообученный</a:t>
            </a:r>
            <a:r>
              <a:rPr lang="ru-RU" dirty="0"/>
              <a:t> и не </a:t>
            </a:r>
            <a:r>
              <a:rPr lang="ru-RU" dirty="0" err="1"/>
              <a:t>дообученный</a:t>
            </a:r>
            <a:r>
              <a:rPr lang="ru-RU" dirty="0"/>
              <a:t>, </a:t>
            </a:r>
            <a:r>
              <a:rPr lang="en-US" dirty="0"/>
              <a:t>ChatGPT-4o, </a:t>
            </a:r>
            <a:r>
              <a:rPr lang="ru-RU" dirty="0"/>
              <a:t>две версии </a:t>
            </a:r>
            <a:r>
              <a:rPr lang="en-US" dirty="0"/>
              <a:t>Llama</a:t>
            </a:r>
            <a:r>
              <a:rPr lang="ru-RU" dirty="0"/>
              <a:t>; отдельно проверяют результаты на разных частях речи</a:t>
            </a:r>
          </a:p>
          <a:p>
            <a:r>
              <a:rPr lang="ru-RU" dirty="0"/>
              <a:t>Ни одна модель не преодолевает </a:t>
            </a:r>
            <a:r>
              <a:rPr lang="en-US" dirty="0"/>
              <a:t>baseline </a:t>
            </a:r>
            <a:r>
              <a:rPr lang="ru-RU" dirty="0"/>
              <a:t>– 1 кластер на лемму (для прилагательных и существительных), для глаголов модели работают чуть лучше, чем </a:t>
            </a:r>
            <a:r>
              <a:rPr lang="en-US" dirty="0"/>
              <a:t>baseline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8902710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33759A5-DF23-419F-90D9-F52013F9AD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75403"/>
          </a:xfrm>
        </p:spPr>
        <p:txBody>
          <a:bodyPr/>
          <a:lstStyle/>
          <a:p>
            <a:r>
              <a:rPr lang="en-US" dirty="0"/>
              <a:t>WSI </a:t>
            </a:r>
            <a:r>
              <a:rPr lang="ru-RU" dirty="0"/>
              <a:t>для русского языка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658A14D-0F1A-4F87-B59E-1D177E0FDE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40528"/>
            <a:ext cx="10515600" cy="4836435"/>
          </a:xfrm>
        </p:spPr>
        <p:txBody>
          <a:bodyPr/>
          <a:lstStyle/>
          <a:p>
            <a:r>
              <a:rPr lang="ru-RU" dirty="0" err="1"/>
              <a:t>Датасеты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RUSSE-18: </a:t>
            </a:r>
            <a:r>
              <a:rPr lang="ru-RU" dirty="0"/>
              <a:t>три </a:t>
            </a:r>
            <a:r>
              <a:rPr lang="ru-RU" dirty="0" err="1"/>
              <a:t>датасета</a:t>
            </a:r>
            <a:r>
              <a:rPr lang="ru-RU" dirty="0"/>
              <a:t> (</a:t>
            </a:r>
            <a:r>
              <a:rPr lang="en-US" dirty="0"/>
              <a:t>wiki-wiki, </a:t>
            </a:r>
            <a:r>
              <a:rPr lang="en-US" dirty="0" err="1"/>
              <a:t>bts-rnc</a:t>
            </a:r>
            <a:r>
              <a:rPr lang="en-US" dirty="0"/>
              <a:t>, active-</a:t>
            </a:r>
            <a:r>
              <a:rPr lang="en-US" dirty="0" err="1"/>
              <a:t>dict</a:t>
            </a:r>
            <a:r>
              <a:rPr lang="ru-RU" dirty="0"/>
              <a:t>), только многозначные слова, омонимы и омографы</a:t>
            </a:r>
            <a:endParaRPr lang="en-US" dirty="0"/>
          </a:p>
          <a:p>
            <a:pPr lvl="1"/>
            <a:r>
              <a:rPr lang="en-US" dirty="0" err="1"/>
              <a:t>RuDSI</a:t>
            </a:r>
            <a:r>
              <a:rPr lang="en-US" dirty="0"/>
              <a:t> (Russian Data-driven Sense Induction)</a:t>
            </a:r>
            <a:endParaRPr lang="ru-RU" dirty="0"/>
          </a:p>
          <a:p>
            <a:r>
              <a:rPr lang="ru-RU" dirty="0"/>
              <a:t>Лингвистическое профилирование</a:t>
            </a:r>
            <a:r>
              <a:rPr lang="en-US" dirty="0"/>
              <a:t> (</a:t>
            </a:r>
            <a:r>
              <a:rPr lang="en-US" dirty="0" err="1"/>
              <a:t>Aksenova</a:t>
            </a:r>
            <a:r>
              <a:rPr lang="en-US" dirty="0"/>
              <a:t> 2022)</a:t>
            </a:r>
            <a:endParaRPr lang="ru-RU" dirty="0"/>
          </a:p>
          <a:p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7FDE8F1-9312-4898-AE54-2FF967D420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2708" y="3429000"/>
            <a:ext cx="6602105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063687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Разработка лексико-типологических анкет с помощью дистрибутивных моделей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2800" dirty="0"/>
              <a:t>Case study</a:t>
            </a:r>
            <a:r>
              <a:rPr lang="ru-RU" sz="2800" dirty="0"/>
              <a:t> (совместно с Денисом Паперно)</a:t>
            </a:r>
            <a:endParaRPr lang="en-US" dirty="0"/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45049" y="3910806"/>
            <a:ext cx="2178844" cy="2178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296078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Научный контекст (1)</a:t>
            </a:r>
          </a:p>
        </p:txBody>
      </p:sp>
      <p:sp>
        <p:nvSpPr>
          <p:cNvPr id="7" name="Объект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Сведений о наборах значений и особенностях употребления лексических единиц в словарях недостаточно</a:t>
            </a:r>
          </a:p>
          <a:p>
            <a:r>
              <a:rPr lang="ru-RU" dirty="0"/>
              <a:t>Корпуса для анализа лексики должны быть большими и сбалансированными, а далеко не для всех языков такие есть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/>
              <a:t>Ключевую роль в лексико-типологических исследованиях играют анкеты</a:t>
            </a:r>
          </a:p>
          <a:p>
            <a:endParaRPr lang="ru-RU" dirty="0"/>
          </a:p>
        </p:txBody>
      </p:sp>
      <p:sp>
        <p:nvSpPr>
          <p:cNvPr id="8" name="Стрелка вправо 7"/>
          <p:cNvSpPr/>
          <p:nvPr/>
        </p:nvSpPr>
        <p:spPr>
          <a:xfrm>
            <a:off x="225083" y="4262511"/>
            <a:ext cx="478302" cy="21101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746525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  <p:bldP spid="8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Научный контекст (2)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Строгой методологии разработки анкеты НЕТ ни в грамматической, ни в лексической типологии</a:t>
            </a:r>
          </a:p>
          <a:p>
            <a:endParaRPr lang="ru-RU" dirty="0"/>
          </a:p>
          <a:p>
            <a:pPr marL="0" indent="0">
              <a:buNone/>
            </a:pPr>
            <a:r>
              <a:rPr lang="ru-RU" sz="2400" dirty="0"/>
              <a:t>(особые случаи:</a:t>
            </a:r>
          </a:p>
          <a:p>
            <a:r>
              <a:rPr lang="ru-RU" sz="2400" dirty="0"/>
              <a:t>психолингвистическая парадигма Института имени Макса Планка</a:t>
            </a:r>
          </a:p>
          <a:p>
            <a:r>
              <a:rPr lang="ru-RU" sz="2400" dirty="0"/>
              <a:t>типология на основе параллельных корпусов)</a:t>
            </a:r>
          </a:p>
        </p:txBody>
      </p:sp>
    </p:spTree>
    <p:extLst>
      <p:ext uri="{BB962C8B-B14F-4D97-AF65-F5344CB8AC3E}">
        <p14:creationId xmlns:p14="http://schemas.microsoft.com/office/powerpoint/2010/main" val="423950186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Научный контекст (3)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Мы опираемся на фреймовый подход к лексической типологии (</a:t>
            </a:r>
            <a:r>
              <a:rPr lang="ru-RU" dirty="0" err="1"/>
              <a:t>Рахилина</a:t>
            </a:r>
            <a:r>
              <a:rPr lang="ru-RU" dirty="0"/>
              <a:t>, </a:t>
            </a:r>
            <a:r>
              <a:rPr lang="ru-RU" dirty="0" err="1"/>
              <a:t>Резникова</a:t>
            </a:r>
            <a:r>
              <a:rPr lang="ru-RU" dirty="0"/>
              <a:t> 2013)</a:t>
            </a:r>
          </a:p>
          <a:p>
            <a:r>
              <a:rPr lang="ru-RU" dirty="0"/>
              <a:t>Его идеология: в разных контекстах – разные значения (и, следовательно, возможны разные слова)</a:t>
            </a:r>
          </a:p>
          <a:p>
            <a:r>
              <a:rPr lang="ru-RU" dirty="0"/>
              <a:t>Опора на минимальные «диагностические» контексты</a:t>
            </a:r>
            <a:endParaRPr lang="en-US" dirty="0"/>
          </a:p>
          <a:p>
            <a:r>
              <a:rPr lang="ru-RU" dirty="0"/>
              <a:t>Возвращаясь к задаче </a:t>
            </a:r>
            <a:r>
              <a:rPr lang="en-US" dirty="0"/>
              <a:t>WSI: </a:t>
            </a:r>
            <a:r>
              <a:rPr lang="ru-RU" dirty="0"/>
              <a:t>по сути, то же самое, только своеобразное определение полисемии</a:t>
            </a:r>
          </a:p>
        </p:txBody>
      </p:sp>
    </p:spTree>
    <p:extLst>
      <p:ext uri="{BB962C8B-B14F-4D97-AF65-F5344CB8AC3E}">
        <p14:creationId xmlns:p14="http://schemas.microsoft.com/office/powerpoint/2010/main" val="14385188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3"/>
          <p:cNvSpPr txBox="1">
            <a:spLocks noGrp="1"/>
          </p:cNvSpPr>
          <p:nvPr>
            <p:ph type="title"/>
          </p:nvPr>
        </p:nvSpPr>
        <p:spPr>
          <a:xfrm>
            <a:off x="415600" y="173500"/>
            <a:ext cx="11360800" cy="9432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r>
              <a:rPr lang="ru-RU" dirty="0"/>
              <a:t>Иллюстрация</a:t>
            </a:r>
            <a:r>
              <a:rPr lang="en" dirty="0"/>
              <a:t>:</a:t>
            </a:r>
            <a:r>
              <a:rPr lang="ru-RU" dirty="0"/>
              <a:t> </a:t>
            </a:r>
            <a:r>
              <a:rPr lang="en-US" dirty="0"/>
              <a:t>‘</a:t>
            </a:r>
            <a:r>
              <a:rPr lang="ru-RU" dirty="0"/>
              <a:t>глубокий</a:t>
            </a:r>
            <a:r>
              <a:rPr lang="en-US" dirty="0"/>
              <a:t>’</a:t>
            </a:r>
            <a:endParaRPr dirty="0"/>
          </a:p>
        </p:txBody>
      </p:sp>
      <p:sp>
        <p:nvSpPr>
          <p:cNvPr id="146" name="Google Shape;146;p23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fld id="{00000000-1234-1234-1234-123412341234}" type="slidenum">
              <a:rPr lang="en"/>
              <a:pPr/>
              <a:t>23</a:t>
            </a:fld>
            <a:endParaRPr/>
          </a:p>
        </p:txBody>
      </p:sp>
      <p:sp>
        <p:nvSpPr>
          <p:cNvPr id="147" name="Google Shape;147;p23"/>
          <p:cNvSpPr txBox="1"/>
          <p:nvPr/>
        </p:nvSpPr>
        <p:spPr>
          <a:xfrm>
            <a:off x="577367" y="1245033"/>
            <a:ext cx="4583600" cy="243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>
              <a:lnSpc>
                <a:spcPct val="90000"/>
              </a:lnSpc>
              <a:spcBef>
                <a:spcPts val="1600"/>
              </a:spcBef>
            </a:pPr>
            <a:r>
              <a:rPr lang="en" sz="2400" i="1">
                <a:latin typeface="Open Sans"/>
                <a:ea typeface="Open Sans"/>
                <a:cs typeface="Open Sans"/>
                <a:sym typeface="Open Sans"/>
              </a:rPr>
              <a:t>deep well</a:t>
            </a:r>
            <a:endParaRPr sz="2400" i="1">
              <a:latin typeface="Open Sans"/>
              <a:ea typeface="Open Sans"/>
              <a:cs typeface="Open Sans"/>
              <a:sym typeface="Open Sans"/>
            </a:endParaRPr>
          </a:p>
          <a:p>
            <a:pPr>
              <a:lnSpc>
                <a:spcPct val="90000"/>
              </a:lnSpc>
              <a:spcBef>
                <a:spcPts val="1600"/>
              </a:spcBef>
            </a:pPr>
            <a:r>
              <a:rPr lang="en" sz="2400" i="1">
                <a:latin typeface="Open Sans"/>
                <a:ea typeface="Open Sans"/>
                <a:cs typeface="Open Sans"/>
                <a:sym typeface="Open Sans"/>
              </a:rPr>
              <a:t>deep river</a:t>
            </a:r>
            <a:endParaRPr sz="2400" i="1">
              <a:latin typeface="Open Sans"/>
              <a:ea typeface="Open Sans"/>
              <a:cs typeface="Open Sans"/>
              <a:sym typeface="Open Sans"/>
            </a:endParaRPr>
          </a:p>
          <a:p>
            <a:pPr>
              <a:lnSpc>
                <a:spcPct val="90000"/>
              </a:lnSpc>
              <a:spcBef>
                <a:spcPts val="1600"/>
              </a:spcBef>
            </a:pPr>
            <a:r>
              <a:rPr lang="en" sz="2400" i="1">
                <a:latin typeface="Open Sans"/>
                <a:ea typeface="Open Sans"/>
                <a:cs typeface="Open Sans"/>
                <a:sym typeface="Open Sans"/>
              </a:rPr>
              <a:t>deep plate</a:t>
            </a:r>
            <a:endParaRPr sz="2400" i="1">
              <a:latin typeface="Open Sans"/>
              <a:ea typeface="Open Sans"/>
              <a:cs typeface="Open Sans"/>
              <a:sym typeface="Open Sans"/>
            </a:endParaRPr>
          </a:p>
          <a:p>
            <a:pPr indent="609585">
              <a:lnSpc>
                <a:spcPct val="90000"/>
              </a:lnSpc>
              <a:spcBef>
                <a:spcPts val="1600"/>
              </a:spcBef>
              <a:spcAft>
                <a:spcPts val="267"/>
              </a:spcAft>
            </a:pPr>
            <a:r>
              <a:rPr lang="en" sz="2400" i="1">
                <a:latin typeface="Open Sans"/>
                <a:ea typeface="Open Sans"/>
                <a:cs typeface="Open Sans"/>
                <a:sym typeface="Open Sans"/>
              </a:rPr>
              <a:t>deep</a:t>
            </a:r>
            <a:r>
              <a:rPr lang="en" sz="2400">
                <a:latin typeface="Open Sans"/>
                <a:ea typeface="Open Sans"/>
                <a:cs typeface="Open Sans"/>
                <a:sym typeface="Open Sans"/>
              </a:rPr>
              <a:t> + ‘container’ =&gt; size</a:t>
            </a:r>
            <a:endParaRPr sz="24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8" name="Google Shape;148;p23"/>
          <p:cNvSpPr txBox="1"/>
          <p:nvPr/>
        </p:nvSpPr>
        <p:spPr>
          <a:xfrm>
            <a:off x="6284811" y="1235561"/>
            <a:ext cx="5377600" cy="243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en" sz="2400" i="1" dirty="0">
                <a:latin typeface="Open Sans"/>
                <a:ea typeface="Open Sans"/>
                <a:cs typeface="Open Sans"/>
                <a:sym typeface="Open Sans"/>
              </a:rPr>
              <a:t>deep sympathy</a:t>
            </a:r>
            <a:endParaRPr sz="2400" i="1" dirty="0">
              <a:latin typeface="Open Sans"/>
              <a:ea typeface="Open Sans"/>
              <a:cs typeface="Open Sans"/>
              <a:sym typeface="Open Sans"/>
            </a:endParaRPr>
          </a:p>
          <a:p>
            <a:pPr>
              <a:lnSpc>
                <a:spcPct val="150000"/>
              </a:lnSpc>
            </a:pPr>
            <a:r>
              <a:rPr lang="en" sz="2400" i="1" dirty="0">
                <a:latin typeface="Open Sans"/>
                <a:ea typeface="Open Sans"/>
                <a:cs typeface="Open Sans"/>
                <a:sym typeface="Open Sans"/>
              </a:rPr>
              <a:t>deep impression</a:t>
            </a:r>
            <a:endParaRPr sz="2400" i="1" dirty="0">
              <a:latin typeface="Open Sans"/>
              <a:ea typeface="Open Sans"/>
              <a:cs typeface="Open Sans"/>
              <a:sym typeface="Open Sans"/>
            </a:endParaRPr>
          </a:p>
          <a:p>
            <a:pPr>
              <a:lnSpc>
                <a:spcPct val="150000"/>
              </a:lnSpc>
            </a:pPr>
            <a:r>
              <a:rPr lang="en" sz="2400" i="1" dirty="0">
                <a:latin typeface="Open Sans"/>
                <a:ea typeface="Open Sans"/>
                <a:cs typeface="Open Sans"/>
                <a:sym typeface="Open Sans"/>
              </a:rPr>
              <a:t>deep grief</a:t>
            </a:r>
            <a:endParaRPr sz="2400" i="1" dirty="0">
              <a:latin typeface="Open Sans"/>
              <a:ea typeface="Open Sans"/>
              <a:cs typeface="Open Sans"/>
              <a:sym typeface="Open Sans"/>
            </a:endParaRPr>
          </a:p>
          <a:p>
            <a:pPr indent="609585">
              <a:lnSpc>
                <a:spcPct val="150000"/>
              </a:lnSpc>
            </a:pPr>
            <a:r>
              <a:rPr lang="en" sz="2400" i="1" dirty="0">
                <a:latin typeface="Open Sans"/>
                <a:ea typeface="Open Sans"/>
                <a:cs typeface="Open Sans"/>
                <a:sym typeface="Open Sans"/>
              </a:rPr>
              <a:t>deep</a:t>
            </a:r>
            <a:r>
              <a:rPr lang="en" sz="2400" dirty="0">
                <a:latin typeface="Open Sans"/>
                <a:ea typeface="Open Sans"/>
                <a:cs typeface="Open Sans"/>
                <a:sym typeface="Open Sans"/>
              </a:rPr>
              <a:t> + ‘emotion’ =&gt; intensifier</a:t>
            </a:r>
            <a:endParaRPr sz="2400" i="1" dirty="0">
              <a:solidFill>
                <a:srgbClr val="40404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9" name="Google Shape;149;p23"/>
          <p:cNvSpPr txBox="1"/>
          <p:nvPr/>
        </p:nvSpPr>
        <p:spPr>
          <a:xfrm>
            <a:off x="577367" y="4332833"/>
            <a:ext cx="4583600" cy="18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en" sz="2400" i="1">
                <a:latin typeface="Open Sans"/>
                <a:ea typeface="Open Sans"/>
                <a:cs typeface="Open Sans"/>
                <a:sym typeface="Open Sans"/>
              </a:rPr>
              <a:t>deep blue</a:t>
            </a:r>
            <a:endParaRPr sz="2400" i="1">
              <a:latin typeface="Open Sans"/>
              <a:ea typeface="Open Sans"/>
              <a:cs typeface="Open Sans"/>
              <a:sym typeface="Open Sans"/>
            </a:endParaRPr>
          </a:p>
          <a:p>
            <a:pPr>
              <a:lnSpc>
                <a:spcPct val="150000"/>
              </a:lnSpc>
            </a:pPr>
            <a:r>
              <a:rPr lang="en" sz="2400" i="1">
                <a:latin typeface="Open Sans"/>
                <a:ea typeface="Open Sans"/>
                <a:cs typeface="Open Sans"/>
                <a:sym typeface="Open Sans"/>
              </a:rPr>
              <a:t>deep red</a:t>
            </a:r>
            <a:endParaRPr sz="2400" i="1">
              <a:latin typeface="Open Sans"/>
              <a:ea typeface="Open Sans"/>
              <a:cs typeface="Open Sans"/>
              <a:sym typeface="Open Sans"/>
            </a:endParaRPr>
          </a:p>
          <a:p>
            <a:pPr indent="609585">
              <a:lnSpc>
                <a:spcPct val="150000"/>
              </a:lnSpc>
            </a:pPr>
            <a:r>
              <a:rPr lang="en" sz="2400" i="1">
                <a:latin typeface="Open Sans"/>
                <a:ea typeface="Open Sans"/>
                <a:cs typeface="Open Sans"/>
                <a:sym typeface="Open Sans"/>
              </a:rPr>
              <a:t>deep</a:t>
            </a:r>
            <a:r>
              <a:rPr lang="en" sz="2400">
                <a:latin typeface="Open Sans"/>
                <a:ea typeface="Open Sans"/>
                <a:cs typeface="Open Sans"/>
                <a:sym typeface="Open Sans"/>
              </a:rPr>
              <a:t> + ‘colour’ =&gt; ‘dark’</a:t>
            </a:r>
            <a:endParaRPr sz="2400" i="1">
              <a:latin typeface="Open Sans"/>
              <a:ea typeface="Open Sans"/>
              <a:cs typeface="Open Sans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40263141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4"/>
          <p:cNvSpPr txBox="1">
            <a:spLocks noGrp="1"/>
          </p:cNvSpPr>
          <p:nvPr>
            <p:ph type="title"/>
          </p:nvPr>
        </p:nvSpPr>
        <p:spPr>
          <a:xfrm>
            <a:off x="415600" y="173500"/>
            <a:ext cx="11360800" cy="9432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r>
              <a:rPr lang="ru-RU" dirty="0"/>
              <a:t>Русское </a:t>
            </a:r>
            <a:r>
              <a:rPr lang="ru-RU" i="1" dirty="0"/>
              <a:t>глубокий</a:t>
            </a:r>
            <a:endParaRPr dirty="0"/>
          </a:p>
        </p:txBody>
      </p:sp>
      <p:sp>
        <p:nvSpPr>
          <p:cNvPr id="155" name="Google Shape;155;p24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fld id="{00000000-1234-1234-1234-123412341234}" type="slidenum">
              <a:rPr lang="en"/>
              <a:pPr/>
              <a:t>24</a:t>
            </a:fld>
            <a:endParaRPr dirty="0"/>
          </a:p>
        </p:txBody>
      </p:sp>
      <p:sp>
        <p:nvSpPr>
          <p:cNvPr id="156" name="Google Shape;156;p24"/>
          <p:cNvSpPr txBox="1"/>
          <p:nvPr/>
        </p:nvSpPr>
        <p:spPr>
          <a:xfrm>
            <a:off x="577367" y="1245033"/>
            <a:ext cx="4583600" cy="243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>
              <a:lnSpc>
                <a:spcPct val="90000"/>
              </a:lnSpc>
              <a:spcBef>
                <a:spcPts val="1600"/>
              </a:spcBef>
            </a:pPr>
            <a:r>
              <a:rPr lang="en" sz="2400" i="1">
                <a:latin typeface="Open Sans"/>
                <a:ea typeface="Open Sans"/>
                <a:cs typeface="Open Sans"/>
                <a:sym typeface="Open Sans"/>
              </a:rPr>
              <a:t>deep well</a:t>
            </a:r>
            <a:endParaRPr sz="2400" i="1">
              <a:latin typeface="Open Sans"/>
              <a:ea typeface="Open Sans"/>
              <a:cs typeface="Open Sans"/>
              <a:sym typeface="Open Sans"/>
            </a:endParaRPr>
          </a:p>
          <a:p>
            <a:pPr>
              <a:lnSpc>
                <a:spcPct val="90000"/>
              </a:lnSpc>
              <a:spcBef>
                <a:spcPts val="1600"/>
              </a:spcBef>
            </a:pPr>
            <a:r>
              <a:rPr lang="en" sz="2400" i="1">
                <a:latin typeface="Open Sans"/>
                <a:ea typeface="Open Sans"/>
                <a:cs typeface="Open Sans"/>
                <a:sym typeface="Open Sans"/>
              </a:rPr>
              <a:t>deep river</a:t>
            </a:r>
            <a:endParaRPr sz="2400" i="1">
              <a:latin typeface="Open Sans"/>
              <a:ea typeface="Open Sans"/>
              <a:cs typeface="Open Sans"/>
              <a:sym typeface="Open Sans"/>
            </a:endParaRPr>
          </a:p>
          <a:p>
            <a:pPr>
              <a:lnSpc>
                <a:spcPct val="90000"/>
              </a:lnSpc>
              <a:spcBef>
                <a:spcPts val="1600"/>
              </a:spcBef>
            </a:pPr>
            <a:r>
              <a:rPr lang="en" sz="2400" i="1">
                <a:latin typeface="Open Sans"/>
                <a:ea typeface="Open Sans"/>
                <a:cs typeface="Open Sans"/>
                <a:sym typeface="Open Sans"/>
              </a:rPr>
              <a:t>deep plate</a:t>
            </a:r>
            <a:endParaRPr sz="2400" i="1">
              <a:latin typeface="Open Sans"/>
              <a:ea typeface="Open Sans"/>
              <a:cs typeface="Open Sans"/>
              <a:sym typeface="Open Sans"/>
            </a:endParaRPr>
          </a:p>
          <a:p>
            <a:pPr indent="609585">
              <a:lnSpc>
                <a:spcPct val="90000"/>
              </a:lnSpc>
              <a:spcBef>
                <a:spcPts val="1600"/>
              </a:spcBef>
              <a:spcAft>
                <a:spcPts val="267"/>
              </a:spcAft>
            </a:pPr>
            <a:r>
              <a:rPr lang="en" sz="2400" i="1">
                <a:latin typeface="Open Sans"/>
                <a:ea typeface="Open Sans"/>
                <a:cs typeface="Open Sans"/>
                <a:sym typeface="Open Sans"/>
              </a:rPr>
              <a:t>deep</a:t>
            </a:r>
            <a:r>
              <a:rPr lang="en" sz="2400">
                <a:latin typeface="Open Sans"/>
                <a:ea typeface="Open Sans"/>
                <a:cs typeface="Open Sans"/>
                <a:sym typeface="Open Sans"/>
              </a:rPr>
              <a:t> + ‘container’ =&gt; size</a:t>
            </a:r>
            <a:endParaRPr sz="24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7" name="Google Shape;157;p24"/>
          <p:cNvSpPr txBox="1"/>
          <p:nvPr/>
        </p:nvSpPr>
        <p:spPr>
          <a:xfrm>
            <a:off x="6274000" y="1235561"/>
            <a:ext cx="5377600" cy="243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en" sz="2400" i="1" dirty="0">
                <a:latin typeface="Open Sans"/>
                <a:ea typeface="Open Sans"/>
                <a:cs typeface="Open Sans"/>
                <a:sym typeface="Open Sans"/>
              </a:rPr>
              <a:t>deep sympathy</a:t>
            </a:r>
            <a:endParaRPr sz="2400" i="1" dirty="0">
              <a:latin typeface="Open Sans"/>
              <a:ea typeface="Open Sans"/>
              <a:cs typeface="Open Sans"/>
              <a:sym typeface="Open Sans"/>
            </a:endParaRPr>
          </a:p>
          <a:p>
            <a:pPr>
              <a:lnSpc>
                <a:spcPct val="150000"/>
              </a:lnSpc>
            </a:pPr>
            <a:r>
              <a:rPr lang="en" sz="2400" i="1" dirty="0">
                <a:latin typeface="Open Sans"/>
                <a:ea typeface="Open Sans"/>
                <a:cs typeface="Open Sans"/>
                <a:sym typeface="Open Sans"/>
              </a:rPr>
              <a:t>deep impression</a:t>
            </a:r>
            <a:endParaRPr sz="2400" i="1" dirty="0">
              <a:latin typeface="Open Sans"/>
              <a:ea typeface="Open Sans"/>
              <a:cs typeface="Open Sans"/>
              <a:sym typeface="Open Sans"/>
            </a:endParaRPr>
          </a:p>
          <a:p>
            <a:pPr>
              <a:lnSpc>
                <a:spcPct val="150000"/>
              </a:lnSpc>
            </a:pPr>
            <a:r>
              <a:rPr lang="en" sz="2400" i="1" dirty="0">
                <a:latin typeface="Open Sans"/>
                <a:ea typeface="Open Sans"/>
                <a:cs typeface="Open Sans"/>
                <a:sym typeface="Open Sans"/>
              </a:rPr>
              <a:t>deep grief</a:t>
            </a:r>
            <a:endParaRPr sz="2400" i="1" dirty="0">
              <a:latin typeface="Open Sans"/>
              <a:ea typeface="Open Sans"/>
              <a:cs typeface="Open Sans"/>
              <a:sym typeface="Open Sans"/>
            </a:endParaRPr>
          </a:p>
          <a:p>
            <a:pPr indent="609585">
              <a:lnSpc>
                <a:spcPct val="150000"/>
              </a:lnSpc>
            </a:pPr>
            <a:r>
              <a:rPr lang="en" sz="2400" i="1" dirty="0">
                <a:latin typeface="Open Sans"/>
                <a:ea typeface="Open Sans"/>
                <a:cs typeface="Open Sans"/>
                <a:sym typeface="Open Sans"/>
              </a:rPr>
              <a:t>deep</a:t>
            </a:r>
            <a:r>
              <a:rPr lang="en" sz="2400" dirty="0">
                <a:latin typeface="Open Sans"/>
                <a:ea typeface="Open Sans"/>
                <a:cs typeface="Open Sans"/>
                <a:sym typeface="Open Sans"/>
              </a:rPr>
              <a:t> + ‘emotion’ =&gt; intensifier</a:t>
            </a:r>
            <a:endParaRPr sz="2400" i="1" dirty="0">
              <a:solidFill>
                <a:srgbClr val="40404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8" name="Google Shape;158;p24"/>
          <p:cNvSpPr txBox="1"/>
          <p:nvPr/>
        </p:nvSpPr>
        <p:spPr>
          <a:xfrm>
            <a:off x="693100" y="4416000"/>
            <a:ext cx="4583600" cy="18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en" sz="2400" i="1">
                <a:latin typeface="Open Sans"/>
                <a:ea typeface="Open Sans"/>
                <a:cs typeface="Open Sans"/>
                <a:sym typeface="Open Sans"/>
              </a:rPr>
              <a:t>deep blue</a:t>
            </a:r>
            <a:endParaRPr sz="2400" i="1">
              <a:latin typeface="Open Sans"/>
              <a:ea typeface="Open Sans"/>
              <a:cs typeface="Open Sans"/>
              <a:sym typeface="Open Sans"/>
            </a:endParaRPr>
          </a:p>
          <a:p>
            <a:pPr>
              <a:lnSpc>
                <a:spcPct val="150000"/>
              </a:lnSpc>
            </a:pPr>
            <a:r>
              <a:rPr lang="en" sz="2400" i="1">
                <a:latin typeface="Open Sans"/>
                <a:ea typeface="Open Sans"/>
                <a:cs typeface="Open Sans"/>
                <a:sym typeface="Open Sans"/>
              </a:rPr>
              <a:t>deep red</a:t>
            </a:r>
            <a:endParaRPr sz="2400" i="1">
              <a:latin typeface="Open Sans"/>
              <a:ea typeface="Open Sans"/>
              <a:cs typeface="Open Sans"/>
              <a:sym typeface="Open Sans"/>
            </a:endParaRPr>
          </a:p>
          <a:p>
            <a:pPr indent="609585">
              <a:lnSpc>
                <a:spcPct val="150000"/>
              </a:lnSpc>
            </a:pPr>
            <a:r>
              <a:rPr lang="en" sz="2400" i="1">
                <a:latin typeface="Open Sans"/>
                <a:ea typeface="Open Sans"/>
                <a:cs typeface="Open Sans"/>
                <a:sym typeface="Open Sans"/>
              </a:rPr>
              <a:t>deep</a:t>
            </a:r>
            <a:r>
              <a:rPr lang="en" sz="2400">
                <a:latin typeface="Open Sans"/>
                <a:ea typeface="Open Sans"/>
                <a:cs typeface="Open Sans"/>
                <a:sym typeface="Open Sans"/>
              </a:rPr>
              <a:t> + ‘colour’ =&gt; ‘dark’</a:t>
            </a:r>
            <a:endParaRPr sz="2400" i="1"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59" name="Google Shape;159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01745" y="1797900"/>
            <a:ext cx="976489" cy="94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714834" y="1797900"/>
            <a:ext cx="976500" cy="943211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01734" y="4947034"/>
            <a:ext cx="976500" cy="161169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24"/>
          <p:cNvSpPr txBox="1"/>
          <p:nvPr/>
        </p:nvSpPr>
        <p:spPr>
          <a:xfrm>
            <a:off x="6274000" y="4416000"/>
            <a:ext cx="4583600" cy="18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en" sz="2400" i="1">
                <a:latin typeface="Open Sans"/>
                <a:ea typeface="Open Sans"/>
                <a:cs typeface="Open Sans"/>
                <a:sym typeface="Open Sans"/>
              </a:rPr>
              <a:t>late night</a:t>
            </a:r>
            <a:endParaRPr sz="2400" i="1">
              <a:latin typeface="Open Sans"/>
              <a:ea typeface="Open Sans"/>
              <a:cs typeface="Open Sans"/>
              <a:sym typeface="Open Sans"/>
            </a:endParaRPr>
          </a:p>
          <a:p>
            <a:pPr>
              <a:lnSpc>
                <a:spcPct val="150000"/>
              </a:lnSpc>
            </a:pPr>
            <a:r>
              <a:rPr lang="en" sz="2400" i="1">
                <a:latin typeface="Open Sans"/>
                <a:ea typeface="Open Sans"/>
                <a:cs typeface="Open Sans"/>
                <a:sym typeface="Open Sans"/>
              </a:rPr>
              <a:t>late winter</a:t>
            </a:r>
            <a:endParaRPr sz="2400" i="1">
              <a:latin typeface="Open Sans"/>
              <a:ea typeface="Open Sans"/>
              <a:cs typeface="Open Sans"/>
              <a:sym typeface="Open Sans"/>
            </a:endParaRPr>
          </a:p>
          <a:p>
            <a:pPr indent="609585">
              <a:lnSpc>
                <a:spcPct val="150000"/>
              </a:lnSpc>
            </a:pPr>
            <a:r>
              <a:rPr lang="en" sz="2400">
                <a:latin typeface="Open Sans"/>
                <a:ea typeface="Open Sans"/>
                <a:cs typeface="Open Sans"/>
                <a:sym typeface="Open Sans"/>
              </a:rPr>
              <a:t>‘deep’ + ‘time’ =&gt; ‘late’</a:t>
            </a:r>
            <a:endParaRPr sz="2400" i="1"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63" name="Google Shape;163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714834" y="4416000"/>
            <a:ext cx="976500" cy="94321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9819696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5"/>
          <p:cNvSpPr txBox="1">
            <a:spLocks noGrp="1"/>
          </p:cNvSpPr>
          <p:nvPr>
            <p:ph type="title"/>
          </p:nvPr>
        </p:nvSpPr>
        <p:spPr>
          <a:xfrm>
            <a:off x="415600" y="301833"/>
            <a:ext cx="11360800" cy="9432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r>
              <a:rPr lang="ru-RU" dirty="0"/>
              <a:t>Французское</a:t>
            </a:r>
            <a:r>
              <a:rPr lang="ru-RU" i="1" dirty="0"/>
              <a:t> </a:t>
            </a:r>
            <a:r>
              <a:rPr lang="en" i="1" dirty="0"/>
              <a:t>profond </a:t>
            </a:r>
            <a:r>
              <a:rPr lang="en" dirty="0"/>
              <a:t>‘</a:t>
            </a:r>
            <a:r>
              <a:rPr lang="ru-RU" dirty="0"/>
              <a:t>глубокий</a:t>
            </a:r>
            <a:r>
              <a:rPr lang="en" dirty="0"/>
              <a:t>’</a:t>
            </a:r>
            <a:endParaRPr dirty="0"/>
          </a:p>
        </p:txBody>
      </p:sp>
      <p:sp>
        <p:nvSpPr>
          <p:cNvPr id="169" name="Google Shape;169;p25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fld id="{00000000-1234-1234-1234-123412341234}" type="slidenum">
              <a:rPr lang="en"/>
              <a:pPr/>
              <a:t>25</a:t>
            </a:fld>
            <a:endParaRPr/>
          </a:p>
        </p:txBody>
      </p:sp>
      <p:sp>
        <p:nvSpPr>
          <p:cNvPr id="170" name="Google Shape;170;p25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fld id="{00000000-1234-1234-1234-123412341234}" type="slidenum">
              <a:rPr lang="en"/>
              <a:pPr/>
              <a:t>25</a:t>
            </a:fld>
            <a:endParaRPr/>
          </a:p>
        </p:txBody>
      </p:sp>
      <p:sp>
        <p:nvSpPr>
          <p:cNvPr id="171" name="Google Shape;171;p25"/>
          <p:cNvSpPr txBox="1"/>
          <p:nvPr/>
        </p:nvSpPr>
        <p:spPr>
          <a:xfrm>
            <a:off x="577367" y="1245033"/>
            <a:ext cx="4583600" cy="243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>
              <a:lnSpc>
                <a:spcPct val="90000"/>
              </a:lnSpc>
              <a:spcBef>
                <a:spcPts val="1600"/>
              </a:spcBef>
            </a:pPr>
            <a:r>
              <a:rPr lang="en" sz="2400" i="1">
                <a:latin typeface="Open Sans"/>
                <a:ea typeface="Open Sans"/>
                <a:cs typeface="Open Sans"/>
                <a:sym typeface="Open Sans"/>
              </a:rPr>
              <a:t>deep well</a:t>
            </a:r>
            <a:endParaRPr sz="2400" i="1">
              <a:latin typeface="Open Sans"/>
              <a:ea typeface="Open Sans"/>
              <a:cs typeface="Open Sans"/>
              <a:sym typeface="Open Sans"/>
            </a:endParaRPr>
          </a:p>
          <a:p>
            <a:pPr>
              <a:lnSpc>
                <a:spcPct val="90000"/>
              </a:lnSpc>
              <a:spcBef>
                <a:spcPts val="1600"/>
              </a:spcBef>
            </a:pPr>
            <a:r>
              <a:rPr lang="en" sz="2400" i="1">
                <a:latin typeface="Open Sans"/>
                <a:ea typeface="Open Sans"/>
                <a:cs typeface="Open Sans"/>
                <a:sym typeface="Open Sans"/>
              </a:rPr>
              <a:t>deep river</a:t>
            </a:r>
            <a:endParaRPr sz="2400" i="1">
              <a:latin typeface="Open Sans"/>
              <a:ea typeface="Open Sans"/>
              <a:cs typeface="Open Sans"/>
              <a:sym typeface="Open Sans"/>
            </a:endParaRPr>
          </a:p>
          <a:p>
            <a:pPr>
              <a:lnSpc>
                <a:spcPct val="90000"/>
              </a:lnSpc>
              <a:spcBef>
                <a:spcPts val="1600"/>
              </a:spcBef>
            </a:pPr>
            <a:r>
              <a:rPr lang="en" sz="2400" i="1">
                <a:latin typeface="Open Sans"/>
                <a:ea typeface="Open Sans"/>
                <a:cs typeface="Open Sans"/>
                <a:sym typeface="Open Sans"/>
              </a:rPr>
              <a:t>deep plate</a:t>
            </a:r>
            <a:endParaRPr sz="2400" i="1">
              <a:latin typeface="Open Sans"/>
              <a:ea typeface="Open Sans"/>
              <a:cs typeface="Open Sans"/>
              <a:sym typeface="Open Sans"/>
            </a:endParaRPr>
          </a:p>
          <a:p>
            <a:pPr indent="609585">
              <a:lnSpc>
                <a:spcPct val="90000"/>
              </a:lnSpc>
              <a:spcBef>
                <a:spcPts val="1600"/>
              </a:spcBef>
              <a:spcAft>
                <a:spcPts val="267"/>
              </a:spcAft>
            </a:pPr>
            <a:r>
              <a:rPr lang="en" sz="2400" i="1">
                <a:latin typeface="Open Sans"/>
                <a:ea typeface="Open Sans"/>
                <a:cs typeface="Open Sans"/>
                <a:sym typeface="Open Sans"/>
              </a:rPr>
              <a:t>deep</a:t>
            </a:r>
            <a:r>
              <a:rPr lang="en" sz="2400">
                <a:latin typeface="Open Sans"/>
                <a:ea typeface="Open Sans"/>
                <a:cs typeface="Open Sans"/>
                <a:sym typeface="Open Sans"/>
              </a:rPr>
              <a:t> + ‘container’ =&gt; size</a:t>
            </a:r>
            <a:endParaRPr sz="24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72" name="Google Shape;172;p25"/>
          <p:cNvSpPr txBox="1"/>
          <p:nvPr/>
        </p:nvSpPr>
        <p:spPr>
          <a:xfrm>
            <a:off x="6274000" y="1245033"/>
            <a:ext cx="5377600" cy="243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en" sz="2400" i="1" dirty="0">
                <a:latin typeface="Open Sans"/>
                <a:ea typeface="Open Sans"/>
                <a:cs typeface="Open Sans"/>
                <a:sym typeface="Open Sans"/>
              </a:rPr>
              <a:t>deep sympathy</a:t>
            </a:r>
            <a:endParaRPr sz="2400" i="1" dirty="0">
              <a:latin typeface="Open Sans"/>
              <a:ea typeface="Open Sans"/>
              <a:cs typeface="Open Sans"/>
              <a:sym typeface="Open Sans"/>
            </a:endParaRPr>
          </a:p>
          <a:p>
            <a:pPr>
              <a:lnSpc>
                <a:spcPct val="150000"/>
              </a:lnSpc>
            </a:pPr>
            <a:r>
              <a:rPr lang="en" sz="2400" i="1" dirty="0">
                <a:latin typeface="Open Sans"/>
                <a:ea typeface="Open Sans"/>
                <a:cs typeface="Open Sans"/>
                <a:sym typeface="Open Sans"/>
              </a:rPr>
              <a:t>deep impression</a:t>
            </a:r>
            <a:endParaRPr sz="2400" i="1" dirty="0">
              <a:latin typeface="Open Sans"/>
              <a:ea typeface="Open Sans"/>
              <a:cs typeface="Open Sans"/>
              <a:sym typeface="Open Sans"/>
            </a:endParaRPr>
          </a:p>
          <a:p>
            <a:pPr>
              <a:lnSpc>
                <a:spcPct val="150000"/>
              </a:lnSpc>
            </a:pPr>
            <a:r>
              <a:rPr lang="en" sz="2400" i="1" dirty="0">
                <a:latin typeface="Open Sans"/>
                <a:ea typeface="Open Sans"/>
                <a:cs typeface="Open Sans"/>
                <a:sym typeface="Open Sans"/>
              </a:rPr>
              <a:t>deep grief</a:t>
            </a:r>
            <a:endParaRPr sz="2400" i="1" dirty="0">
              <a:latin typeface="Open Sans"/>
              <a:ea typeface="Open Sans"/>
              <a:cs typeface="Open Sans"/>
              <a:sym typeface="Open Sans"/>
            </a:endParaRPr>
          </a:p>
          <a:p>
            <a:pPr indent="609585">
              <a:lnSpc>
                <a:spcPct val="150000"/>
              </a:lnSpc>
            </a:pPr>
            <a:r>
              <a:rPr lang="en" sz="2400" i="1" dirty="0">
                <a:latin typeface="Open Sans"/>
                <a:ea typeface="Open Sans"/>
                <a:cs typeface="Open Sans"/>
                <a:sym typeface="Open Sans"/>
              </a:rPr>
              <a:t>deep</a:t>
            </a:r>
            <a:r>
              <a:rPr lang="en" sz="2400" dirty="0">
                <a:latin typeface="Open Sans"/>
                <a:ea typeface="Open Sans"/>
                <a:cs typeface="Open Sans"/>
                <a:sym typeface="Open Sans"/>
              </a:rPr>
              <a:t> + ‘emotion’ =&gt; intensifier</a:t>
            </a:r>
            <a:endParaRPr sz="2400" i="1" dirty="0">
              <a:solidFill>
                <a:srgbClr val="40404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73" name="Google Shape;173;p25"/>
          <p:cNvSpPr txBox="1"/>
          <p:nvPr/>
        </p:nvSpPr>
        <p:spPr>
          <a:xfrm>
            <a:off x="693100" y="4416000"/>
            <a:ext cx="4583600" cy="18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en" sz="2400" i="1">
                <a:latin typeface="Open Sans"/>
                <a:ea typeface="Open Sans"/>
                <a:cs typeface="Open Sans"/>
                <a:sym typeface="Open Sans"/>
              </a:rPr>
              <a:t>deep blue</a:t>
            </a:r>
            <a:endParaRPr sz="2400" i="1">
              <a:latin typeface="Open Sans"/>
              <a:ea typeface="Open Sans"/>
              <a:cs typeface="Open Sans"/>
              <a:sym typeface="Open Sans"/>
            </a:endParaRPr>
          </a:p>
          <a:p>
            <a:pPr>
              <a:lnSpc>
                <a:spcPct val="150000"/>
              </a:lnSpc>
            </a:pPr>
            <a:r>
              <a:rPr lang="en" sz="2400" i="1">
                <a:latin typeface="Open Sans"/>
                <a:ea typeface="Open Sans"/>
                <a:cs typeface="Open Sans"/>
                <a:sym typeface="Open Sans"/>
              </a:rPr>
              <a:t>deep red</a:t>
            </a:r>
            <a:endParaRPr sz="2400" i="1">
              <a:latin typeface="Open Sans"/>
              <a:ea typeface="Open Sans"/>
              <a:cs typeface="Open Sans"/>
              <a:sym typeface="Open Sans"/>
            </a:endParaRPr>
          </a:p>
          <a:p>
            <a:pPr indent="609585">
              <a:lnSpc>
                <a:spcPct val="150000"/>
              </a:lnSpc>
            </a:pPr>
            <a:r>
              <a:rPr lang="en" sz="2400" i="1">
                <a:latin typeface="Open Sans"/>
                <a:ea typeface="Open Sans"/>
                <a:cs typeface="Open Sans"/>
                <a:sym typeface="Open Sans"/>
              </a:rPr>
              <a:t>deep</a:t>
            </a:r>
            <a:r>
              <a:rPr lang="en" sz="2400">
                <a:latin typeface="Open Sans"/>
                <a:ea typeface="Open Sans"/>
                <a:cs typeface="Open Sans"/>
                <a:sym typeface="Open Sans"/>
              </a:rPr>
              <a:t> + ‘colour’ =&gt; ‘dark’</a:t>
            </a:r>
            <a:endParaRPr sz="2400" i="1"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74" name="Google Shape;174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01745" y="1797900"/>
            <a:ext cx="976489" cy="94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714834" y="1797900"/>
            <a:ext cx="976500" cy="943211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25"/>
          <p:cNvSpPr txBox="1"/>
          <p:nvPr/>
        </p:nvSpPr>
        <p:spPr>
          <a:xfrm>
            <a:off x="6274000" y="4416000"/>
            <a:ext cx="4583600" cy="18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en" sz="2400" i="1">
                <a:latin typeface="Open Sans"/>
                <a:ea typeface="Open Sans"/>
                <a:cs typeface="Open Sans"/>
                <a:sym typeface="Open Sans"/>
              </a:rPr>
              <a:t>late night</a:t>
            </a:r>
            <a:endParaRPr sz="2400" i="1">
              <a:latin typeface="Open Sans"/>
              <a:ea typeface="Open Sans"/>
              <a:cs typeface="Open Sans"/>
              <a:sym typeface="Open Sans"/>
            </a:endParaRPr>
          </a:p>
          <a:p>
            <a:pPr>
              <a:lnSpc>
                <a:spcPct val="150000"/>
              </a:lnSpc>
            </a:pPr>
            <a:r>
              <a:rPr lang="en" sz="2400" i="1">
                <a:latin typeface="Open Sans"/>
                <a:ea typeface="Open Sans"/>
                <a:cs typeface="Open Sans"/>
                <a:sym typeface="Open Sans"/>
              </a:rPr>
              <a:t>late winter</a:t>
            </a:r>
            <a:endParaRPr sz="2400" i="1">
              <a:latin typeface="Open Sans"/>
              <a:ea typeface="Open Sans"/>
              <a:cs typeface="Open Sans"/>
              <a:sym typeface="Open Sans"/>
            </a:endParaRPr>
          </a:p>
          <a:p>
            <a:pPr indent="609585">
              <a:lnSpc>
                <a:spcPct val="150000"/>
              </a:lnSpc>
            </a:pPr>
            <a:r>
              <a:rPr lang="en" sz="2400">
                <a:latin typeface="Open Sans"/>
                <a:ea typeface="Open Sans"/>
                <a:cs typeface="Open Sans"/>
                <a:sym typeface="Open Sans"/>
              </a:rPr>
              <a:t>‘deep’ + ‘time’ =&gt; ‘late’</a:t>
            </a:r>
            <a:endParaRPr sz="2400" i="1"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77" name="Google Shape;177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714834" y="4416000"/>
            <a:ext cx="976500" cy="943211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01745" y="4416000"/>
            <a:ext cx="976489" cy="9432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6237258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6"/>
          <p:cNvSpPr txBox="1">
            <a:spLocks noGrp="1"/>
          </p:cNvSpPr>
          <p:nvPr>
            <p:ph type="title"/>
          </p:nvPr>
        </p:nvSpPr>
        <p:spPr>
          <a:xfrm>
            <a:off x="415600" y="0"/>
            <a:ext cx="11360800" cy="9432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r>
              <a:rPr lang="ru-RU" dirty="0"/>
              <a:t>Типологическая анкета</a:t>
            </a:r>
            <a:endParaRPr dirty="0"/>
          </a:p>
        </p:txBody>
      </p:sp>
      <p:sp>
        <p:nvSpPr>
          <p:cNvPr id="184" name="Google Shape;184;p26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fld id="{00000000-1234-1234-1234-123412341234}" type="slidenum">
              <a:rPr lang="en"/>
              <a:pPr/>
              <a:t>26</a:t>
            </a:fld>
            <a:endParaRPr/>
          </a:p>
        </p:txBody>
      </p:sp>
      <p:graphicFrame>
        <p:nvGraphicFramePr>
          <p:cNvPr id="185" name="Google Shape;185;p26"/>
          <p:cNvGraphicFramePr/>
          <p:nvPr>
            <p:extLst>
              <p:ext uri="{D42A27DB-BD31-4B8C-83A1-F6EECF244321}">
                <p14:modId xmlns:p14="http://schemas.microsoft.com/office/powerpoint/2010/main" val="1301025258"/>
              </p:ext>
            </p:extLst>
          </p:nvPr>
        </p:nvGraphicFramePr>
        <p:xfrm>
          <a:off x="587733" y="890623"/>
          <a:ext cx="9652000" cy="585180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482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2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926090">
                <a:tc>
                  <a:txBody>
                    <a:bodyPr/>
                    <a:lstStyle/>
                    <a:p>
                      <a:pPr marL="0" lv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2400" dirty="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СИТУАЦИЯ</a:t>
                      </a:r>
                      <a:r>
                        <a:rPr lang="en" sz="2400" dirty="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 (“</a:t>
                      </a:r>
                      <a:r>
                        <a:rPr lang="ru-RU" sz="2400" dirty="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ФРЕЙМ</a:t>
                      </a:r>
                      <a:r>
                        <a:rPr lang="en" sz="2400" dirty="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”)</a:t>
                      </a:r>
                      <a:endParaRPr sz="2400" dirty="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121900" marR="121900" marT="121900" marB="121900"/>
                </a:tc>
                <a:tc>
                  <a:txBody>
                    <a:bodyPr/>
                    <a:lstStyle/>
                    <a:p>
                      <a:pPr marL="0" lv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2400" dirty="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ПРИМЕР (минимальный</a:t>
                      </a:r>
                      <a:r>
                        <a:rPr lang="ru-RU" sz="2400" baseline="0" dirty="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 диагностический контекст)</a:t>
                      </a:r>
                      <a:endParaRPr sz="2400" dirty="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121900" marR="121900" marT="121900" marB="1219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8792">
                <a:tc>
                  <a:txBody>
                    <a:bodyPr/>
                    <a:lstStyle/>
                    <a:p>
                      <a:pPr marL="0" lv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Deep containers (size)</a:t>
                      </a:r>
                      <a:endParaRPr sz="24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121900" marR="121900" marT="121900" marB="121900"/>
                </a:tc>
                <a:tc>
                  <a:txBody>
                    <a:bodyPr/>
                    <a:lstStyle/>
                    <a:p>
                      <a:pPr marL="0" lv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 i="1" dirty="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Deep river</a:t>
                      </a:r>
                      <a:endParaRPr sz="2400" i="1" dirty="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121900" marR="121900" marT="121900" marB="1219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8792">
                <a:tc>
                  <a:txBody>
                    <a:bodyPr/>
                    <a:lstStyle/>
                    <a:p>
                      <a:pPr marL="0" lv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121900" marR="121900" marT="121900" marB="121900"/>
                </a:tc>
                <a:tc>
                  <a:txBody>
                    <a:bodyPr/>
                    <a:lstStyle/>
                    <a:p>
                      <a:pPr marL="0" lv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 i="1" dirty="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Deep well</a:t>
                      </a:r>
                      <a:endParaRPr sz="2400" i="1" dirty="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121900" marR="121900" marT="121900" marB="1219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8792">
                <a:tc>
                  <a:txBody>
                    <a:bodyPr/>
                    <a:lstStyle/>
                    <a:p>
                      <a:pPr marL="0" lv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Deep emotions (intensifier)</a:t>
                      </a:r>
                      <a:endParaRPr sz="24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121900" marR="121900" marT="121900" marB="121900"/>
                </a:tc>
                <a:tc>
                  <a:txBody>
                    <a:bodyPr/>
                    <a:lstStyle/>
                    <a:p>
                      <a:pPr marL="0" lv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 i="1" dirty="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Deep sympathy</a:t>
                      </a:r>
                      <a:endParaRPr sz="2400" i="1" dirty="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121900" marR="121900" marT="121900" marB="1219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8792">
                <a:tc>
                  <a:txBody>
                    <a:bodyPr/>
                    <a:lstStyle/>
                    <a:p>
                      <a:pPr marL="0" lv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121900" marR="121900" marT="121900" marB="121900"/>
                </a:tc>
                <a:tc>
                  <a:txBody>
                    <a:bodyPr/>
                    <a:lstStyle/>
                    <a:p>
                      <a:pPr marL="0" lv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 i="1" dirty="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Deep impression</a:t>
                      </a:r>
                      <a:endParaRPr sz="2400" i="1" dirty="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121900" marR="121900" marT="121900" marB="12190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8792">
                <a:tc>
                  <a:txBody>
                    <a:bodyPr/>
                    <a:lstStyle/>
                    <a:p>
                      <a:pPr marL="0" lv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121900" marR="121900" marT="121900" marB="121900"/>
                </a:tc>
                <a:tc>
                  <a:txBody>
                    <a:bodyPr/>
                    <a:lstStyle/>
                    <a:p>
                      <a:pPr marL="0" lv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 i="1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...</a:t>
                      </a:r>
                      <a:endParaRPr sz="2400" i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121900" marR="121900" marT="121900" marB="12190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78792">
                <a:tc>
                  <a:txBody>
                    <a:bodyPr/>
                    <a:lstStyle/>
                    <a:p>
                      <a:pPr marL="0" lv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Deep colors (saturation)</a:t>
                      </a:r>
                      <a:endParaRPr sz="24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121900" marR="121900" marT="121900" marB="121900"/>
                </a:tc>
                <a:tc>
                  <a:txBody>
                    <a:bodyPr/>
                    <a:lstStyle/>
                    <a:p>
                      <a:pPr marL="0" lv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 i="1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Deep blue</a:t>
                      </a:r>
                      <a:endParaRPr sz="2400" i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121900" marR="121900" marT="121900" marB="12190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78792">
                <a:tc>
                  <a:txBody>
                    <a:bodyPr/>
                    <a:lstStyle/>
                    <a:p>
                      <a:pPr marL="0" lv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121900" marR="121900" marT="121900" marB="121900"/>
                </a:tc>
                <a:tc>
                  <a:txBody>
                    <a:bodyPr/>
                    <a:lstStyle/>
                    <a:p>
                      <a:pPr marL="0" lv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 i="1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Deep red</a:t>
                      </a:r>
                      <a:endParaRPr sz="2400" i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121900" marR="121900" marT="121900" marB="12190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78792">
                <a:tc>
                  <a:txBody>
                    <a:bodyPr/>
                    <a:lstStyle/>
                    <a:p>
                      <a:pPr marL="0" lv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...</a:t>
                      </a:r>
                      <a:endParaRPr sz="24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121900" marR="121900" marT="121900" marB="121900"/>
                </a:tc>
                <a:tc>
                  <a:txBody>
                    <a:bodyPr/>
                    <a:lstStyle/>
                    <a:p>
                      <a:pPr marL="0" lv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 i="1" dirty="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...</a:t>
                      </a:r>
                      <a:endParaRPr sz="2400" i="1" dirty="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121900" marR="121900" marT="121900" marB="12190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6314200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Постановка задачи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Чтобы составить такую анкету автоматически, нужно решить две задачи:</a:t>
            </a:r>
          </a:p>
          <a:p>
            <a:pPr marL="152396" indent="0">
              <a:buNone/>
            </a:pPr>
            <a:endParaRPr lang="ru-RU" dirty="0"/>
          </a:p>
          <a:p>
            <a:pPr marL="666746" indent="-514350">
              <a:buAutoNum type="arabicPeriod"/>
            </a:pPr>
            <a:r>
              <a:rPr lang="ru-RU" dirty="0"/>
              <a:t>Составить список словосочетаний-иллюстраций</a:t>
            </a:r>
          </a:p>
          <a:p>
            <a:pPr marL="666746" indent="-514350">
              <a:buAutoNum type="arabicPeriod"/>
            </a:pPr>
            <a:r>
              <a:rPr lang="ru-RU" dirty="0"/>
              <a:t>Разбить их на группы</a:t>
            </a:r>
          </a:p>
          <a:p>
            <a:pPr marL="666746" indent="-514350">
              <a:buAutoNum type="arabicPeriod"/>
            </a:pPr>
            <a:endParaRPr lang="ru-RU" dirty="0"/>
          </a:p>
          <a:p>
            <a:r>
              <a:rPr lang="ru-RU" dirty="0"/>
              <a:t>Материал – качественные многозначные прилагательные</a:t>
            </a:r>
          </a:p>
        </p:txBody>
      </p:sp>
    </p:spTree>
    <p:extLst>
      <p:ext uri="{BB962C8B-B14F-4D97-AF65-F5344CB8AC3E}">
        <p14:creationId xmlns:p14="http://schemas.microsoft.com/office/powerpoint/2010/main" val="338363567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Шаг 1: список словосочетаний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457200" indent="-457200">
              <a:spcBef>
                <a:spcPts val="1200"/>
              </a:spcBef>
            </a:pPr>
            <a:r>
              <a:rPr lang="ru-RU" sz="3200" dirty="0"/>
              <a:t>Основной </a:t>
            </a:r>
            <a:r>
              <a:rPr lang="ru-RU" sz="3200" dirty="0" err="1"/>
              <a:t>подкорпус</a:t>
            </a:r>
            <a:r>
              <a:rPr lang="ru-RU" sz="3200" dirty="0"/>
              <a:t> НКРЯ</a:t>
            </a:r>
          </a:p>
          <a:p>
            <a:pPr marL="457200" indent="-457200">
              <a:spcBef>
                <a:spcPts val="1200"/>
              </a:spcBef>
            </a:pPr>
            <a:r>
              <a:rPr lang="ru-RU" sz="3200" dirty="0"/>
              <a:t>Список существительных, которые встречаются справа от интересующего нас прилагательного (т.е. окно = +1) не менее 10 раз*</a:t>
            </a:r>
          </a:p>
          <a:p>
            <a:pPr marL="457200" indent="-457200">
              <a:spcBef>
                <a:spcPts val="1200"/>
              </a:spcBef>
            </a:pPr>
            <a:endParaRPr lang="ru-RU" dirty="0"/>
          </a:p>
          <a:p>
            <a:pPr marL="0" indent="0">
              <a:spcBef>
                <a:spcPts val="1200"/>
              </a:spcBef>
              <a:buNone/>
            </a:pPr>
            <a:endParaRPr lang="ru-RU" dirty="0"/>
          </a:p>
          <a:p>
            <a:pPr marL="0" indent="0">
              <a:spcBef>
                <a:spcPts val="1200"/>
              </a:spcBef>
              <a:buNone/>
            </a:pPr>
            <a:r>
              <a:rPr lang="ru-RU" sz="2400" dirty="0"/>
              <a:t>* Оптимальное значение этого параметра хитрым образом зависит от частотности и многозначности прилагательного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64985623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Шаг 2: разбиение словосочетаний на группы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15600" y="1702501"/>
            <a:ext cx="11360800" cy="4403600"/>
          </a:xfrm>
        </p:spPr>
        <p:txBody>
          <a:bodyPr/>
          <a:lstStyle/>
          <a:p>
            <a:pPr marL="457200" indent="-457200">
              <a:spcBef>
                <a:spcPts val="1200"/>
              </a:spcBef>
            </a:pPr>
            <a:r>
              <a:rPr lang="ru-RU" dirty="0">
                <a:ea typeface="Calibri"/>
                <a:cs typeface="Calibri"/>
                <a:sym typeface="Calibri"/>
              </a:rPr>
              <a:t>Векторное представление для каждого словосочетания</a:t>
            </a:r>
          </a:p>
          <a:p>
            <a:pPr marL="457200" indent="-457200">
              <a:spcBef>
                <a:spcPts val="1200"/>
              </a:spcBef>
            </a:pPr>
            <a:r>
              <a:rPr lang="ru-RU" dirty="0">
                <a:ea typeface="Calibri"/>
                <a:cs typeface="Calibri"/>
                <a:sym typeface="Calibri"/>
              </a:rPr>
              <a:t>Кластеризация векторного пространства</a:t>
            </a:r>
          </a:p>
        </p:txBody>
      </p:sp>
      <p:pic>
        <p:nvPicPr>
          <p:cNvPr id="4" name="Google Shape;216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602524" y="3168117"/>
            <a:ext cx="6156974" cy="247302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4937698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Векторное представление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>
              <a:spcBef>
                <a:spcPts val="1200"/>
              </a:spcBef>
            </a:pPr>
            <a:r>
              <a:rPr lang="ru-RU" dirty="0"/>
              <a:t>Матрица совместной встречаемости</a:t>
            </a:r>
          </a:p>
          <a:p>
            <a:pPr marL="457200">
              <a:spcBef>
                <a:spcPts val="1200"/>
              </a:spcBef>
            </a:pPr>
            <a:r>
              <a:rPr lang="ru-RU" dirty="0"/>
              <a:t>Измерения: 10 000 самых частотных знаменательных слов</a:t>
            </a:r>
          </a:p>
          <a:p>
            <a:pPr marL="457200">
              <a:spcBef>
                <a:spcPts val="1200"/>
              </a:spcBef>
            </a:pPr>
            <a:r>
              <a:rPr lang="ru-RU" dirty="0"/>
              <a:t>Обработка матрицы: взвешивание, сокращение размерности до 300 (</a:t>
            </a:r>
            <a:r>
              <a:rPr lang="en-US" dirty="0"/>
              <a:t>SVD</a:t>
            </a:r>
            <a:r>
              <a:rPr lang="ru-RU" dirty="0"/>
              <a:t>)</a:t>
            </a:r>
            <a:r>
              <a:rPr lang="en-US" dirty="0"/>
              <a:t>, </a:t>
            </a:r>
            <a:r>
              <a:rPr lang="ru-RU" dirty="0"/>
              <a:t>нормализация</a:t>
            </a:r>
          </a:p>
          <a:p>
            <a:pPr marL="457200">
              <a:spcBef>
                <a:spcPts val="1200"/>
              </a:spcBef>
            </a:pPr>
            <a:r>
              <a:rPr lang="ru-RU" dirty="0"/>
              <a:t>Вектора словосочетаний: простая сумма векторов существительных и прилагательных</a:t>
            </a:r>
          </a:p>
        </p:txBody>
      </p:sp>
    </p:spTree>
    <p:extLst>
      <p:ext uri="{BB962C8B-B14F-4D97-AF65-F5344CB8AC3E}">
        <p14:creationId xmlns:p14="http://schemas.microsoft.com/office/powerpoint/2010/main" val="338194931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Кластеризация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Bef>
                <a:spcPts val="1200"/>
              </a:spcBef>
            </a:pPr>
            <a:r>
              <a:rPr lang="ru-RU" dirty="0"/>
              <a:t>Все кластеры, содержащие меньше 3 элементов, удаляются</a:t>
            </a:r>
          </a:p>
          <a:p>
            <a:pPr>
              <a:spcBef>
                <a:spcPts val="1200"/>
              </a:spcBef>
            </a:pPr>
            <a:r>
              <a:rPr lang="ru-RU" dirty="0"/>
              <a:t>Из остальных выбирается по 3 элемента, максимально близких к центру кластера</a:t>
            </a:r>
          </a:p>
          <a:p>
            <a:pPr>
              <a:spcBef>
                <a:spcPts val="1200"/>
              </a:spcBef>
            </a:pPr>
            <a:endParaRPr lang="ru-RU" dirty="0"/>
          </a:p>
          <a:p>
            <a:pPr marL="152396" indent="0">
              <a:spcBef>
                <a:spcPts val="1200"/>
              </a:spcBef>
              <a:buNone/>
            </a:pPr>
            <a:r>
              <a:rPr lang="ru-RU" dirty="0"/>
              <a:t>Мотивация:</a:t>
            </a:r>
          </a:p>
          <a:p>
            <a:pPr>
              <a:spcBef>
                <a:spcPts val="1200"/>
              </a:spcBef>
            </a:pPr>
            <a:r>
              <a:rPr lang="ru-RU" dirty="0"/>
              <a:t>Уменьшение размера анкеты</a:t>
            </a:r>
          </a:p>
          <a:p>
            <a:pPr>
              <a:spcBef>
                <a:spcPts val="1200"/>
              </a:spcBef>
            </a:pPr>
            <a:r>
              <a:rPr lang="ru-RU" dirty="0"/>
              <a:t>Повышение степени чистоты кластеров</a:t>
            </a:r>
          </a:p>
        </p:txBody>
      </p:sp>
    </p:spTree>
    <p:extLst>
      <p:ext uri="{BB962C8B-B14F-4D97-AF65-F5344CB8AC3E}">
        <p14:creationId xmlns:p14="http://schemas.microsoft.com/office/powerpoint/2010/main" val="378327315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15600" y="255742"/>
            <a:ext cx="11360800" cy="943200"/>
          </a:xfrm>
        </p:spPr>
        <p:txBody>
          <a:bodyPr>
            <a:normAutofit fontScale="90000"/>
          </a:bodyPr>
          <a:lstStyle/>
          <a:p>
            <a:r>
              <a:rPr lang="ru-RU" dirty="0"/>
              <a:t>Иллюстрация:</a:t>
            </a:r>
            <a:br>
              <a:rPr lang="ru-RU" dirty="0"/>
            </a:br>
            <a:r>
              <a:rPr lang="ru-RU" dirty="0"/>
              <a:t>один из кластеров для прилагательного </a:t>
            </a:r>
            <a:r>
              <a:rPr lang="ru-RU" i="1" dirty="0"/>
              <a:t>прямой</a:t>
            </a:r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534573" y="1744704"/>
            <a:ext cx="10128738" cy="4403600"/>
          </a:xfrm>
        </p:spPr>
        <p:txBody>
          <a:bodyPr/>
          <a:lstStyle/>
          <a:p>
            <a:pPr marL="0" indent="0">
              <a:spcBef>
                <a:spcPts val="600"/>
              </a:spcBef>
              <a:buNone/>
              <a:defRPr/>
            </a:pPr>
            <a:r>
              <a:rPr lang="ru-RU" dirty="0" err="1"/>
              <a:t>прямой_линия</a:t>
            </a:r>
            <a:endParaRPr lang="ru-RU" dirty="0"/>
          </a:p>
          <a:p>
            <a:pPr marL="0" indent="0">
              <a:spcBef>
                <a:spcPts val="600"/>
              </a:spcBef>
              <a:buNone/>
              <a:defRPr/>
            </a:pPr>
            <a:r>
              <a:rPr lang="ru-RU" dirty="0" err="1"/>
              <a:t>прямой_путь</a:t>
            </a:r>
            <a:endParaRPr lang="ru-RU" dirty="0"/>
          </a:p>
          <a:p>
            <a:pPr marL="0" indent="0">
              <a:spcBef>
                <a:spcPts val="600"/>
              </a:spcBef>
              <a:buNone/>
              <a:defRPr/>
            </a:pPr>
            <a:r>
              <a:rPr lang="ru-RU" dirty="0" err="1"/>
              <a:t>прямой_эфир</a:t>
            </a:r>
            <a:endParaRPr lang="ru-RU" dirty="0"/>
          </a:p>
          <a:p>
            <a:pPr marL="0" indent="0">
              <a:spcBef>
                <a:spcPts val="600"/>
              </a:spcBef>
              <a:buNone/>
              <a:defRPr/>
            </a:pPr>
            <a:r>
              <a:rPr lang="ru-RU" dirty="0" err="1"/>
              <a:t>прямой_наводка</a:t>
            </a:r>
            <a:endParaRPr lang="ru-RU" dirty="0"/>
          </a:p>
          <a:p>
            <a:pPr marL="0" indent="0">
              <a:spcBef>
                <a:spcPts val="600"/>
              </a:spcBef>
              <a:buNone/>
              <a:defRPr/>
            </a:pPr>
            <a:r>
              <a:rPr lang="ru-RU" dirty="0" err="1"/>
              <a:t>прямой_попадание</a:t>
            </a:r>
            <a:endParaRPr lang="ru-RU" dirty="0"/>
          </a:p>
          <a:p>
            <a:pPr marL="0" indent="0">
              <a:spcBef>
                <a:spcPts val="600"/>
              </a:spcBef>
              <a:buNone/>
              <a:defRPr/>
            </a:pPr>
            <a:r>
              <a:rPr lang="ru-RU" dirty="0" err="1"/>
              <a:t>прямой_удар</a:t>
            </a:r>
            <a:endParaRPr lang="ru-RU" dirty="0"/>
          </a:p>
          <a:p>
            <a:pPr marL="0" indent="0">
              <a:spcBef>
                <a:spcPts val="600"/>
              </a:spcBef>
              <a:buNone/>
              <a:defRPr/>
            </a:pPr>
            <a:r>
              <a:rPr lang="ru-RU" dirty="0" err="1"/>
              <a:t>прямой_кишка</a:t>
            </a:r>
            <a:endParaRPr lang="ru-RU" dirty="0"/>
          </a:p>
          <a:p>
            <a:pPr marL="0" indent="0">
              <a:spcBef>
                <a:spcPts val="600"/>
              </a:spcBef>
              <a:buNone/>
              <a:defRPr/>
            </a:pPr>
            <a:r>
              <a:rPr lang="ru-RU" dirty="0" err="1"/>
              <a:t>прямой_направление</a:t>
            </a:r>
            <a:endParaRPr lang="ru-RU" dirty="0"/>
          </a:p>
          <a:p>
            <a:pPr marL="0" indent="0">
              <a:spcBef>
                <a:spcPts val="600"/>
              </a:spcBef>
              <a:buNone/>
              <a:defRPr/>
            </a:pPr>
            <a:r>
              <a:rPr lang="ru-RU" dirty="0" err="1"/>
              <a:t>прямой_участок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6312866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200" y="508961"/>
            <a:ext cx="11360800" cy="943200"/>
          </a:xfrm>
        </p:spPr>
        <p:txBody>
          <a:bodyPr/>
          <a:lstStyle/>
          <a:p>
            <a:r>
              <a:rPr lang="ru-RU" dirty="0"/>
              <a:t>Иллюстрация: </a:t>
            </a:r>
            <a:r>
              <a:rPr lang="ru-RU" i="1" dirty="0"/>
              <a:t>прямой, </a:t>
            </a:r>
            <a:r>
              <a:rPr lang="ru-RU" dirty="0" err="1"/>
              <a:t>центроиды</a:t>
            </a:r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/>
        <p:txBody>
          <a:bodyPr numCol="2">
            <a:normAutofit/>
          </a:bodyPr>
          <a:lstStyle/>
          <a:p>
            <a:pPr marL="0" indent="449263">
              <a:buNone/>
              <a:defRPr/>
            </a:pPr>
            <a:r>
              <a:rPr lang="ru-RU" altLang="ru-RU" u="sng" dirty="0"/>
              <a:t>Кластер 1:</a:t>
            </a:r>
          </a:p>
          <a:p>
            <a:pPr marL="0" indent="449263">
              <a:buNone/>
              <a:defRPr/>
            </a:pPr>
            <a:r>
              <a:rPr lang="ru-RU" altLang="ru-RU" dirty="0"/>
              <a:t>прямой столб</a:t>
            </a:r>
          </a:p>
          <a:p>
            <a:pPr marL="0" indent="449263">
              <a:buNone/>
              <a:defRPr/>
            </a:pPr>
            <a:r>
              <a:rPr lang="ru-RU" altLang="ru-RU" dirty="0"/>
              <a:t>прямая дорожка</a:t>
            </a:r>
          </a:p>
          <a:p>
            <a:pPr marL="0" indent="449263">
              <a:buNone/>
              <a:defRPr/>
            </a:pPr>
            <a:r>
              <a:rPr lang="ru-RU" altLang="ru-RU" dirty="0"/>
              <a:t>прямая аллея</a:t>
            </a:r>
          </a:p>
          <a:p>
            <a:pPr marL="0" indent="449263">
              <a:buNone/>
              <a:defRPr/>
            </a:pPr>
            <a:endParaRPr lang="ru-RU" altLang="ru-RU" dirty="0"/>
          </a:p>
          <a:p>
            <a:pPr marL="0" indent="449263">
              <a:buNone/>
              <a:defRPr/>
            </a:pPr>
            <a:r>
              <a:rPr lang="ru-RU" altLang="ru-RU" u="sng" dirty="0"/>
              <a:t>Кластер 2:</a:t>
            </a:r>
          </a:p>
          <a:p>
            <a:pPr marL="0" indent="449263">
              <a:buNone/>
              <a:defRPr/>
            </a:pPr>
            <a:r>
              <a:rPr lang="ru-RU" altLang="ru-RU" dirty="0"/>
              <a:t>прямой репортаж</a:t>
            </a:r>
          </a:p>
          <a:p>
            <a:pPr marL="0" indent="449263">
              <a:buNone/>
              <a:defRPr/>
            </a:pPr>
            <a:r>
              <a:rPr lang="ru-RU" altLang="ru-RU" dirty="0"/>
              <a:t>прямая трансляция</a:t>
            </a:r>
          </a:p>
          <a:p>
            <a:pPr marL="0" indent="449263">
              <a:buNone/>
              <a:defRPr/>
            </a:pPr>
            <a:r>
              <a:rPr lang="ru-RU" altLang="ru-RU" dirty="0"/>
              <a:t>прямой номер</a:t>
            </a:r>
          </a:p>
          <a:p>
            <a:pPr marL="0" indent="0">
              <a:buNone/>
              <a:defRPr/>
            </a:pPr>
            <a:endParaRPr lang="ru-RU" altLang="ru-RU" u="sng" dirty="0"/>
          </a:p>
          <a:p>
            <a:pPr marL="0" indent="0">
              <a:buNone/>
              <a:defRPr/>
            </a:pPr>
            <a:r>
              <a:rPr lang="ru-RU" altLang="ru-RU" u="sng" dirty="0"/>
              <a:t>Кластер 3:</a:t>
            </a:r>
          </a:p>
          <a:p>
            <a:pPr marL="0" indent="0">
              <a:buNone/>
              <a:defRPr/>
            </a:pPr>
            <a:r>
              <a:rPr lang="ru-RU" altLang="ru-RU" dirty="0"/>
              <a:t>прямой потомок</a:t>
            </a:r>
          </a:p>
          <a:p>
            <a:pPr marL="0" indent="0">
              <a:buNone/>
              <a:defRPr/>
            </a:pPr>
            <a:r>
              <a:rPr lang="ru-RU" altLang="ru-RU" dirty="0"/>
              <a:t>прямой предшественник</a:t>
            </a:r>
          </a:p>
          <a:p>
            <a:pPr marL="0" indent="0">
              <a:buNone/>
              <a:defRPr/>
            </a:pPr>
            <a:r>
              <a:rPr lang="ru-RU" altLang="ru-RU" dirty="0"/>
              <a:t>прямое наследие</a:t>
            </a:r>
          </a:p>
          <a:p>
            <a:pPr marL="0" indent="0">
              <a:buNone/>
              <a:defRPr/>
            </a:pPr>
            <a:endParaRPr lang="ru-RU" altLang="ru-RU" dirty="0"/>
          </a:p>
          <a:p>
            <a:pPr marL="0" indent="0">
              <a:buNone/>
              <a:defRPr/>
            </a:pPr>
            <a:r>
              <a:rPr lang="ru-RU" altLang="ru-RU" u="sng" dirty="0"/>
              <a:t>Кластер 4:</a:t>
            </a:r>
          </a:p>
          <a:p>
            <a:pPr marL="0" indent="0">
              <a:buNone/>
              <a:defRPr/>
            </a:pPr>
            <a:r>
              <a:rPr lang="ru-RU" altLang="ru-RU" dirty="0"/>
              <a:t>прямой умысел</a:t>
            </a:r>
          </a:p>
          <a:p>
            <a:pPr marL="0" indent="0">
              <a:buNone/>
              <a:defRPr/>
            </a:pPr>
            <a:r>
              <a:rPr lang="ru-RU" altLang="ru-RU" dirty="0"/>
              <a:t>прямая измена</a:t>
            </a:r>
          </a:p>
          <a:p>
            <a:pPr marL="0" indent="0">
              <a:buNone/>
              <a:defRPr/>
            </a:pPr>
            <a:r>
              <a:rPr lang="ru-RU" altLang="ru-RU" dirty="0"/>
              <a:t>прямое предательство</a:t>
            </a:r>
            <a:endParaRPr lang="fr-FR" alt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4227250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35"/>
          <p:cNvSpPr txBox="1">
            <a:spLocks noGrp="1"/>
          </p:cNvSpPr>
          <p:nvPr>
            <p:ph type="title"/>
          </p:nvPr>
        </p:nvSpPr>
        <p:spPr>
          <a:xfrm>
            <a:off x="415600" y="195367"/>
            <a:ext cx="11360800" cy="13412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r>
              <a:rPr lang="ru-RU" dirty="0"/>
              <a:t>Качественная оценка результатов:</a:t>
            </a:r>
            <a:br>
              <a:rPr lang="ru-RU" dirty="0"/>
            </a:br>
            <a:r>
              <a:rPr lang="ru-RU" dirty="0"/>
              <a:t>фрагмент кластеризации для </a:t>
            </a:r>
            <a:r>
              <a:rPr lang="ru-RU" i="1" dirty="0"/>
              <a:t>прямой</a:t>
            </a:r>
            <a:endParaRPr dirty="0"/>
          </a:p>
        </p:txBody>
      </p:sp>
      <p:sp>
        <p:nvSpPr>
          <p:cNvPr id="252" name="Google Shape;252;p35"/>
          <p:cNvSpPr txBox="1">
            <a:spLocks noGrp="1"/>
          </p:cNvSpPr>
          <p:nvPr>
            <p:ph type="body" idx="1"/>
          </p:nvPr>
        </p:nvSpPr>
        <p:spPr>
          <a:xfrm>
            <a:off x="667400" y="1675300"/>
            <a:ext cx="11360800" cy="440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marL="0" indent="0">
              <a:spcBef>
                <a:spcPts val="1600"/>
              </a:spcBef>
              <a:buNone/>
            </a:pPr>
            <a:r>
              <a:rPr lang="en" u="sng" dirty="0">
                <a:solidFill>
                  <a:srgbClr val="000000"/>
                </a:solidFill>
              </a:rPr>
              <a:t>Cluster 1:</a:t>
            </a:r>
            <a:endParaRPr u="sng" dirty="0">
              <a:solidFill>
                <a:srgbClr val="000000"/>
              </a:solidFill>
            </a:endParaRPr>
          </a:p>
          <a:p>
            <a:pPr marL="0" indent="0">
              <a:spcBef>
                <a:spcPts val="1600"/>
              </a:spcBef>
              <a:buNone/>
            </a:pPr>
            <a:r>
              <a:rPr lang="ru-RU" b="1" i="1" dirty="0">
                <a:solidFill>
                  <a:srgbClr val="000000"/>
                </a:solidFill>
              </a:rPr>
              <a:t>прямой</a:t>
            </a:r>
            <a:r>
              <a:rPr lang="en" i="1" dirty="0">
                <a:solidFill>
                  <a:srgbClr val="000000"/>
                </a:solidFill>
              </a:rPr>
              <a:t>_</a:t>
            </a:r>
            <a:r>
              <a:rPr lang="ru-RU" i="1" dirty="0">
                <a:solidFill>
                  <a:srgbClr val="000000"/>
                </a:solidFill>
              </a:rPr>
              <a:t>столб</a:t>
            </a:r>
            <a:endParaRPr dirty="0">
              <a:solidFill>
                <a:srgbClr val="000000"/>
              </a:solidFill>
            </a:endParaRPr>
          </a:p>
          <a:p>
            <a:pPr marL="0" indent="0">
              <a:spcBef>
                <a:spcPts val="1600"/>
              </a:spcBef>
              <a:buNone/>
            </a:pPr>
            <a:r>
              <a:rPr lang="ru-RU" b="1" i="1" dirty="0">
                <a:solidFill>
                  <a:srgbClr val="000000"/>
                </a:solidFill>
              </a:rPr>
              <a:t>прямой</a:t>
            </a:r>
            <a:r>
              <a:rPr lang="en" i="1" dirty="0">
                <a:solidFill>
                  <a:srgbClr val="000000"/>
                </a:solidFill>
              </a:rPr>
              <a:t>_</a:t>
            </a:r>
            <a:r>
              <a:rPr lang="ru-RU" i="1" dirty="0">
                <a:solidFill>
                  <a:srgbClr val="000000"/>
                </a:solidFill>
              </a:rPr>
              <a:t>дорожка</a:t>
            </a:r>
            <a:endParaRPr dirty="0">
              <a:solidFill>
                <a:srgbClr val="000000"/>
              </a:solidFill>
            </a:endParaRPr>
          </a:p>
          <a:p>
            <a:pPr marL="0" indent="0">
              <a:spcBef>
                <a:spcPts val="1600"/>
              </a:spcBef>
              <a:buNone/>
            </a:pPr>
            <a:r>
              <a:rPr lang="ru-RU" b="1" i="1" dirty="0">
                <a:solidFill>
                  <a:srgbClr val="000000"/>
                </a:solidFill>
              </a:rPr>
              <a:t>прямой</a:t>
            </a:r>
            <a:r>
              <a:rPr lang="en" i="1" dirty="0">
                <a:solidFill>
                  <a:srgbClr val="000000"/>
                </a:solidFill>
              </a:rPr>
              <a:t>_</a:t>
            </a:r>
            <a:r>
              <a:rPr lang="ru-RU" i="1" dirty="0">
                <a:solidFill>
                  <a:srgbClr val="000000"/>
                </a:solidFill>
              </a:rPr>
              <a:t>аллея</a:t>
            </a:r>
            <a:endParaRPr dirty="0">
              <a:solidFill>
                <a:srgbClr val="000000"/>
              </a:solidFill>
            </a:endParaRPr>
          </a:p>
          <a:p>
            <a:pPr marL="0" indent="0">
              <a:spcBef>
                <a:spcPts val="1600"/>
              </a:spcBef>
              <a:buNone/>
            </a:pPr>
            <a:r>
              <a:rPr lang="en" u="sng" dirty="0">
                <a:solidFill>
                  <a:srgbClr val="000000"/>
                </a:solidFill>
              </a:rPr>
              <a:t>Cluster 2:</a:t>
            </a:r>
            <a:endParaRPr u="sng" dirty="0">
              <a:solidFill>
                <a:srgbClr val="000000"/>
              </a:solidFill>
            </a:endParaRPr>
          </a:p>
          <a:p>
            <a:pPr marL="0" indent="0">
              <a:spcBef>
                <a:spcPts val="1600"/>
              </a:spcBef>
              <a:buNone/>
            </a:pPr>
            <a:r>
              <a:rPr lang="ru-RU" b="1" i="1" dirty="0">
                <a:solidFill>
                  <a:srgbClr val="000000"/>
                </a:solidFill>
              </a:rPr>
              <a:t>прямой</a:t>
            </a:r>
            <a:r>
              <a:rPr lang="en" i="1" dirty="0">
                <a:solidFill>
                  <a:srgbClr val="000000"/>
                </a:solidFill>
              </a:rPr>
              <a:t>_</a:t>
            </a:r>
            <a:r>
              <a:rPr lang="ru-RU" i="1" dirty="0">
                <a:solidFill>
                  <a:srgbClr val="000000"/>
                </a:solidFill>
              </a:rPr>
              <a:t>потомок</a:t>
            </a:r>
            <a:endParaRPr dirty="0">
              <a:solidFill>
                <a:srgbClr val="000000"/>
              </a:solidFill>
            </a:endParaRPr>
          </a:p>
          <a:p>
            <a:pPr marL="0" indent="0">
              <a:spcBef>
                <a:spcPts val="1600"/>
              </a:spcBef>
              <a:buNone/>
            </a:pPr>
            <a:r>
              <a:rPr lang="ru-RU" b="1" i="1" dirty="0">
                <a:solidFill>
                  <a:srgbClr val="000000"/>
                </a:solidFill>
              </a:rPr>
              <a:t>прямой</a:t>
            </a:r>
            <a:r>
              <a:rPr lang="en" i="1" dirty="0">
                <a:solidFill>
                  <a:srgbClr val="000000"/>
                </a:solidFill>
              </a:rPr>
              <a:t>_</a:t>
            </a:r>
            <a:r>
              <a:rPr lang="ru-RU" i="1" dirty="0">
                <a:solidFill>
                  <a:srgbClr val="000000"/>
                </a:solidFill>
              </a:rPr>
              <a:t>предшественник</a:t>
            </a:r>
            <a:endParaRPr dirty="0">
              <a:solidFill>
                <a:srgbClr val="000000"/>
              </a:solidFill>
            </a:endParaRPr>
          </a:p>
          <a:p>
            <a:pPr marL="0" indent="0">
              <a:spcBef>
                <a:spcPts val="1600"/>
              </a:spcBef>
              <a:spcAft>
                <a:spcPts val="267"/>
              </a:spcAft>
              <a:buNone/>
            </a:pPr>
            <a:r>
              <a:rPr lang="ru-RU" b="1" i="1" dirty="0">
                <a:solidFill>
                  <a:srgbClr val="000000"/>
                </a:solidFill>
              </a:rPr>
              <a:t>прямой</a:t>
            </a:r>
            <a:r>
              <a:rPr lang="en" i="1" dirty="0">
                <a:solidFill>
                  <a:srgbClr val="000000"/>
                </a:solidFill>
              </a:rPr>
              <a:t>_</a:t>
            </a:r>
            <a:r>
              <a:rPr lang="ru-RU" i="1" dirty="0">
                <a:solidFill>
                  <a:srgbClr val="000000"/>
                </a:solidFill>
              </a:rPr>
              <a:t>наследие</a:t>
            </a:r>
            <a:endParaRPr dirty="0">
              <a:solidFill>
                <a:srgbClr val="000000"/>
              </a:solidFill>
            </a:endParaRPr>
          </a:p>
        </p:txBody>
      </p:sp>
      <p:sp>
        <p:nvSpPr>
          <p:cNvPr id="253" name="Google Shape;253;p35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fld id="{00000000-1234-1234-1234-123412341234}" type="slidenum">
              <a:rPr lang="en"/>
              <a:pPr/>
              <a:t>34</a:t>
            </a:fld>
            <a:endParaRPr/>
          </a:p>
        </p:txBody>
      </p:sp>
      <p:sp>
        <p:nvSpPr>
          <p:cNvPr id="254" name="Google Shape;254;p35"/>
          <p:cNvSpPr txBox="1"/>
          <p:nvPr/>
        </p:nvSpPr>
        <p:spPr>
          <a:xfrm>
            <a:off x="8128421" y="1798932"/>
            <a:ext cx="2591161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ru-RU" sz="2400" u="sng" dirty="0">
                <a:latin typeface="Open Sans"/>
                <a:ea typeface="Open Sans"/>
                <a:cs typeface="Open Sans"/>
                <a:sym typeface="Open Sans"/>
              </a:rPr>
              <a:t>АНГЛИЙСКИЙ</a:t>
            </a:r>
            <a:r>
              <a:rPr lang="en" sz="2400" u="sng" dirty="0">
                <a:latin typeface="Open Sans"/>
                <a:ea typeface="Open Sans"/>
                <a:cs typeface="Open Sans"/>
                <a:sym typeface="Open Sans"/>
              </a:rPr>
              <a:t>:</a:t>
            </a:r>
            <a:endParaRPr sz="2400" u="sng" dirty="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55" name="Google Shape;255;p35"/>
          <p:cNvSpPr txBox="1"/>
          <p:nvPr/>
        </p:nvSpPr>
        <p:spPr>
          <a:xfrm>
            <a:off x="8128421" y="2972164"/>
            <a:ext cx="1994400" cy="63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sz="2400" dirty="0">
                <a:latin typeface="Open Sans"/>
                <a:ea typeface="Open Sans"/>
                <a:cs typeface="Open Sans"/>
                <a:sym typeface="Open Sans"/>
              </a:rPr>
              <a:t>STRAIGHT</a:t>
            </a:r>
            <a:endParaRPr sz="2400" dirty="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56" name="Google Shape;256;p35"/>
          <p:cNvSpPr txBox="1"/>
          <p:nvPr/>
        </p:nvSpPr>
        <p:spPr>
          <a:xfrm>
            <a:off x="8320821" y="5051828"/>
            <a:ext cx="1469600" cy="63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sz="2400" dirty="0">
                <a:latin typeface="Open Sans"/>
                <a:ea typeface="Open Sans"/>
                <a:cs typeface="Open Sans"/>
                <a:sym typeface="Open Sans"/>
              </a:rPr>
              <a:t>DIRECT</a:t>
            </a:r>
            <a:endParaRPr sz="2400" dirty="0">
              <a:latin typeface="Open Sans"/>
              <a:ea typeface="Open Sans"/>
              <a:cs typeface="Open Sans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90108532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36"/>
          <p:cNvSpPr txBox="1">
            <a:spLocks noGrp="1"/>
          </p:cNvSpPr>
          <p:nvPr>
            <p:ph type="title"/>
          </p:nvPr>
        </p:nvSpPr>
        <p:spPr>
          <a:xfrm>
            <a:off x="415600" y="107900"/>
            <a:ext cx="11360800" cy="13412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r>
              <a:rPr lang="ru-RU" dirty="0"/>
              <a:t>Качественная оценка:</a:t>
            </a:r>
            <a:br>
              <a:rPr lang="ru-RU" dirty="0"/>
            </a:br>
            <a:r>
              <a:rPr lang="ru-RU" dirty="0"/>
              <a:t>фрагмент кластеризации для </a:t>
            </a:r>
            <a:r>
              <a:rPr lang="ru-RU" i="1" dirty="0"/>
              <a:t>острый</a:t>
            </a:r>
            <a:endParaRPr dirty="0"/>
          </a:p>
        </p:txBody>
      </p:sp>
      <p:sp>
        <p:nvSpPr>
          <p:cNvPr id="262" name="Google Shape;262;p36"/>
          <p:cNvSpPr txBox="1">
            <a:spLocks noGrp="1"/>
          </p:cNvSpPr>
          <p:nvPr>
            <p:ph type="body" idx="1"/>
          </p:nvPr>
        </p:nvSpPr>
        <p:spPr>
          <a:xfrm>
            <a:off x="542210" y="1682925"/>
            <a:ext cx="11360800" cy="440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marL="0" indent="0">
              <a:lnSpc>
                <a:spcPct val="120000"/>
              </a:lnSpc>
              <a:spcBef>
                <a:spcPts val="1333"/>
              </a:spcBef>
              <a:buNone/>
            </a:pPr>
            <a:r>
              <a:rPr lang="en" u="sng" dirty="0">
                <a:solidFill>
                  <a:srgbClr val="000000"/>
                </a:solidFill>
              </a:rPr>
              <a:t>Cluster 1:</a:t>
            </a:r>
            <a:endParaRPr u="sng" dirty="0">
              <a:solidFill>
                <a:srgbClr val="000000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1333"/>
              </a:spcBef>
              <a:buNone/>
            </a:pPr>
            <a:r>
              <a:rPr lang="ru-RU" b="1" i="1" dirty="0">
                <a:solidFill>
                  <a:srgbClr val="000000"/>
                </a:solidFill>
              </a:rPr>
              <a:t>острый</a:t>
            </a:r>
            <a:r>
              <a:rPr lang="en" i="1" dirty="0">
                <a:solidFill>
                  <a:srgbClr val="000000"/>
                </a:solidFill>
              </a:rPr>
              <a:t>_</a:t>
            </a:r>
            <a:r>
              <a:rPr lang="ru-RU" i="1" dirty="0">
                <a:solidFill>
                  <a:srgbClr val="000000"/>
                </a:solidFill>
              </a:rPr>
              <a:t>лезвие</a:t>
            </a:r>
            <a:r>
              <a:rPr lang="en" dirty="0">
                <a:solidFill>
                  <a:srgbClr val="000000"/>
                </a:solidFill>
              </a:rPr>
              <a:t>, </a:t>
            </a:r>
            <a:r>
              <a:rPr lang="ru-RU" b="1" i="1" dirty="0">
                <a:solidFill>
                  <a:srgbClr val="000000"/>
                </a:solidFill>
              </a:rPr>
              <a:t>острый</a:t>
            </a:r>
            <a:r>
              <a:rPr lang="en" i="1" dirty="0">
                <a:solidFill>
                  <a:srgbClr val="000000"/>
                </a:solidFill>
              </a:rPr>
              <a:t>_</a:t>
            </a:r>
            <a:r>
              <a:rPr lang="ru-RU" i="1" dirty="0">
                <a:solidFill>
                  <a:srgbClr val="000000"/>
                </a:solidFill>
              </a:rPr>
              <a:t>ножик</a:t>
            </a:r>
            <a:r>
              <a:rPr lang="en" dirty="0">
                <a:solidFill>
                  <a:srgbClr val="000000"/>
                </a:solidFill>
              </a:rPr>
              <a:t>,</a:t>
            </a:r>
            <a:r>
              <a:rPr lang="ru-RU" dirty="0">
                <a:solidFill>
                  <a:srgbClr val="000000"/>
                </a:solidFill>
              </a:rPr>
              <a:t> </a:t>
            </a:r>
            <a:r>
              <a:rPr lang="ru-RU" b="1" i="1" dirty="0">
                <a:solidFill>
                  <a:srgbClr val="000000"/>
                </a:solidFill>
              </a:rPr>
              <a:t>острый</a:t>
            </a:r>
            <a:r>
              <a:rPr lang="en" i="1" dirty="0">
                <a:solidFill>
                  <a:srgbClr val="000000"/>
                </a:solidFill>
              </a:rPr>
              <a:t>_</a:t>
            </a:r>
            <a:r>
              <a:rPr lang="ru-RU" i="1" dirty="0">
                <a:solidFill>
                  <a:srgbClr val="000000"/>
                </a:solidFill>
              </a:rPr>
              <a:t>нож</a:t>
            </a:r>
            <a:endParaRPr dirty="0">
              <a:solidFill>
                <a:srgbClr val="000000"/>
              </a:solidFill>
            </a:endParaRPr>
          </a:p>
          <a:p>
            <a:pPr marL="0" indent="0">
              <a:lnSpc>
                <a:spcPct val="120000"/>
              </a:lnSpc>
              <a:spcBef>
                <a:spcPts val="1333"/>
              </a:spcBef>
              <a:buNone/>
            </a:pPr>
            <a:r>
              <a:rPr lang="en" u="sng" dirty="0">
                <a:solidFill>
                  <a:srgbClr val="000000"/>
                </a:solidFill>
              </a:rPr>
              <a:t>Cluster 2:</a:t>
            </a:r>
            <a:endParaRPr u="sng" dirty="0">
              <a:solidFill>
                <a:srgbClr val="000000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1333"/>
              </a:spcBef>
              <a:buNone/>
            </a:pPr>
            <a:r>
              <a:rPr lang="ru-RU" b="1" i="1" dirty="0">
                <a:solidFill>
                  <a:srgbClr val="000000"/>
                </a:solidFill>
              </a:rPr>
              <a:t>острый</a:t>
            </a:r>
            <a:r>
              <a:rPr lang="en" i="1" dirty="0">
                <a:solidFill>
                  <a:srgbClr val="000000"/>
                </a:solidFill>
              </a:rPr>
              <a:t>_</a:t>
            </a:r>
            <a:r>
              <a:rPr lang="ru-RU" i="1" dirty="0">
                <a:solidFill>
                  <a:srgbClr val="000000"/>
                </a:solidFill>
              </a:rPr>
              <a:t>стрела</a:t>
            </a:r>
            <a:r>
              <a:rPr lang="en" dirty="0">
                <a:solidFill>
                  <a:srgbClr val="000000"/>
                </a:solidFill>
              </a:rPr>
              <a:t>, </a:t>
            </a:r>
            <a:r>
              <a:rPr lang="ru-RU" b="1" i="1" dirty="0">
                <a:solidFill>
                  <a:srgbClr val="000000"/>
                </a:solidFill>
              </a:rPr>
              <a:t>острый</a:t>
            </a:r>
            <a:r>
              <a:rPr lang="en" i="1" dirty="0">
                <a:solidFill>
                  <a:srgbClr val="000000"/>
                </a:solidFill>
              </a:rPr>
              <a:t>_</a:t>
            </a:r>
            <a:r>
              <a:rPr lang="ru-RU" i="1" dirty="0">
                <a:solidFill>
                  <a:srgbClr val="000000"/>
                </a:solidFill>
              </a:rPr>
              <a:t>пика</a:t>
            </a:r>
            <a:r>
              <a:rPr lang="en" dirty="0">
                <a:solidFill>
                  <a:srgbClr val="000000"/>
                </a:solidFill>
              </a:rPr>
              <a:t>,</a:t>
            </a:r>
            <a:r>
              <a:rPr lang="ru-RU" dirty="0">
                <a:solidFill>
                  <a:srgbClr val="000000"/>
                </a:solidFill>
              </a:rPr>
              <a:t> </a:t>
            </a:r>
            <a:r>
              <a:rPr lang="ru-RU" b="1" i="1" dirty="0">
                <a:solidFill>
                  <a:srgbClr val="000000"/>
                </a:solidFill>
              </a:rPr>
              <a:t>острый</a:t>
            </a:r>
            <a:r>
              <a:rPr lang="en" i="1" dirty="0">
                <a:solidFill>
                  <a:srgbClr val="000000"/>
                </a:solidFill>
              </a:rPr>
              <a:t>_</a:t>
            </a:r>
            <a:r>
              <a:rPr lang="ru-RU" i="1" dirty="0">
                <a:solidFill>
                  <a:srgbClr val="000000"/>
                </a:solidFill>
              </a:rPr>
              <a:t>камень</a:t>
            </a:r>
            <a:endParaRPr dirty="0">
              <a:solidFill>
                <a:srgbClr val="000000"/>
              </a:solidFill>
            </a:endParaRPr>
          </a:p>
          <a:p>
            <a:pPr marL="0" indent="0">
              <a:lnSpc>
                <a:spcPct val="120000"/>
              </a:lnSpc>
              <a:spcBef>
                <a:spcPts val="1333"/>
              </a:spcBef>
              <a:buNone/>
            </a:pPr>
            <a:r>
              <a:rPr lang="en" u="sng" dirty="0">
                <a:solidFill>
                  <a:srgbClr val="000000"/>
                </a:solidFill>
              </a:rPr>
              <a:t>Cluster 3:</a:t>
            </a:r>
            <a:endParaRPr u="sng" dirty="0">
              <a:solidFill>
                <a:srgbClr val="000000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1333"/>
              </a:spcBef>
              <a:buNone/>
            </a:pPr>
            <a:r>
              <a:rPr lang="ru-RU" b="1" i="1" dirty="0">
                <a:solidFill>
                  <a:srgbClr val="000000"/>
                </a:solidFill>
              </a:rPr>
              <a:t>острый</a:t>
            </a:r>
            <a:r>
              <a:rPr lang="en" i="1" dirty="0">
                <a:solidFill>
                  <a:srgbClr val="000000"/>
                </a:solidFill>
              </a:rPr>
              <a:t>_</a:t>
            </a:r>
            <a:r>
              <a:rPr lang="ru-RU" i="1" dirty="0">
                <a:solidFill>
                  <a:srgbClr val="000000"/>
                </a:solidFill>
              </a:rPr>
              <a:t>локоть</a:t>
            </a:r>
            <a:r>
              <a:rPr lang="en" dirty="0">
                <a:solidFill>
                  <a:srgbClr val="000000"/>
                </a:solidFill>
              </a:rPr>
              <a:t>,</a:t>
            </a:r>
            <a:r>
              <a:rPr lang="ru-RU" dirty="0">
                <a:solidFill>
                  <a:srgbClr val="000000"/>
                </a:solidFill>
              </a:rPr>
              <a:t> </a:t>
            </a:r>
            <a:r>
              <a:rPr lang="ru-RU" b="1" i="1" dirty="0">
                <a:solidFill>
                  <a:srgbClr val="000000"/>
                </a:solidFill>
              </a:rPr>
              <a:t>острый</a:t>
            </a:r>
            <a:r>
              <a:rPr lang="en" i="1" dirty="0">
                <a:solidFill>
                  <a:srgbClr val="000000"/>
                </a:solidFill>
              </a:rPr>
              <a:t>_</a:t>
            </a:r>
            <a:r>
              <a:rPr lang="ru-RU" i="1" dirty="0">
                <a:solidFill>
                  <a:srgbClr val="000000"/>
                </a:solidFill>
              </a:rPr>
              <a:t>локоток</a:t>
            </a:r>
            <a:r>
              <a:rPr lang="en" dirty="0">
                <a:solidFill>
                  <a:srgbClr val="000000"/>
                </a:solidFill>
              </a:rPr>
              <a:t>,</a:t>
            </a:r>
            <a:r>
              <a:rPr lang="ru-RU" dirty="0">
                <a:solidFill>
                  <a:srgbClr val="000000"/>
                </a:solidFill>
              </a:rPr>
              <a:t> </a:t>
            </a:r>
            <a:r>
              <a:rPr lang="ru-RU" b="1" i="1" dirty="0">
                <a:solidFill>
                  <a:srgbClr val="000000"/>
                </a:solidFill>
              </a:rPr>
              <a:t>острый</a:t>
            </a:r>
            <a:r>
              <a:rPr lang="en" i="1" dirty="0">
                <a:solidFill>
                  <a:srgbClr val="000000"/>
                </a:solidFill>
              </a:rPr>
              <a:t>_</a:t>
            </a:r>
            <a:r>
              <a:rPr lang="ru-RU" i="1" dirty="0">
                <a:solidFill>
                  <a:srgbClr val="000000"/>
                </a:solidFill>
              </a:rPr>
              <a:t>колено</a:t>
            </a:r>
            <a:endParaRPr dirty="0">
              <a:solidFill>
                <a:srgbClr val="000000"/>
              </a:solidFill>
            </a:endParaRPr>
          </a:p>
        </p:txBody>
      </p:sp>
      <p:sp>
        <p:nvSpPr>
          <p:cNvPr id="263" name="Google Shape;263;p36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fld id="{00000000-1234-1234-1234-123412341234}" type="slidenum">
              <a:rPr lang="en"/>
              <a:pPr/>
              <a:t>35</a:t>
            </a:fld>
            <a:endParaRPr/>
          </a:p>
        </p:txBody>
      </p:sp>
      <p:sp>
        <p:nvSpPr>
          <p:cNvPr id="264" name="Google Shape;264;p36"/>
          <p:cNvSpPr txBox="1"/>
          <p:nvPr/>
        </p:nvSpPr>
        <p:spPr>
          <a:xfrm>
            <a:off x="8747400" y="1997925"/>
            <a:ext cx="2830311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ru-RU" sz="2400" u="sng" dirty="0">
                <a:latin typeface="Open Sans"/>
                <a:ea typeface="Open Sans"/>
                <a:cs typeface="Open Sans"/>
                <a:sym typeface="Open Sans"/>
              </a:rPr>
              <a:t>ФРАНЦУЗСКИЙ</a:t>
            </a:r>
            <a:r>
              <a:rPr lang="en" sz="2400" u="sng" dirty="0">
                <a:latin typeface="Open Sans"/>
                <a:ea typeface="Open Sans"/>
                <a:cs typeface="Open Sans"/>
                <a:sym typeface="Open Sans"/>
              </a:rPr>
              <a:t>:</a:t>
            </a:r>
            <a:endParaRPr sz="2400" u="sng" dirty="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65" name="Google Shape;265;p36"/>
          <p:cNvSpPr txBox="1"/>
          <p:nvPr/>
        </p:nvSpPr>
        <p:spPr>
          <a:xfrm>
            <a:off x="8899400" y="2601000"/>
            <a:ext cx="2292000" cy="63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sz="2400" dirty="0">
                <a:latin typeface="Open Sans"/>
                <a:ea typeface="Open Sans"/>
                <a:cs typeface="Open Sans"/>
                <a:sym typeface="Open Sans"/>
              </a:rPr>
              <a:t>TRANCHANT</a:t>
            </a:r>
            <a:endParaRPr sz="2400" dirty="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66" name="Google Shape;266;p36"/>
          <p:cNvSpPr txBox="1"/>
          <p:nvPr/>
        </p:nvSpPr>
        <p:spPr>
          <a:xfrm>
            <a:off x="9158600" y="5005851"/>
            <a:ext cx="1469600" cy="63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sz="2400" dirty="0">
                <a:latin typeface="Open Sans"/>
                <a:ea typeface="Open Sans"/>
                <a:cs typeface="Open Sans"/>
                <a:sym typeface="Open Sans"/>
              </a:rPr>
              <a:t>POINTU</a:t>
            </a:r>
            <a:endParaRPr sz="2400" dirty="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67" name="Google Shape;267;p36"/>
          <p:cNvSpPr txBox="1"/>
          <p:nvPr/>
        </p:nvSpPr>
        <p:spPr>
          <a:xfrm>
            <a:off x="8864555" y="3803425"/>
            <a:ext cx="2596000" cy="63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sz="2400" dirty="0">
                <a:latin typeface="Open Sans"/>
                <a:ea typeface="Open Sans"/>
                <a:cs typeface="Open Sans"/>
                <a:sym typeface="Open Sans"/>
              </a:rPr>
              <a:t>AIGU / POINTU</a:t>
            </a:r>
            <a:endParaRPr sz="2400" dirty="0">
              <a:latin typeface="Open Sans"/>
              <a:ea typeface="Open Sans"/>
              <a:cs typeface="Open Sans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24997226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37"/>
          <p:cNvSpPr txBox="1">
            <a:spLocks noGrp="1"/>
          </p:cNvSpPr>
          <p:nvPr>
            <p:ph type="title"/>
          </p:nvPr>
        </p:nvSpPr>
        <p:spPr>
          <a:xfrm>
            <a:off x="415600" y="0"/>
            <a:ext cx="11360800" cy="13412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r>
              <a:rPr lang="ru-RU" dirty="0"/>
              <a:t>Качественная оценка:</a:t>
            </a:r>
            <a:br>
              <a:rPr lang="ru-RU" dirty="0"/>
            </a:br>
            <a:r>
              <a:rPr lang="ru-RU" dirty="0"/>
              <a:t>Фрагмент кластеризации для </a:t>
            </a:r>
            <a:r>
              <a:rPr lang="ru-RU" i="1" dirty="0"/>
              <a:t>падать</a:t>
            </a:r>
            <a:endParaRPr dirty="0"/>
          </a:p>
        </p:txBody>
      </p:sp>
      <p:sp>
        <p:nvSpPr>
          <p:cNvPr id="273" name="Google Shape;273;p37"/>
          <p:cNvSpPr txBox="1">
            <a:spLocks noGrp="1"/>
          </p:cNvSpPr>
          <p:nvPr>
            <p:ph type="body" idx="1"/>
          </p:nvPr>
        </p:nvSpPr>
        <p:spPr>
          <a:xfrm>
            <a:off x="554859" y="1236167"/>
            <a:ext cx="11360800" cy="440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marL="0" indent="0">
              <a:lnSpc>
                <a:spcPct val="120000"/>
              </a:lnSpc>
              <a:spcBef>
                <a:spcPts val="1333"/>
              </a:spcBef>
              <a:buNone/>
            </a:pPr>
            <a:r>
              <a:rPr lang="en" u="sng" dirty="0">
                <a:solidFill>
                  <a:srgbClr val="000000"/>
                </a:solidFill>
              </a:rPr>
              <a:t>Cluster 1:</a:t>
            </a:r>
            <a:endParaRPr u="sng" dirty="0">
              <a:solidFill>
                <a:srgbClr val="000000"/>
              </a:solidFill>
            </a:endParaRPr>
          </a:p>
          <a:p>
            <a:pPr marL="0" indent="0">
              <a:lnSpc>
                <a:spcPct val="120000"/>
              </a:lnSpc>
              <a:spcBef>
                <a:spcPts val="1333"/>
              </a:spcBef>
              <a:buNone/>
            </a:pPr>
            <a:r>
              <a:rPr lang="ru-RU" dirty="0">
                <a:solidFill>
                  <a:srgbClr val="000000"/>
                </a:solidFill>
              </a:rPr>
              <a:t>столб</a:t>
            </a:r>
            <a:r>
              <a:rPr lang="en" dirty="0">
                <a:solidFill>
                  <a:srgbClr val="000000"/>
                </a:solidFill>
              </a:rPr>
              <a:t>_</a:t>
            </a:r>
            <a:r>
              <a:rPr lang="ru-RU" dirty="0">
                <a:solidFill>
                  <a:srgbClr val="000000"/>
                </a:solidFill>
              </a:rPr>
              <a:t>падать</a:t>
            </a:r>
            <a:endParaRPr dirty="0">
              <a:solidFill>
                <a:srgbClr val="000000"/>
              </a:solidFill>
            </a:endParaRPr>
          </a:p>
          <a:p>
            <a:pPr marL="0" indent="0">
              <a:lnSpc>
                <a:spcPct val="120000"/>
              </a:lnSpc>
              <a:spcBef>
                <a:spcPts val="1333"/>
              </a:spcBef>
              <a:buNone/>
            </a:pPr>
            <a:r>
              <a:rPr lang="ru-RU" dirty="0">
                <a:solidFill>
                  <a:srgbClr val="000000"/>
                </a:solidFill>
              </a:rPr>
              <a:t>башня</a:t>
            </a:r>
            <a:r>
              <a:rPr lang="en" dirty="0">
                <a:solidFill>
                  <a:srgbClr val="000000"/>
                </a:solidFill>
              </a:rPr>
              <a:t>_</a:t>
            </a:r>
            <a:r>
              <a:rPr lang="ru-RU" dirty="0">
                <a:solidFill>
                  <a:srgbClr val="000000"/>
                </a:solidFill>
              </a:rPr>
              <a:t>падать</a:t>
            </a:r>
            <a:endParaRPr dirty="0">
              <a:solidFill>
                <a:srgbClr val="000000"/>
              </a:solidFill>
            </a:endParaRPr>
          </a:p>
          <a:p>
            <a:pPr marL="0" indent="0">
              <a:lnSpc>
                <a:spcPct val="120000"/>
              </a:lnSpc>
              <a:spcBef>
                <a:spcPts val="1333"/>
              </a:spcBef>
              <a:buNone/>
            </a:pPr>
            <a:r>
              <a:rPr lang="ru-RU" dirty="0">
                <a:solidFill>
                  <a:srgbClr val="000000"/>
                </a:solidFill>
              </a:rPr>
              <a:t>стена</a:t>
            </a:r>
            <a:r>
              <a:rPr lang="en" dirty="0">
                <a:solidFill>
                  <a:srgbClr val="000000"/>
                </a:solidFill>
              </a:rPr>
              <a:t>_</a:t>
            </a:r>
            <a:r>
              <a:rPr lang="ru-RU" dirty="0">
                <a:solidFill>
                  <a:srgbClr val="000000"/>
                </a:solidFill>
              </a:rPr>
              <a:t>падать</a:t>
            </a:r>
            <a:endParaRPr dirty="0">
              <a:solidFill>
                <a:srgbClr val="000000"/>
              </a:solidFill>
            </a:endParaRPr>
          </a:p>
          <a:p>
            <a:pPr marL="0" indent="0">
              <a:lnSpc>
                <a:spcPct val="120000"/>
              </a:lnSpc>
              <a:spcBef>
                <a:spcPts val="1333"/>
              </a:spcBef>
              <a:buNone/>
            </a:pPr>
            <a:r>
              <a:rPr lang="en" u="sng" dirty="0">
                <a:solidFill>
                  <a:srgbClr val="000000"/>
                </a:solidFill>
              </a:rPr>
              <a:t>Cluster 2:</a:t>
            </a:r>
            <a:endParaRPr u="sng" dirty="0">
              <a:solidFill>
                <a:srgbClr val="000000"/>
              </a:solidFill>
            </a:endParaRPr>
          </a:p>
          <a:p>
            <a:pPr marL="0" indent="0">
              <a:lnSpc>
                <a:spcPct val="120000"/>
              </a:lnSpc>
              <a:spcBef>
                <a:spcPts val="1333"/>
              </a:spcBef>
              <a:buNone/>
            </a:pPr>
            <a:r>
              <a:rPr lang="ru-RU" dirty="0">
                <a:solidFill>
                  <a:srgbClr val="000000"/>
                </a:solidFill>
              </a:rPr>
              <a:t>камень</a:t>
            </a:r>
            <a:r>
              <a:rPr lang="en" dirty="0">
                <a:solidFill>
                  <a:srgbClr val="000000"/>
                </a:solidFill>
              </a:rPr>
              <a:t>_</a:t>
            </a:r>
            <a:r>
              <a:rPr lang="ru-RU" dirty="0">
                <a:solidFill>
                  <a:srgbClr val="000000"/>
                </a:solidFill>
              </a:rPr>
              <a:t>падать</a:t>
            </a:r>
            <a:endParaRPr dirty="0">
              <a:solidFill>
                <a:srgbClr val="000000"/>
              </a:solidFill>
            </a:endParaRPr>
          </a:p>
          <a:p>
            <a:pPr marL="0" indent="0">
              <a:lnSpc>
                <a:spcPct val="120000"/>
              </a:lnSpc>
              <a:spcBef>
                <a:spcPts val="1333"/>
              </a:spcBef>
              <a:buNone/>
            </a:pPr>
            <a:r>
              <a:rPr lang="ru-RU" dirty="0">
                <a:solidFill>
                  <a:srgbClr val="000000"/>
                </a:solidFill>
              </a:rPr>
              <a:t>обломок</a:t>
            </a:r>
            <a:r>
              <a:rPr lang="en" dirty="0">
                <a:solidFill>
                  <a:srgbClr val="000000"/>
                </a:solidFill>
              </a:rPr>
              <a:t>_</a:t>
            </a:r>
            <a:r>
              <a:rPr lang="ru-RU" dirty="0">
                <a:solidFill>
                  <a:srgbClr val="000000"/>
                </a:solidFill>
              </a:rPr>
              <a:t>падать</a:t>
            </a:r>
            <a:endParaRPr dirty="0">
              <a:solidFill>
                <a:srgbClr val="000000"/>
              </a:solidFill>
            </a:endParaRPr>
          </a:p>
          <a:p>
            <a:pPr marL="0" indent="0">
              <a:lnSpc>
                <a:spcPct val="120000"/>
              </a:lnSpc>
              <a:spcBef>
                <a:spcPts val="1333"/>
              </a:spcBef>
              <a:buNone/>
            </a:pPr>
            <a:r>
              <a:rPr lang="ru-RU" dirty="0">
                <a:solidFill>
                  <a:srgbClr val="000000"/>
                </a:solidFill>
              </a:rPr>
              <a:t>осколок</a:t>
            </a:r>
            <a:r>
              <a:rPr lang="en" dirty="0">
                <a:solidFill>
                  <a:srgbClr val="000000"/>
                </a:solidFill>
              </a:rPr>
              <a:t>_</a:t>
            </a:r>
            <a:r>
              <a:rPr lang="ru-RU" dirty="0">
                <a:solidFill>
                  <a:srgbClr val="000000"/>
                </a:solidFill>
              </a:rPr>
              <a:t>падать</a:t>
            </a:r>
            <a:endParaRPr dirty="0">
              <a:solidFill>
                <a:srgbClr val="000000"/>
              </a:solidFill>
            </a:endParaRPr>
          </a:p>
        </p:txBody>
      </p:sp>
      <p:sp>
        <p:nvSpPr>
          <p:cNvPr id="274" name="Google Shape;274;p37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fld id="{00000000-1234-1234-1234-123412341234}" type="slidenum">
              <a:rPr lang="en"/>
              <a:pPr/>
              <a:t>36</a:t>
            </a:fld>
            <a:endParaRPr/>
          </a:p>
        </p:txBody>
      </p:sp>
      <p:sp>
        <p:nvSpPr>
          <p:cNvPr id="275" name="Google Shape;275;p37"/>
          <p:cNvSpPr txBox="1"/>
          <p:nvPr/>
        </p:nvSpPr>
        <p:spPr>
          <a:xfrm>
            <a:off x="8455399" y="1538000"/>
            <a:ext cx="2841211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ru-RU" sz="2400" u="sng" dirty="0">
                <a:latin typeface="Open Sans"/>
                <a:ea typeface="Open Sans"/>
                <a:cs typeface="Open Sans"/>
                <a:sym typeface="Open Sans"/>
              </a:rPr>
              <a:t>КАБАРДИНСКИЙ</a:t>
            </a:r>
            <a:r>
              <a:rPr lang="en" sz="2400" u="sng" dirty="0">
                <a:latin typeface="Open Sans"/>
                <a:ea typeface="Open Sans"/>
                <a:cs typeface="Open Sans"/>
                <a:sym typeface="Open Sans"/>
              </a:rPr>
              <a:t>:</a:t>
            </a:r>
            <a:endParaRPr sz="2400" u="sng" dirty="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76" name="Google Shape;276;p37"/>
          <p:cNvSpPr txBox="1"/>
          <p:nvPr/>
        </p:nvSpPr>
        <p:spPr>
          <a:xfrm>
            <a:off x="8415000" y="2944367"/>
            <a:ext cx="2676800" cy="63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>
              <a:lnSpc>
                <a:spcPct val="115000"/>
              </a:lnSpc>
            </a:pPr>
            <a:r>
              <a:rPr lang="en" sz="3200" i="1">
                <a:latin typeface="Open Sans"/>
                <a:ea typeface="Open Sans"/>
                <a:cs typeface="Open Sans"/>
                <a:sym typeface="Open Sans"/>
              </a:rPr>
              <a:t>wəkʷərjəjən</a:t>
            </a:r>
            <a:endParaRPr sz="3200" b="1" i="1">
              <a:latin typeface="Open Sans"/>
              <a:ea typeface="Open Sans"/>
              <a:cs typeface="Open Sans"/>
              <a:sym typeface="Open Sans"/>
            </a:endParaRPr>
          </a:p>
          <a:p>
            <a:endParaRPr sz="24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77" name="Google Shape;277;p37"/>
          <p:cNvSpPr txBox="1"/>
          <p:nvPr/>
        </p:nvSpPr>
        <p:spPr>
          <a:xfrm>
            <a:off x="8455400" y="5017567"/>
            <a:ext cx="2596000" cy="124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>
              <a:lnSpc>
                <a:spcPct val="115000"/>
              </a:lnSpc>
            </a:pPr>
            <a:r>
              <a:rPr lang="en" sz="3200" i="1">
                <a:latin typeface="Open Sans"/>
                <a:ea typeface="Open Sans"/>
                <a:cs typeface="Open Sans"/>
                <a:sym typeface="Open Sans"/>
              </a:rPr>
              <a:t>q˙jexoxʷən</a:t>
            </a:r>
            <a:r>
              <a:rPr lang="en" sz="3200" b="1" i="1">
                <a:latin typeface="Open Sans"/>
                <a:ea typeface="Open Sans"/>
                <a:cs typeface="Open Sans"/>
                <a:sym typeface="Open Sans"/>
              </a:rPr>
              <a:t>, </a:t>
            </a:r>
            <a:r>
              <a:rPr lang="en" sz="3200" b="1" cap="small">
                <a:latin typeface="Open Sans"/>
                <a:ea typeface="Open Sans"/>
                <a:cs typeface="Open Sans"/>
                <a:sym typeface="Open Sans"/>
              </a:rPr>
              <a:t>loc</a:t>
            </a:r>
            <a:r>
              <a:rPr lang="en" sz="3200" b="1" i="1">
                <a:latin typeface="Open Sans"/>
                <a:ea typeface="Open Sans"/>
                <a:cs typeface="Open Sans"/>
                <a:sym typeface="Open Sans"/>
              </a:rPr>
              <a:t>-</a:t>
            </a:r>
            <a:r>
              <a:rPr lang="en" sz="3200" i="1">
                <a:latin typeface="Open Sans"/>
                <a:ea typeface="Open Sans"/>
                <a:cs typeface="Open Sans"/>
                <a:sym typeface="Open Sans"/>
              </a:rPr>
              <a:t>xʷən</a:t>
            </a:r>
            <a:endParaRPr sz="3200" b="1" i="1">
              <a:latin typeface="Open Sans"/>
              <a:ea typeface="Open Sans"/>
              <a:cs typeface="Open Sans"/>
              <a:sym typeface="Open Sans"/>
            </a:endParaRPr>
          </a:p>
          <a:p>
            <a:endParaRPr sz="2400"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278" name="Google Shape;278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66667" y="2544300"/>
            <a:ext cx="1168400" cy="1244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9" name="Google Shape;279;p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73134" y="5061918"/>
            <a:ext cx="749300" cy="11557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42143676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15600" y="255742"/>
            <a:ext cx="11360800" cy="943200"/>
          </a:xfrm>
        </p:spPr>
        <p:txBody>
          <a:bodyPr/>
          <a:lstStyle/>
          <a:p>
            <a:r>
              <a:rPr lang="ru-RU" dirty="0"/>
              <a:t>Количественная оценка результатов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15600" y="1198942"/>
            <a:ext cx="11360800" cy="4893091"/>
          </a:xfrm>
        </p:spPr>
        <p:txBody>
          <a:bodyPr>
            <a:normAutofit fontScale="85000" lnSpcReduction="10000"/>
          </a:bodyPr>
          <a:lstStyle/>
          <a:p>
            <a:pPr marL="0" lvl="0" indent="0">
              <a:spcBef>
                <a:spcPts val="1200"/>
              </a:spcBef>
              <a:buNone/>
            </a:pPr>
            <a:r>
              <a:rPr lang="ru-RU" sz="3500" dirty="0"/>
              <a:t>Сопоставление с золотым стандартом – анкетами, созданными вручную</a:t>
            </a:r>
            <a:endParaRPr lang="en-US" sz="3500" dirty="0"/>
          </a:p>
          <a:p>
            <a:pPr marL="457200" indent="-457200">
              <a:spcBef>
                <a:spcPts val="1200"/>
              </a:spcBef>
            </a:pPr>
            <a:r>
              <a:rPr lang="ru-RU" sz="3500" dirty="0"/>
              <a:t>Полнота (</a:t>
            </a:r>
            <a:r>
              <a:rPr lang="en-US" sz="3500" dirty="0"/>
              <a:t>Recall, R</a:t>
            </a:r>
            <a:r>
              <a:rPr lang="ru-RU" sz="3500" dirty="0"/>
              <a:t>)</a:t>
            </a:r>
            <a:r>
              <a:rPr lang="en-US" sz="3500" dirty="0"/>
              <a:t>:</a:t>
            </a:r>
            <a:r>
              <a:rPr lang="ru-RU" sz="3500" dirty="0"/>
              <a:t> доля фреймов, попавших в автоматически сконструированную анкету</a:t>
            </a:r>
          </a:p>
          <a:p>
            <a:pPr marL="457200" indent="-457200">
              <a:spcBef>
                <a:spcPts val="1200"/>
              </a:spcBef>
            </a:pPr>
            <a:r>
              <a:rPr lang="ru-RU" sz="3500" dirty="0"/>
              <a:t>Точность (чистота кластеризации): средняя чистота кластеров,</a:t>
            </a:r>
          </a:p>
          <a:p>
            <a:pPr marL="0" lvl="0" indent="0">
              <a:spcBef>
                <a:spcPts val="1200"/>
              </a:spcBef>
              <a:buNone/>
            </a:pPr>
            <a:r>
              <a:rPr lang="ru-RU" sz="3500" dirty="0"/>
              <a:t>напр. </a:t>
            </a:r>
            <a:r>
              <a:rPr lang="en-US" sz="3500" i="1" dirty="0"/>
              <a:t>{</a:t>
            </a:r>
            <a:r>
              <a:rPr lang="ru-RU" sz="3500" i="1" dirty="0"/>
              <a:t>острый нож</a:t>
            </a:r>
            <a:r>
              <a:rPr lang="en-US" sz="3500" i="1" dirty="0"/>
              <a:t>, </a:t>
            </a:r>
            <a:r>
              <a:rPr lang="ru-RU" sz="3500" i="1" dirty="0"/>
              <a:t>острые ножницы</a:t>
            </a:r>
            <a:r>
              <a:rPr lang="en-US" sz="3500" i="1" dirty="0"/>
              <a:t>, </a:t>
            </a:r>
            <a:r>
              <a:rPr lang="ru-RU" sz="3500" b="1" i="1" dirty="0"/>
              <a:t>острая боль</a:t>
            </a:r>
            <a:r>
              <a:rPr lang="en-US" sz="3500" dirty="0"/>
              <a:t>}: purity of .67</a:t>
            </a:r>
          </a:p>
          <a:p>
            <a:pPr marL="0" lvl="0" indent="0">
              <a:spcBef>
                <a:spcPts val="1600"/>
              </a:spcBef>
              <a:buNone/>
            </a:pPr>
            <a:endParaRPr lang="ru-RU" sz="3500" dirty="0"/>
          </a:p>
          <a:p>
            <a:pPr marL="0" lvl="0" indent="0">
              <a:spcBef>
                <a:spcPts val="1600"/>
              </a:spcBef>
              <a:buNone/>
            </a:pPr>
            <a:r>
              <a:rPr lang="en-US" sz="3500" dirty="0"/>
              <a:t>F-</a:t>
            </a:r>
            <a:r>
              <a:rPr lang="ru-RU" sz="3500" dirty="0"/>
              <a:t>мера</a:t>
            </a:r>
            <a:r>
              <a:rPr lang="en-US" sz="3500" dirty="0"/>
              <a:t>:</a:t>
            </a:r>
            <a:endParaRPr lang="ru-RU" sz="3500" dirty="0"/>
          </a:p>
          <a:p>
            <a:pPr marL="0" lvl="0" indent="0">
              <a:spcBef>
                <a:spcPts val="1600"/>
              </a:spcBef>
              <a:buNone/>
            </a:pPr>
            <a:r>
              <a:rPr lang="en-US" sz="3800" dirty="0">
                <a:ea typeface="Arial"/>
                <a:cs typeface="Arial"/>
                <a:sym typeface="Arial"/>
              </a:rPr>
              <a:t>F = 2PR / (P+R)</a:t>
            </a:r>
            <a:endParaRPr lang="en-US" sz="3200" dirty="0"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75929906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28141" y="129133"/>
            <a:ext cx="11360800" cy="943200"/>
          </a:xfrm>
        </p:spPr>
        <p:txBody>
          <a:bodyPr/>
          <a:lstStyle/>
          <a:p>
            <a:r>
              <a:rPr lang="ru-RU" dirty="0"/>
              <a:t>Количественная оценка результатов</a:t>
            </a:r>
          </a:p>
        </p:txBody>
      </p:sp>
      <p:graphicFrame>
        <p:nvGraphicFramePr>
          <p:cNvPr id="4" name="Таблица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9887029"/>
              </p:ext>
            </p:extLst>
          </p:nvPr>
        </p:nvGraphicFramePr>
        <p:xfrm>
          <a:off x="664552" y="1649000"/>
          <a:ext cx="5431448" cy="1172846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5057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520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912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1030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5423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</a:rPr>
                        <a:t> </a:t>
                      </a:r>
                      <a:endParaRPr lang="ru-RU" sz="200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 b="1" dirty="0">
                          <a:effectLst/>
                        </a:rPr>
                        <a:t>Алгоритм</a:t>
                      </a:r>
                      <a:endParaRPr lang="ru-RU" sz="2000" b="1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</a:rPr>
                        <a:t>R</a:t>
                      </a:r>
                      <a:endParaRPr lang="ru-RU" sz="2000" b="1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</a:rPr>
                        <a:t>P</a:t>
                      </a:r>
                      <a:endParaRPr lang="ru-RU" sz="2000" b="1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 b="1" dirty="0">
                          <a:effectLst/>
                        </a:rPr>
                        <a:t>F-мера</a:t>
                      </a:r>
                      <a:endParaRPr lang="ru-RU" sz="2000" b="1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effectLst/>
                        </a:rPr>
                        <a:t>1</a:t>
                      </a:r>
                      <a:endParaRPr lang="ru-RU" sz="20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K-means</a:t>
                      </a:r>
                      <a:endParaRPr lang="ru-RU" sz="20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effectLst/>
                        </a:rPr>
                        <a:t>0,848</a:t>
                      </a:r>
                      <a:endParaRPr lang="ru-RU" sz="20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effectLst/>
                        </a:rPr>
                        <a:t>0,883</a:t>
                      </a:r>
                      <a:endParaRPr lang="ru-RU" sz="20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effectLst/>
                        </a:rPr>
                        <a:t>0,865</a:t>
                      </a:r>
                      <a:endParaRPr lang="ru-RU" sz="20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861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 dirty="0">
                          <a:effectLst/>
                        </a:rPr>
                        <a:t>2</a:t>
                      </a:r>
                      <a:endParaRPr lang="ru-RU" sz="200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 dirty="0">
                          <a:effectLst/>
                        </a:rPr>
                        <a:t>Иерарх</a:t>
                      </a:r>
                      <a:r>
                        <a:rPr lang="en-US" sz="2400" dirty="0">
                          <a:effectLst/>
                        </a:rPr>
                        <a:t>.</a:t>
                      </a:r>
                      <a:endParaRPr lang="ru-RU" sz="200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 dirty="0">
                          <a:effectLst/>
                        </a:rPr>
                        <a:t>0,879</a:t>
                      </a:r>
                      <a:endParaRPr lang="ru-RU" sz="200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effectLst/>
                        </a:rPr>
                        <a:t>0,900</a:t>
                      </a:r>
                      <a:endParaRPr lang="ru-RU" sz="20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 dirty="0">
                          <a:effectLst/>
                        </a:rPr>
                        <a:t>0,889</a:t>
                      </a:r>
                      <a:endParaRPr lang="ru-RU" sz="200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64551" y="944703"/>
            <a:ext cx="403405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dirty="0"/>
              <a:t>Таблица 1. </a:t>
            </a:r>
            <a:r>
              <a:rPr lang="en-US" sz="3200" dirty="0"/>
              <a:t>‘</a:t>
            </a:r>
            <a:r>
              <a:rPr lang="ru-RU" sz="3200" dirty="0"/>
              <a:t>острый</a:t>
            </a:r>
            <a:r>
              <a:rPr lang="en-US" sz="3200" dirty="0"/>
              <a:t>’</a:t>
            </a:r>
            <a:endParaRPr lang="ru-RU" sz="3200" dirty="0"/>
          </a:p>
        </p:txBody>
      </p:sp>
      <p:sp>
        <p:nvSpPr>
          <p:cNvPr id="6" name="TextBox 5"/>
          <p:cNvSpPr txBox="1"/>
          <p:nvPr/>
        </p:nvSpPr>
        <p:spPr>
          <a:xfrm>
            <a:off x="664551" y="2963985"/>
            <a:ext cx="1004096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dirty="0"/>
              <a:t>Таблица 2. Другие поля, иерархическая кластеризация</a:t>
            </a:r>
          </a:p>
        </p:txBody>
      </p:sp>
      <p:graphicFrame>
        <p:nvGraphicFramePr>
          <p:cNvPr id="7" name="Таблица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0500858"/>
              </p:ext>
            </p:extLst>
          </p:nvPr>
        </p:nvGraphicFramePr>
        <p:xfrm>
          <a:off x="664551" y="3548760"/>
          <a:ext cx="9829947" cy="2858135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3864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73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896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8646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6866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2800" dirty="0">
                          <a:effectLst/>
                        </a:rPr>
                        <a:t> </a:t>
                      </a:r>
                      <a:endParaRPr lang="ru-RU" sz="28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2800">
                          <a:effectLst/>
                        </a:rPr>
                        <a:t>R</a:t>
                      </a:r>
                      <a:endParaRPr lang="ru-RU" sz="28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2800">
                          <a:effectLst/>
                        </a:rPr>
                        <a:t>P</a:t>
                      </a:r>
                      <a:endParaRPr lang="ru-RU" sz="28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2800">
                          <a:effectLst/>
                        </a:rPr>
                        <a:t>F-мера</a:t>
                      </a:r>
                      <a:endParaRPr lang="ru-RU" sz="28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574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</a:rPr>
                        <a:t>‘качание’</a:t>
                      </a:r>
                      <a:endParaRPr lang="ru-RU" sz="28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2800" dirty="0">
                          <a:effectLst/>
                        </a:rPr>
                        <a:t>0,882</a:t>
                      </a:r>
                      <a:endParaRPr lang="ru-RU" sz="28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2800" dirty="0">
                          <a:effectLst/>
                        </a:rPr>
                        <a:t>0,762</a:t>
                      </a:r>
                      <a:endParaRPr lang="ru-RU" sz="28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2800" dirty="0">
                          <a:effectLst/>
                        </a:rPr>
                        <a:t>0,818</a:t>
                      </a:r>
                      <a:endParaRPr lang="ru-RU" sz="28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574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</a:rPr>
                        <a:t>‘</a:t>
                      </a:r>
                      <a:r>
                        <a:rPr lang="ru-RU" sz="2800">
                          <a:effectLst/>
                        </a:rPr>
                        <a:t>прямой</a:t>
                      </a:r>
                      <a:r>
                        <a:rPr lang="en-US" sz="2800">
                          <a:effectLst/>
                        </a:rPr>
                        <a:t>’</a:t>
                      </a:r>
                      <a:endParaRPr lang="ru-RU" sz="28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2800">
                          <a:effectLst/>
                        </a:rPr>
                        <a:t>1</a:t>
                      </a:r>
                      <a:endParaRPr lang="ru-RU" sz="28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2800">
                          <a:effectLst/>
                        </a:rPr>
                        <a:t>0,817</a:t>
                      </a:r>
                      <a:endParaRPr lang="ru-RU" sz="28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2800">
                          <a:effectLst/>
                        </a:rPr>
                        <a:t>0,899</a:t>
                      </a:r>
                      <a:endParaRPr lang="ru-RU" sz="28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574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</a:rPr>
                        <a:t>‘</a:t>
                      </a:r>
                      <a:r>
                        <a:rPr lang="ru-RU" sz="2800">
                          <a:effectLst/>
                        </a:rPr>
                        <a:t>гладкий</a:t>
                      </a:r>
                      <a:r>
                        <a:rPr lang="en-US" sz="2800">
                          <a:effectLst/>
                        </a:rPr>
                        <a:t>’</a:t>
                      </a:r>
                      <a:endParaRPr lang="ru-RU" sz="28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2800">
                          <a:effectLst/>
                        </a:rPr>
                        <a:t>0,8</a:t>
                      </a:r>
                      <a:endParaRPr lang="ru-RU" sz="28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2800">
                          <a:effectLst/>
                        </a:rPr>
                        <a:t>0,675</a:t>
                      </a:r>
                      <a:endParaRPr lang="ru-RU" sz="28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2800">
                          <a:effectLst/>
                        </a:rPr>
                        <a:t>0,732</a:t>
                      </a:r>
                      <a:endParaRPr lang="ru-RU" sz="28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574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</a:rPr>
                        <a:t>‘</a:t>
                      </a:r>
                      <a:r>
                        <a:rPr lang="ru-RU" sz="2800">
                          <a:effectLst/>
                        </a:rPr>
                        <a:t>толстый</a:t>
                      </a:r>
                      <a:r>
                        <a:rPr lang="en-US" sz="2800">
                          <a:effectLst/>
                        </a:rPr>
                        <a:t>’</a:t>
                      </a:r>
                      <a:endParaRPr lang="ru-RU" sz="28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2800">
                          <a:effectLst/>
                        </a:rPr>
                        <a:t>1</a:t>
                      </a:r>
                      <a:endParaRPr lang="ru-RU" sz="28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2800">
                          <a:effectLst/>
                        </a:rPr>
                        <a:t>0,884</a:t>
                      </a:r>
                      <a:endParaRPr lang="ru-RU" sz="28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2800" dirty="0">
                          <a:effectLst/>
                        </a:rPr>
                        <a:t>0,938</a:t>
                      </a:r>
                      <a:endParaRPr lang="ru-RU" sz="28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0245397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Почему для разных полей работает по-разному?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1000"/>
              </a:spcAft>
            </a:pPr>
            <a:r>
              <a:rPr lang="ru-RU" dirty="0"/>
              <a:t>Частотность слов поля</a:t>
            </a:r>
          </a:p>
          <a:p>
            <a:pPr>
              <a:spcAft>
                <a:spcPts val="1000"/>
              </a:spcAft>
            </a:pPr>
            <a:r>
              <a:rPr lang="ru-RU" dirty="0"/>
              <a:t>Количество значений (= фреймов) в поле</a:t>
            </a:r>
          </a:p>
          <a:p>
            <a:pPr>
              <a:spcAft>
                <a:spcPts val="1000"/>
              </a:spcAft>
            </a:pPr>
            <a:r>
              <a:rPr lang="ru-RU" dirty="0"/>
              <a:t>Достаточно ли одного определяемого слова для семантической </a:t>
            </a:r>
            <a:r>
              <a:rPr lang="ru-RU" dirty="0" err="1"/>
              <a:t>дизамбигуации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6626472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Заключение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Можно получить довольно надежное представление о наборе значений многозначных слов:</a:t>
            </a: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ru-RU" dirty="0"/>
              <a:t>быстро и эффективно (см. анкеты на базе 100 русских прилагательных)</a:t>
            </a: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ru-RU" dirty="0"/>
              <a:t>не только для типологических задач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ru-RU" dirty="0"/>
              <a:t>Минусы:</a:t>
            </a: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ru-RU" dirty="0"/>
              <a:t>Зависит от качества корпуса</a:t>
            </a: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ru-RU" dirty="0"/>
              <a:t>Хуже работает для не очень частотных слов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ru-RU" dirty="0"/>
              <a:t>Расширение на другие части речи</a:t>
            </a:r>
          </a:p>
          <a:p>
            <a:pPr marL="152396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ru-RU" dirty="0"/>
              <a:t>С глаголами более или менее ясно; а что делать с существительными? 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886229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Другие части речи:</a:t>
            </a:r>
            <a:br>
              <a:rPr lang="ru-RU" dirty="0"/>
            </a:br>
            <a:r>
              <a:rPr lang="ru-RU" dirty="0"/>
              <a:t>глаголы движения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3200" dirty="0"/>
              <a:t>(Суворова 2020)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6191269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7"/>
          <p:cNvSpPr txBox="1">
            <a:spLocks noGrp="1"/>
          </p:cNvSpPr>
          <p:nvPr>
            <p:ph type="title"/>
          </p:nvPr>
        </p:nvSpPr>
        <p:spPr>
          <a:xfrm>
            <a:off x="380033" y="332800"/>
            <a:ext cx="11938800" cy="8312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r>
              <a:rPr lang="ru-RU" dirty="0"/>
              <a:t>Типология глаголов падения</a:t>
            </a:r>
            <a:endParaRPr dirty="0"/>
          </a:p>
        </p:txBody>
      </p:sp>
      <p:pic>
        <p:nvPicPr>
          <p:cNvPr id="92" name="Google Shape;92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5034" y="1445783"/>
            <a:ext cx="2481700" cy="4361467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65164" y="1455921"/>
            <a:ext cx="3683799" cy="2105033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65163" y="3532031"/>
            <a:ext cx="3683800" cy="2329221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7"/>
          <p:cNvPicPr preferRelativeResize="0"/>
          <p:nvPr/>
        </p:nvPicPr>
        <p:blipFill rotWithShape="1">
          <a:blip r:embed="rId6">
            <a:alphaModFix/>
          </a:blip>
          <a:srcRect r="55353" b="11816"/>
          <a:stretch/>
        </p:blipFill>
        <p:spPr>
          <a:xfrm>
            <a:off x="8392473" y="1445783"/>
            <a:ext cx="2769320" cy="439260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7"/>
          <p:cNvSpPr txBox="1"/>
          <p:nvPr/>
        </p:nvSpPr>
        <p:spPr>
          <a:xfrm>
            <a:off x="1485691" y="5067209"/>
            <a:ext cx="1067600" cy="42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ru" sz="4000" dirty="0">
                <a:highlight>
                  <a:srgbClr val="FFFFFF"/>
                </a:highlight>
                <a:latin typeface="Proxima Nova"/>
                <a:ea typeface="Proxima Nova"/>
                <a:cs typeface="Proxima Nova"/>
                <a:sym typeface="Proxima Nova"/>
              </a:rPr>
              <a:t>1</a:t>
            </a:r>
            <a:endParaRPr sz="4000" b="1" dirty="0">
              <a:highlight>
                <a:srgbClr val="FFFFFF"/>
              </a:highlight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97" name="Google Shape;97;p17"/>
          <p:cNvSpPr txBox="1"/>
          <p:nvPr/>
        </p:nvSpPr>
        <p:spPr>
          <a:xfrm>
            <a:off x="6744065" y="2715721"/>
            <a:ext cx="1067600" cy="42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ru" sz="4000" dirty="0">
                <a:highlight>
                  <a:srgbClr val="FFFFFF"/>
                </a:highlight>
                <a:latin typeface="Proxima Nova"/>
                <a:ea typeface="Proxima Nova"/>
                <a:cs typeface="Proxima Nova"/>
                <a:sym typeface="Proxima Nova"/>
              </a:rPr>
              <a:t>2</a:t>
            </a:r>
            <a:endParaRPr sz="4000" b="1" dirty="0">
              <a:highlight>
                <a:srgbClr val="FFFFFF"/>
              </a:highlight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98" name="Google Shape;98;p17"/>
          <p:cNvSpPr txBox="1"/>
          <p:nvPr/>
        </p:nvSpPr>
        <p:spPr>
          <a:xfrm>
            <a:off x="6716529" y="5016033"/>
            <a:ext cx="1067600" cy="42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ru" sz="4000" dirty="0">
                <a:highlight>
                  <a:srgbClr val="FFFFFF"/>
                </a:highlight>
                <a:latin typeface="Proxima Nova"/>
                <a:ea typeface="Proxima Nova"/>
                <a:cs typeface="Proxima Nova"/>
                <a:sym typeface="Proxima Nova"/>
              </a:rPr>
              <a:t>3</a:t>
            </a:r>
            <a:endParaRPr sz="4000" b="1" dirty="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99" name="Google Shape;99;p17"/>
          <p:cNvSpPr txBox="1"/>
          <p:nvPr/>
        </p:nvSpPr>
        <p:spPr>
          <a:xfrm>
            <a:off x="8827639" y="4992495"/>
            <a:ext cx="1067600" cy="42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ru" sz="4000" dirty="0">
                <a:highlight>
                  <a:srgbClr val="FFFFFF"/>
                </a:highlight>
                <a:latin typeface="Proxima Nova"/>
                <a:ea typeface="Proxima Nova"/>
                <a:cs typeface="Proxima Nova"/>
                <a:sym typeface="Proxima Nova"/>
              </a:rPr>
              <a:t>4</a:t>
            </a:r>
            <a:endParaRPr sz="4000" b="1" dirty="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00" name="Google Shape;100;p17"/>
          <p:cNvSpPr txBox="1"/>
          <p:nvPr/>
        </p:nvSpPr>
        <p:spPr>
          <a:xfrm>
            <a:off x="380033" y="5732364"/>
            <a:ext cx="7740800" cy="4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ru" sz="2400" dirty="0"/>
              <a:t>Глаголы падения в языках мира: фреймы, параметры и типы систем</a:t>
            </a:r>
            <a:r>
              <a:rPr lang="ru" sz="2400" i="1" dirty="0"/>
              <a:t> (Резникова и др. 2020а)</a:t>
            </a:r>
            <a:endParaRPr sz="2400" i="1" dirty="0"/>
          </a:p>
        </p:txBody>
      </p:sp>
    </p:spTree>
    <p:extLst>
      <p:ext uri="{BB962C8B-B14F-4D97-AF65-F5344CB8AC3E}">
        <p14:creationId xmlns:p14="http://schemas.microsoft.com/office/powerpoint/2010/main" val="3727550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5" name="Google Shape;105;p18"/>
          <p:cNvGraphicFramePr/>
          <p:nvPr/>
        </p:nvGraphicFramePr>
        <p:xfrm>
          <a:off x="1270000" y="560133"/>
          <a:ext cx="9651999" cy="512028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2173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173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173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892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21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бутылка</a:t>
                      </a:r>
                      <a:endParaRPr sz="21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L="121900" marR="121900" marT="121900" marB="121900"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21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упала</a:t>
                      </a:r>
                      <a:endParaRPr sz="2100">
                        <a:solidFill>
                          <a:schemeClr val="dk2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L="121900" marR="121900" marT="121900" marB="121900"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21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со стола</a:t>
                      </a:r>
                      <a:endParaRPr sz="21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L="121900" marR="121900" marT="121900" marB="121900"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892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21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бутылка</a:t>
                      </a:r>
                      <a:endParaRPr sz="21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L="121900" marR="121900" marT="121900" marB="121900"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21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упала</a:t>
                      </a:r>
                      <a:endParaRPr sz="2100">
                        <a:solidFill>
                          <a:schemeClr val="dk2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L="121900" marR="121900" marT="121900" marB="121900"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21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на стол</a:t>
                      </a:r>
                      <a:endParaRPr sz="21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L="121900" marR="121900" marT="121900" marB="121900"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892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21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человек </a:t>
                      </a:r>
                      <a:endParaRPr sz="21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L="121900" marR="121900" marT="121900" marB="121900"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2100">
                          <a:solidFill>
                            <a:schemeClr val="dk2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рухнул</a:t>
                      </a:r>
                      <a:endParaRPr sz="21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L="121900" marR="121900" marT="121900" marB="121900"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1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L="121900" marR="121900" marT="121900" marB="121900"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892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21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дом</a:t>
                      </a:r>
                      <a:endParaRPr sz="21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L="121900" marR="121900" marT="121900" marB="121900"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21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рухнул</a:t>
                      </a:r>
                      <a:endParaRPr sz="21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L="121900" marR="121900" marT="121900" marB="121900"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1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L="121900" marR="121900" marT="121900" marB="121900"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892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21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шкаф</a:t>
                      </a:r>
                      <a:endParaRPr sz="21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L="121900" marR="121900" marT="121900" marB="121900"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21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рухнул</a:t>
                      </a:r>
                      <a:endParaRPr sz="21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L="121900" marR="121900" marT="121900" marB="121900"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1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L="121900" marR="121900" marT="121900" marB="121900"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892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21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дверь</a:t>
                      </a:r>
                      <a:endParaRPr sz="21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L="121900" marR="121900" marT="121900" marB="121900"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21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сорвалась</a:t>
                      </a:r>
                      <a:endParaRPr sz="21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L="121900" marR="121900" marT="121900" marB="121900"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21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с петель</a:t>
                      </a:r>
                      <a:endParaRPr sz="21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L="121900" marR="121900" marT="121900" marB="121900"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892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21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штукатурка</a:t>
                      </a:r>
                      <a:endParaRPr sz="21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L="121900" marR="121900" marT="121900" marB="121900"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21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сыпаться </a:t>
                      </a:r>
                      <a:endParaRPr sz="21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L="121900" marR="121900" marT="121900" marB="121900"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21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с потолка</a:t>
                      </a:r>
                      <a:endParaRPr sz="21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L="121900" marR="121900" marT="121900" marB="121900"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6892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21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человек</a:t>
                      </a:r>
                      <a:endParaRPr sz="21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L="121900" marR="121900" marT="121900" marB="121900"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21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упал</a:t>
                      </a:r>
                      <a:endParaRPr sz="21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L="121900" marR="121900" marT="121900" marB="121900"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21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в яму</a:t>
                      </a:r>
                      <a:endParaRPr sz="21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L="121900" marR="121900" marT="121900" marB="121900"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6892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21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человек</a:t>
                      </a:r>
                      <a:endParaRPr sz="21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L="121900" marR="121900" marT="121900" marB="121900"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21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упал</a:t>
                      </a:r>
                      <a:endParaRPr sz="21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L="121900" marR="121900" marT="121900" marB="121900"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21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на спину</a:t>
                      </a:r>
                      <a:endParaRPr sz="21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L="121900" marR="121900" marT="121900" marB="121900"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106" name="Google Shape;106;p18"/>
          <p:cNvGraphicFramePr/>
          <p:nvPr/>
        </p:nvGraphicFramePr>
        <p:xfrm>
          <a:off x="1270000" y="560133"/>
          <a:ext cx="9651999" cy="512028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2173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173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173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892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2100">
                          <a:solidFill>
                            <a:srgbClr val="434343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бутылка</a:t>
                      </a:r>
                      <a:endParaRPr sz="2100">
                        <a:solidFill>
                          <a:srgbClr val="434343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L="121900" marR="121900" marT="121900" marB="121900"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2100">
                          <a:solidFill>
                            <a:srgbClr val="434343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упала</a:t>
                      </a:r>
                      <a:endParaRPr sz="2100">
                        <a:solidFill>
                          <a:srgbClr val="434343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L="121900" marR="121900" marT="121900" marB="121900"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2100">
                          <a:solidFill>
                            <a:srgbClr val="434343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со стола</a:t>
                      </a:r>
                      <a:endParaRPr sz="2100">
                        <a:solidFill>
                          <a:srgbClr val="434343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L="121900" marR="121900" marT="121900" marB="121900"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2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892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2100">
                          <a:solidFill>
                            <a:srgbClr val="434343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бутылка</a:t>
                      </a:r>
                      <a:endParaRPr sz="2100">
                        <a:solidFill>
                          <a:srgbClr val="434343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L="121900" marR="121900" marT="121900" marB="121900"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2100">
                          <a:solidFill>
                            <a:srgbClr val="434343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упала</a:t>
                      </a:r>
                      <a:endParaRPr sz="2100">
                        <a:solidFill>
                          <a:srgbClr val="434343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L="121900" marR="121900" marT="121900" marB="121900"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2100">
                          <a:solidFill>
                            <a:srgbClr val="434343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на стол</a:t>
                      </a:r>
                      <a:endParaRPr sz="2100">
                        <a:solidFill>
                          <a:srgbClr val="434343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L="121900" marR="121900" marT="121900" marB="121900"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2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892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2100">
                          <a:solidFill>
                            <a:srgbClr val="434343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человек </a:t>
                      </a:r>
                      <a:endParaRPr sz="2100">
                        <a:solidFill>
                          <a:srgbClr val="434343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L="121900" marR="121900" marT="121900" marB="121900"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AD1D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2100">
                          <a:solidFill>
                            <a:srgbClr val="434343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рухнул</a:t>
                      </a:r>
                      <a:endParaRPr sz="2100">
                        <a:solidFill>
                          <a:srgbClr val="434343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L="121900" marR="121900" marT="121900" marB="121900"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100">
                        <a:solidFill>
                          <a:srgbClr val="434343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L="121900" marR="121900" marT="121900" marB="121900"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892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2100">
                          <a:solidFill>
                            <a:srgbClr val="434343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дом</a:t>
                      </a:r>
                      <a:endParaRPr sz="2100">
                        <a:solidFill>
                          <a:srgbClr val="434343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L="121900" marR="121900" marT="121900" marB="121900"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AD1D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2100">
                          <a:solidFill>
                            <a:srgbClr val="434343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рухнул</a:t>
                      </a:r>
                      <a:endParaRPr sz="2100">
                        <a:solidFill>
                          <a:srgbClr val="434343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L="121900" marR="121900" marT="121900" marB="121900"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100">
                        <a:solidFill>
                          <a:srgbClr val="434343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L="121900" marR="121900" marT="121900" marB="121900"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892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2100">
                          <a:solidFill>
                            <a:srgbClr val="434343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шкаф</a:t>
                      </a:r>
                      <a:endParaRPr sz="2100">
                        <a:solidFill>
                          <a:srgbClr val="434343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L="121900" marR="121900" marT="121900" marB="121900"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AD1D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2100">
                          <a:solidFill>
                            <a:srgbClr val="434343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рухнул</a:t>
                      </a:r>
                      <a:endParaRPr sz="2100">
                        <a:solidFill>
                          <a:srgbClr val="434343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L="121900" marR="121900" marT="121900" marB="121900"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100">
                        <a:solidFill>
                          <a:srgbClr val="434343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L="121900" marR="121900" marT="121900" marB="121900"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892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2100">
                          <a:solidFill>
                            <a:srgbClr val="434343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дверь</a:t>
                      </a:r>
                      <a:endParaRPr sz="2100">
                        <a:solidFill>
                          <a:srgbClr val="434343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L="121900" marR="121900" marT="121900" marB="121900"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2100">
                          <a:solidFill>
                            <a:srgbClr val="434343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сорвалась</a:t>
                      </a:r>
                      <a:endParaRPr sz="2100">
                        <a:solidFill>
                          <a:srgbClr val="434343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L="121900" marR="121900" marT="121900" marB="121900"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2100">
                          <a:solidFill>
                            <a:srgbClr val="434343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с петель</a:t>
                      </a:r>
                      <a:endParaRPr sz="2100">
                        <a:solidFill>
                          <a:srgbClr val="434343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L="121900" marR="121900" marT="121900" marB="121900"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2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892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2100">
                          <a:solidFill>
                            <a:srgbClr val="434343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штукатурка</a:t>
                      </a:r>
                      <a:endParaRPr sz="2100">
                        <a:solidFill>
                          <a:srgbClr val="434343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L="121900" marR="121900" marT="121900" marB="121900"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AD1D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2100">
                          <a:solidFill>
                            <a:srgbClr val="434343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сыпаться </a:t>
                      </a:r>
                      <a:endParaRPr sz="2100">
                        <a:solidFill>
                          <a:srgbClr val="434343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L="121900" marR="121900" marT="121900" marB="121900"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2100">
                          <a:solidFill>
                            <a:srgbClr val="434343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с потолка</a:t>
                      </a:r>
                      <a:endParaRPr sz="2100">
                        <a:solidFill>
                          <a:srgbClr val="434343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L="121900" marR="121900" marT="121900" marB="121900"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2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6892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2100">
                          <a:solidFill>
                            <a:srgbClr val="434343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человек</a:t>
                      </a:r>
                      <a:endParaRPr sz="2100">
                        <a:solidFill>
                          <a:srgbClr val="434343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L="121900" marR="121900" marT="121900" marB="121900"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2100">
                          <a:solidFill>
                            <a:srgbClr val="434343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упал</a:t>
                      </a:r>
                      <a:endParaRPr sz="2100">
                        <a:solidFill>
                          <a:srgbClr val="434343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L="121900" marR="121900" marT="121900" marB="121900"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2100">
                          <a:solidFill>
                            <a:srgbClr val="434343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в яму</a:t>
                      </a:r>
                      <a:endParaRPr sz="2100">
                        <a:solidFill>
                          <a:srgbClr val="434343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L="121900" marR="121900" marT="121900" marB="121900"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6892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2100">
                          <a:solidFill>
                            <a:srgbClr val="434343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человек</a:t>
                      </a:r>
                      <a:endParaRPr sz="2100">
                        <a:solidFill>
                          <a:srgbClr val="434343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L="121900" marR="121900" marT="121900" marB="121900"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2100">
                          <a:solidFill>
                            <a:srgbClr val="434343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упал</a:t>
                      </a:r>
                      <a:endParaRPr sz="2100">
                        <a:solidFill>
                          <a:srgbClr val="434343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L="121900" marR="121900" marT="121900" marB="121900"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2100">
                          <a:solidFill>
                            <a:srgbClr val="434343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на спину</a:t>
                      </a:r>
                      <a:endParaRPr sz="2100">
                        <a:solidFill>
                          <a:srgbClr val="434343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L="121900" marR="121900" marT="121900" marB="121900"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888481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9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8312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r>
              <a:rPr lang="ru"/>
              <a:t>Ход работы</a:t>
            </a:r>
            <a:endParaRPr/>
          </a:p>
        </p:txBody>
      </p:sp>
      <p:sp>
        <p:nvSpPr>
          <p:cNvPr id="112" name="Google Shape;112;p19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>
              <a:buClr>
                <a:srgbClr val="434343"/>
              </a:buClr>
              <a:buAutoNum type="arabicPeriod"/>
            </a:pPr>
            <a:r>
              <a:rPr lang="ru" b="1" dirty="0">
                <a:solidFill>
                  <a:srgbClr val="434343"/>
                </a:solidFill>
              </a:rPr>
              <a:t>подбор признаков</a:t>
            </a:r>
            <a:endParaRPr b="1" dirty="0">
              <a:solidFill>
                <a:srgbClr val="434343"/>
              </a:solidFill>
            </a:endParaRPr>
          </a:p>
          <a:p>
            <a:pPr lvl="1" indent="-457189">
              <a:spcBef>
                <a:spcPts val="0"/>
              </a:spcBef>
              <a:buClr>
                <a:srgbClr val="434343"/>
              </a:buClr>
              <a:buSzPts val="1800"/>
              <a:buAutoNum type="alphaLcPeriod"/>
            </a:pPr>
            <a:r>
              <a:rPr lang="ru" dirty="0">
                <a:solidFill>
                  <a:srgbClr val="434343"/>
                </a:solidFill>
              </a:rPr>
              <a:t>отбираем по 100 примеров на фрейм (всего 400) </a:t>
            </a:r>
            <a:endParaRPr dirty="0">
              <a:solidFill>
                <a:srgbClr val="434343"/>
              </a:solidFill>
            </a:endParaRPr>
          </a:p>
          <a:p>
            <a:pPr lvl="1" indent="-457189">
              <a:spcBef>
                <a:spcPts val="0"/>
              </a:spcBef>
              <a:buClr>
                <a:srgbClr val="434343"/>
              </a:buClr>
              <a:buSzPts val="1800"/>
              <a:buAutoNum type="alphaLcPeriod"/>
            </a:pPr>
            <a:r>
              <a:rPr lang="ru" dirty="0">
                <a:solidFill>
                  <a:srgbClr val="434343"/>
                </a:solidFill>
              </a:rPr>
              <a:t>подбираем признаки</a:t>
            </a:r>
            <a:endParaRPr dirty="0">
              <a:solidFill>
                <a:srgbClr val="434343"/>
              </a:solidFill>
            </a:endParaRPr>
          </a:p>
          <a:p>
            <a:pPr lvl="1" indent="-457189">
              <a:spcBef>
                <a:spcPts val="0"/>
              </a:spcBef>
              <a:buClr>
                <a:srgbClr val="434343"/>
              </a:buClr>
              <a:buSzPts val="1800"/>
              <a:buAutoNum type="alphaLcPeriod"/>
            </a:pPr>
            <a:r>
              <a:rPr lang="ru" dirty="0">
                <a:solidFill>
                  <a:srgbClr val="434343"/>
                </a:solidFill>
              </a:rPr>
              <a:t>тренируем классификатор</a:t>
            </a:r>
            <a:endParaRPr b="1" dirty="0">
              <a:solidFill>
                <a:srgbClr val="434343"/>
              </a:solidFill>
            </a:endParaRPr>
          </a:p>
          <a:p>
            <a:pPr lvl="1" indent="-457189">
              <a:spcBef>
                <a:spcPts val="0"/>
              </a:spcBef>
              <a:buClr>
                <a:srgbClr val="434343"/>
              </a:buClr>
              <a:buSzPts val="1800"/>
              <a:buAutoNum type="alphaLcPeriod"/>
            </a:pPr>
            <a:r>
              <a:rPr lang="ru" dirty="0">
                <a:solidFill>
                  <a:srgbClr val="434343"/>
                </a:solidFill>
              </a:rPr>
              <a:t>выбираем оптимальный алгоритм и набор признаков</a:t>
            </a:r>
            <a:endParaRPr dirty="0">
              <a:solidFill>
                <a:srgbClr val="434343"/>
              </a:solidFill>
            </a:endParaRPr>
          </a:p>
          <a:p>
            <a:pPr>
              <a:buClr>
                <a:srgbClr val="434343"/>
              </a:buClr>
              <a:buAutoNum type="arabicPeriod"/>
            </a:pPr>
            <a:r>
              <a:rPr lang="ru" b="1" dirty="0">
                <a:solidFill>
                  <a:srgbClr val="434343"/>
                </a:solidFill>
              </a:rPr>
              <a:t>выделить по ним примеры на каждый из 4х фреймов </a:t>
            </a:r>
            <a:endParaRPr b="1" dirty="0">
              <a:solidFill>
                <a:srgbClr val="434343"/>
              </a:solidFill>
            </a:endParaRPr>
          </a:p>
          <a:p>
            <a:pPr lvl="1" indent="-457189">
              <a:spcBef>
                <a:spcPts val="0"/>
              </a:spcBef>
              <a:buClr>
                <a:srgbClr val="434343"/>
              </a:buClr>
              <a:buSzPts val="1800"/>
              <a:buAutoNum type="alphaLcPeriod"/>
            </a:pPr>
            <a:r>
              <a:rPr lang="ru" dirty="0">
                <a:solidFill>
                  <a:srgbClr val="434343"/>
                </a:solidFill>
              </a:rPr>
              <a:t>берем все примеры с глаголами падения из корпуса</a:t>
            </a:r>
            <a:endParaRPr dirty="0">
              <a:solidFill>
                <a:srgbClr val="434343"/>
              </a:solidFill>
            </a:endParaRPr>
          </a:p>
          <a:p>
            <a:pPr lvl="1" indent="-457189">
              <a:spcBef>
                <a:spcPts val="0"/>
              </a:spcBef>
              <a:buClr>
                <a:srgbClr val="434343"/>
              </a:buClr>
              <a:buSzPts val="1800"/>
              <a:buAutoNum type="alphaLcPeriod"/>
            </a:pPr>
            <a:r>
              <a:rPr lang="ru" dirty="0">
                <a:solidFill>
                  <a:srgbClr val="434343"/>
                </a:solidFill>
              </a:rPr>
              <a:t>классифицируем их</a:t>
            </a:r>
            <a:endParaRPr dirty="0">
              <a:solidFill>
                <a:srgbClr val="434343"/>
              </a:solidFill>
            </a:endParaRPr>
          </a:p>
          <a:p>
            <a:pPr lvl="1" indent="-457189">
              <a:spcBef>
                <a:spcPts val="0"/>
              </a:spcBef>
              <a:buClr>
                <a:srgbClr val="434343"/>
              </a:buClr>
              <a:buSzPts val="1800"/>
              <a:buAutoNum type="alphaLcPeriod"/>
            </a:pPr>
            <a:r>
              <a:rPr lang="ru" dirty="0">
                <a:solidFill>
                  <a:srgbClr val="434343"/>
                </a:solidFill>
              </a:rPr>
              <a:t>выделяем прототипические употребления</a:t>
            </a:r>
            <a:endParaRPr dirty="0">
              <a:solidFill>
                <a:srgbClr val="43434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4756779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0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8312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r>
              <a:rPr lang="ru"/>
              <a:t>Данные</a:t>
            </a:r>
            <a:endParaRPr/>
          </a:p>
        </p:txBody>
      </p:sp>
      <p:sp>
        <p:nvSpPr>
          <p:cNvPr id="118" name="Google Shape;118;p20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>
              <a:buClr>
                <a:srgbClr val="666666"/>
              </a:buClr>
            </a:pPr>
            <a:r>
              <a:rPr lang="ru">
                <a:solidFill>
                  <a:srgbClr val="666666"/>
                </a:solidFill>
              </a:rPr>
              <a:t>употребления глаголов падения в русском языке</a:t>
            </a:r>
            <a:endParaRPr>
              <a:solidFill>
                <a:srgbClr val="666666"/>
              </a:solidFill>
            </a:endParaRPr>
          </a:p>
          <a:p>
            <a:pPr>
              <a:buClr>
                <a:srgbClr val="666666"/>
              </a:buClr>
            </a:pPr>
            <a:r>
              <a:rPr lang="ru">
                <a:solidFill>
                  <a:srgbClr val="666666"/>
                </a:solidFill>
              </a:rPr>
              <a:t>Корпус Русского Интернета (ruWaC: Russian web corpus) </a:t>
            </a:r>
            <a:r>
              <a:rPr lang="ru" sz="1467">
                <a:solidFill>
                  <a:srgbClr val="666666"/>
                </a:solidFill>
              </a:rPr>
              <a:t>(около 1млрд словоупотреблений)</a:t>
            </a:r>
            <a:endParaRPr sz="1467">
              <a:solidFill>
                <a:srgbClr val="666666"/>
              </a:solidFill>
            </a:endParaRPr>
          </a:p>
          <a:p>
            <a:pPr indent="0">
              <a:spcBef>
                <a:spcPts val="2133"/>
              </a:spcBef>
              <a:buNone/>
            </a:pPr>
            <a:endParaRPr sz="1467">
              <a:solidFill>
                <a:srgbClr val="666666"/>
              </a:solidFill>
            </a:endParaRPr>
          </a:p>
          <a:p>
            <a:pPr indent="0">
              <a:spcBef>
                <a:spcPts val="2133"/>
              </a:spcBef>
              <a:buNone/>
            </a:pPr>
            <a:r>
              <a:rPr lang="ru">
                <a:solidFill>
                  <a:srgbClr val="666666"/>
                </a:solidFill>
              </a:rPr>
              <a:t>подкорпус падения (7774237 токенов и 278675 предложений)</a:t>
            </a:r>
            <a:endParaRPr>
              <a:solidFill>
                <a:srgbClr val="666666"/>
              </a:solidFill>
            </a:endParaRPr>
          </a:p>
          <a:p>
            <a:pPr>
              <a:spcBef>
                <a:spcPts val="2133"/>
              </a:spcBef>
              <a:buClr>
                <a:srgbClr val="666666"/>
              </a:buClr>
            </a:pPr>
            <a:r>
              <a:rPr lang="ru">
                <a:solidFill>
                  <a:srgbClr val="666666"/>
                </a:solidFill>
              </a:rPr>
              <a:t>"золотой стандарт" - 400 предложений, по 100 на каждый фрейм, размечены вручную (употребления в прямом значении)</a:t>
            </a:r>
            <a:endParaRPr>
              <a:solidFill>
                <a:srgbClr val="666666"/>
              </a:solidFill>
            </a:endParaRPr>
          </a:p>
        </p:txBody>
      </p:sp>
      <p:cxnSp>
        <p:nvCxnSpPr>
          <p:cNvPr id="119" name="Google Shape;119;p20"/>
          <p:cNvCxnSpPr/>
          <p:nvPr/>
        </p:nvCxnSpPr>
        <p:spPr>
          <a:xfrm>
            <a:off x="1667667" y="2545633"/>
            <a:ext cx="0" cy="70120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10219325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1"/>
          <p:cNvSpPr txBox="1">
            <a:spLocks noGrp="1"/>
          </p:cNvSpPr>
          <p:nvPr>
            <p:ph type="title"/>
          </p:nvPr>
        </p:nvSpPr>
        <p:spPr>
          <a:xfrm>
            <a:off x="303400" y="228733"/>
            <a:ext cx="11360800" cy="8312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r>
              <a:rPr lang="ru"/>
              <a:t>Классификатор: признаки</a:t>
            </a:r>
            <a:endParaRPr/>
          </a:p>
        </p:txBody>
      </p:sp>
      <p:sp>
        <p:nvSpPr>
          <p:cNvPr id="125" name="Google Shape;125;p21"/>
          <p:cNvSpPr/>
          <p:nvPr/>
        </p:nvSpPr>
        <p:spPr>
          <a:xfrm>
            <a:off x="433533" y="1263733"/>
            <a:ext cx="5160800" cy="2537200"/>
          </a:xfrm>
          <a:prstGeom prst="roundRect">
            <a:avLst>
              <a:gd name="adj" fmla="val 16667"/>
            </a:avLst>
          </a:prstGeom>
          <a:solidFill>
            <a:srgbClr val="EAD1D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chemeClr val="dk2"/>
              </a:buClr>
              <a:buSzPts val="1100"/>
            </a:pPr>
            <a:r>
              <a:rPr lang="ru" sz="2400" dirty="0"/>
              <a:t>● наличие поверхностно выраженной начальной точки</a:t>
            </a:r>
            <a:endParaRPr sz="2400" dirty="0"/>
          </a:p>
          <a:p>
            <a:pPr>
              <a:buClr>
                <a:schemeClr val="dk2"/>
              </a:buClr>
              <a:buSzPts val="1100"/>
            </a:pPr>
            <a:r>
              <a:rPr lang="ru" sz="2400" dirty="0"/>
              <a:t>● наличие поверхностно выраженной конечной точки</a:t>
            </a:r>
            <a:endParaRPr sz="2400" dirty="0"/>
          </a:p>
          <a:p>
            <a:r>
              <a:rPr lang="ru" sz="2400" dirty="0"/>
              <a:t>● общий признак (source+goal)</a:t>
            </a:r>
            <a:endParaRPr sz="2400" dirty="0"/>
          </a:p>
          <a:p>
            <a:pPr>
              <a:buClr>
                <a:schemeClr val="dk2"/>
              </a:buClr>
              <a:buSzPts val="1100"/>
            </a:pPr>
            <a:r>
              <a:rPr lang="ru" sz="2400" dirty="0"/>
              <a:t>● класс существительного (goal)</a:t>
            </a:r>
            <a:endParaRPr sz="2400" dirty="0"/>
          </a:p>
        </p:txBody>
      </p:sp>
      <p:sp>
        <p:nvSpPr>
          <p:cNvPr id="126" name="Google Shape;126;p21"/>
          <p:cNvSpPr/>
          <p:nvPr/>
        </p:nvSpPr>
        <p:spPr>
          <a:xfrm>
            <a:off x="5952033" y="1263733"/>
            <a:ext cx="5160800" cy="2537200"/>
          </a:xfrm>
          <a:prstGeom prst="roundRect">
            <a:avLst>
              <a:gd name="adj" fmla="val 16667"/>
            </a:avLst>
          </a:prstGeom>
          <a:solidFill>
            <a:srgbClr val="EAD1D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chemeClr val="dk2"/>
              </a:buClr>
              <a:buSzPts val="1100"/>
            </a:pPr>
            <a:r>
              <a:rPr lang="ru" sz="2400" dirty="0"/>
              <a:t>● часть речи субъекта</a:t>
            </a:r>
            <a:endParaRPr sz="2400" dirty="0"/>
          </a:p>
          <a:p>
            <a:pPr>
              <a:buClr>
                <a:schemeClr val="dk2"/>
              </a:buClr>
              <a:buSzPts val="1100"/>
            </a:pPr>
            <a:r>
              <a:rPr lang="ru" sz="2400" dirty="0"/>
              <a:t>● </a:t>
            </a:r>
            <a:r>
              <a:rPr lang="ru" sz="2133" b="1" dirty="0"/>
              <a:t>класс субъекта (несколько вариантов классификации)</a:t>
            </a:r>
            <a:endParaRPr sz="2133" b="1" dirty="0"/>
          </a:p>
          <a:p>
            <a:pPr>
              <a:buClr>
                <a:schemeClr val="dk2"/>
              </a:buClr>
              <a:buSzPts val="1100"/>
            </a:pPr>
            <a:r>
              <a:rPr lang="ru" sz="2400" dirty="0"/>
              <a:t>● вектор существительного субъекта</a:t>
            </a:r>
            <a:endParaRPr sz="2400" dirty="0"/>
          </a:p>
        </p:txBody>
      </p:sp>
      <p:sp>
        <p:nvSpPr>
          <p:cNvPr id="127" name="Google Shape;127;p21"/>
          <p:cNvSpPr/>
          <p:nvPr/>
        </p:nvSpPr>
        <p:spPr>
          <a:xfrm>
            <a:off x="433533" y="4004733"/>
            <a:ext cx="5160800" cy="2537200"/>
          </a:xfrm>
          <a:prstGeom prst="roundRect">
            <a:avLst>
              <a:gd name="adj" fmla="val 16667"/>
            </a:avLst>
          </a:prstGeom>
          <a:solidFill>
            <a:srgbClr val="EAD1D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chemeClr val="dk2"/>
              </a:buClr>
              <a:buSzPts val="1100"/>
            </a:pPr>
            <a:r>
              <a:rPr lang="ru" sz="2400"/>
              <a:t>● признак конкретного глагола</a:t>
            </a:r>
            <a:endParaRPr sz="2400"/>
          </a:p>
          <a:p>
            <a:pPr>
              <a:buClr>
                <a:schemeClr val="dk2"/>
              </a:buClr>
              <a:buSzPts val="1100"/>
            </a:pPr>
            <a:r>
              <a:rPr lang="ru" sz="2400"/>
              <a:t>● вектор глагола, входящего в пример</a:t>
            </a:r>
            <a:endParaRPr sz="2400"/>
          </a:p>
        </p:txBody>
      </p:sp>
      <p:sp>
        <p:nvSpPr>
          <p:cNvPr id="128" name="Google Shape;128;p21"/>
          <p:cNvSpPr/>
          <p:nvPr/>
        </p:nvSpPr>
        <p:spPr>
          <a:xfrm>
            <a:off x="5952033" y="4004733"/>
            <a:ext cx="5160800" cy="2537200"/>
          </a:xfrm>
          <a:prstGeom prst="roundRect">
            <a:avLst>
              <a:gd name="adj" fmla="val 16667"/>
            </a:avLst>
          </a:prstGeom>
          <a:solidFill>
            <a:srgbClr val="EAD1D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chemeClr val="dk2"/>
              </a:buClr>
              <a:buSzPts val="1100"/>
            </a:pPr>
            <a:r>
              <a:rPr lang="ru" sz="2400"/>
              <a:t>● вектор глагол + конечная точка</a:t>
            </a:r>
            <a:endParaRPr sz="2400"/>
          </a:p>
          <a:p>
            <a:pPr>
              <a:buClr>
                <a:schemeClr val="dk2"/>
              </a:buClr>
              <a:buSzPts val="1100"/>
            </a:pPr>
            <a:r>
              <a:rPr lang="ru" sz="2400"/>
              <a:t>● вектор субъекта + глагол + конечная точка</a:t>
            </a:r>
            <a:endParaRPr sz="2400"/>
          </a:p>
        </p:txBody>
      </p:sp>
      <p:sp>
        <p:nvSpPr>
          <p:cNvPr id="129" name="Google Shape;129;p21"/>
          <p:cNvSpPr txBox="1"/>
          <p:nvPr/>
        </p:nvSpPr>
        <p:spPr>
          <a:xfrm>
            <a:off x="1990200" y="1059933"/>
            <a:ext cx="3015200" cy="37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ru" sz="2000" b="1" dirty="0">
                <a:latin typeface="Source Sans Pro"/>
                <a:ea typeface="Source Sans Pro"/>
                <a:cs typeface="Source Sans Pro"/>
                <a:sym typeface="Source Sans Pro"/>
              </a:rPr>
              <a:t>source и goal</a:t>
            </a:r>
            <a:endParaRPr sz="2000" b="1" dirty="0"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30" name="Google Shape;130;p21"/>
          <p:cNvSpPr txBox="1"/>
          <p:nvPr/>
        </p:nvSpPr>
        <p:spPr>
          <a:xfrm>
            <a:off x="7845300" y="1200200"/>
            <a:ext cx="3015200" cy="37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ru" sz="2000" b="1">
                <a:latin typeface="Source Sans Pro"/>
                <a:ea typeface="Source Sans Pro"/>
                <a:cs typeface="Source Sans Pro"/>
                <a:sym typeface="Source Sans Pro"/>
              </a:rPr>
              <a:t>субъект</a:t>
            </a:r>
            <a:endParaRPr sz="2000" b="1"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31" name="Google Shape;131;p21"/>
          <p:cNvSpPr txBox="1"/>
          <p:nvPr/>
        </p:nvSpPr>
        <p:spPr>
          <a:xfrm>
            <a:off x="2382600" y="4004733"/>
            <a:ext cx="3015200" cy="37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ru" sz="2000" b="1">
                <a:latin typeface="Source Sans Pro"/>
                <a:ea typeface="Source Sans Pro"/>
                <a:cs typeface="Source Sans Pro"/>
                <a:sym typeface="Source Sans Pro"/>
              </a:rPr>
              <a:t>глагол</a:t>
            </a:r>
            <a:endParaRPr sz="2000" b="1"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32" name="Google Shape;132;p21"/>
          <p:cNvSpPr txBox="1"/>
          <p:nvPr/>
        </p:nvSpPr>
        <p:spPr>
          <a:xfrm>
            <a:off x="7024833" y="4004733"/>
            <a:ext cx="3015200" cy="37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ru" sz="2000" b="1">
                <a:latin typeface="Source Sans Pro"/>
                <a:ea typeface="Source Sans Pro"/>
                <a:cs typeface="Source Sans Pro"/>
                <a:sym typeface="Source Sans Pro"/>
              </a:rPr>
              <a:t>комплексные признаки</a:t>
            </a:r>
            <a:endParaRPr sz="2000" b="1"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</p:spTree>
    <p:extLst>
      <p:ext uri="{BB962C8B-B14F-4D97-AF65-F5344CB8AC3E}">
        <p14:creationId xmlns:p14="http://schemas.microsoft.com/office/powerpoint/2010/main" val="288556231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2"/>
          <p:cNvSpPr txBox="1">
            <a:spLocks noGrp="1"/>
          </p:cNvSpPr>
          <p:nvPr>
            <p:ph type="title"/>
          </p:nvPr>
        </p:nvSpPr>
        <p:spPr>
          <a:xfrm>
            <a:off x="261300" y="314433"/>
            <a:ext cx="11360800" cy="8312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r>
              <a:rPr lang="ru"/>
              <a:t>Кластеризация существительных</a:t>
            </a:r>
            <a:endParaRPr/>
          </a:p>
        </p:txBody>
      </p:sp>
      <p:sp>
        <p:nvSpPr>
          <p:cNvPr id="138" name="Google Shape;138;p22"/>
          <p:cNvSpPr/>
          <p:nvPr/>
        </p:nvSpPr>
        <p:spPr>
          <a:xfrm>
            <a:off x="162467" y="2858533"/>
            <a:ext cx="2510800" cy="1651600"/>
          </a:xfrm>
          <a:prstGeom prst="roundRect">
            <a:avLst>
              <a:gd name="adj" fmla="val 16667"/>
            </a:avLst>
          </a:prstGeom>
          <a:solidFill>
            <a:srgbClr val="D5A6B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ru" sz="1733" b="1" dirty="0"/>
              <a:t>частотные существительные при глаголах падения  (НКРЯ)</a:t>
            </a:r>
            <a:endParaRPr sz="1733" b="1" dirty="0"/>
          </a:p>
        </p:txBody>
      </p:sp>
      <p:sp>
        <p:nvSpPr>
          <p:cNvPr id="140" name="Google Shape;140;p22"/>
          <p:cNvSpPr/>
          <p:nvPr/>
        </p:nvSpPr>
        <p:spPr>
          <a:xfrm rot="-5400000">
            <a:off x="2938776" y="3215678"/>
            <a:ext cx="517600" cy="866243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9FC5E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141" name="Google Shape;141;p22"/>
          <p:cNvSpPr txBox="1"/>
          <p:nvPr/>
        </p:nvSpPr>
        <p:spPr>
          <a:xfrm>
            <a:off x="6564633" y="1226367"/>
            <a:ext cx="2708800" cy="6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ru" sz="2000" b="1">
                <a:latin typeface="Raleway"/>
                <a:ea typeface="Raleway"/>
                <a:cs typeface="Raleway"/>
                <a:sym typeface="Raleway"/>
              </a:rPr>
              <a:t>алгоритм K-Means</a:t>
            </a:r>
            <a:endParaRPr sz="2000" b="1"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42" name="Google Shape;142;p22"/>
          <p:cNvSpPr/>
          <p:nvPr/>
        </p:nvSpPr>
        <p:spPr>
          <a:xfrm>
            <a:off x="3709712" y="3257167"/>
            <a:ext cx="1691944" cy="7664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ru" sz="2400" dirty="0"/>
              <a:t>Word2Vec</a:t>
            </a:r>
            <a:endParaRPr sz="2400" dirty="0"/>
          </a:p>
        </p:txBody>
      </p:sp>
      <p:sp>
        <p:nvSpPr>
          <p:cNvPr id="143" name="Google Shape;143;p22"/>
          <p:cNvSpPr/>
          <p:nvPr/>
        </p:nvSpPr>
        <p:spPr>
          <a:xfrm rot="-5400000">
            <a:off x="5783833" y="3118367"/>
            <a:ext cx="517600" cy="10440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9FC5E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144" name="Google Shape;144;p22"/>
          <p:cNvSpPr/>
          <p:nvPr/>
        </p:nvSpPr>
        <p:spPr>
          <a:xfrm>
            <a:off x="6802600" y="4414367"/>
            <a:ext cx="1889200" cy="1151200"/>
          </a:xfrm>
          <a:prstGeom prst="roundRect">
            <a:avLst>
              <a:gd name="adj" fmla="val 16667"/>
            </a:avLst>
          </a:prstGeom>
          <a:solidFill>
            <a:srgbClr val="D5A6B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ru" sz="1733" b="1"/>
              <a:t>20 классов</a:t>
            </a:r>
            <a:endParaRPr sz="1733" b="1"/>
          </a:p>
        </p:txBody>
      </p:sp>
      <p:sp>
        <p:nvSpPr>
          <p:cNvPr id="145" name="Google Shape;145;p22"/>
          <p:cNvSpPr/>
          <p:nvPr/>
        </p:nvSpPr>
        <p:spPr>
          <a:xfrm>
            <a:off x="6802600" y="3073200"/>
            <a:ext cx="1889200" cy="1151200"/>
          </a:xfrm>
          <a:prstGeom prst="roundRect">
            <a:avLst>
              <a:gd name="adj" fmla="val 16667"/>
            </a:avLst>
          </a:prstGeom>
          <a:solidFill>
            <a:srgbClr val="D5A6B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ru" sz="1733" b="1"/>
              <a:t>15 классов</a:t>
            </a:r>
            <a:endParaRPr sz="1733" b="1"/>
          </a:p>
        </p:txBody>
      </p:sp>
      <p:sp>
        <p:nvSpPr>
          <p:cNvPr id="146" name="Google Shape;146;p22"/>
          <p:cNvSpPr/>
          <p:nvPr/>
        </p:nvSpPr>
        <p:spPr>
          <a:xfrm>
            <a:off x="6802600" y="1732033"/>
            <a:ext cx="1889200" cy="1151200"/>
          </a:xfrm>
          <a:prstGeom prst="roundRect">
            <a:avLst>
              <a:gd name="adj" fmla="val 16667"/>
            </a:avLst>
          </a:prstGeom>
          <a:solidFill>
            <a:srgbClr val="D5A6B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ru" sz="1733" b="1"/>
              <a:t>42 классa</a:t>
            </a:r>
            <a:endParaRPr sz="1733" b="1"/>
          </a:p>
        </p:txBody>
      </p:sp>
      <p:sp>
        <p:nvSpPr>
          <p:cNvPr id="149" name="Google Shape;149;p22"/>
          <p:cNvSpPr/>
          <p:nvPr/>
        </p:nvSpPr>
        <p:spPr>
          <a:xfrm rot="10800000">
            <a:off x="9313067" y="1860767"/>
            <a:ext cx="1400400" cy="1483600"/>
          </a:xfrm>
          <a:prstGeom prst="bentArrow">
            <a:avLst>
              <a:gd name="adj1" fmla="val 25000"/>
              <a:gd name="adj2" fmla="val 25000"/>
              <a:gd name="adj3" fmla="val 25000"/>
              <a:gd name="adj4" fmla="val 4375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150" name="Google Shape;150;p22"/>
          <p:cNvSpPr/>
          <p:nvPr/>
        </p:nvSpPr>
        <p:spPr>
          <a:xfrm>
            <a:off x="9273433" y="967300"/>
            <a:ext cx="2721634" cy="7664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ru" sz="2400" b="1" dirty="0"/>
              <a:t>существительное</a:t>
            </a:r>
            <a:endParaRPr sz="2400" b="1" dirty="0"/>
          </a:p>
        </p:txBody>
      </p:sp>
      <p:sp>
        <p:nvSpPr>
          <p:cNvPr id="151" name="Google Shape;151;p22"/>
          <p:cNvSpPr/>
          <p:nvPr/>
        </p:nvSpPr>
        <p:spPr>
          <a:xfrm>
            <a:off x="9732900" y="5285914"/>
            <a:ext cx="1889200" cy="76640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ru" sz="2400" b="1"/>
              <a:t>класс</a:t>
            </a:r>
            <a:endParaRPr sz="2400" b="1"/>
          </a:p>
        </p:txBody>
      </p:sp>
      <p:sp>
        <p:nvSpPr>
          <p:cNvPr id="152" name="Google Shape;152;p22"/>
          <p:cNvSpPr/>
          <p:nvPr/>
        </p:nvSpPr>
        <p:spPr>
          <a:xfrm rot="5400000">
            <a:off x="9359367" y="3506300"/>
            <a:ext cx="1612000" cy="1704000"/>
          </a:xfrm>
          <a:prstGeom prst="bentArrow">
            <a:avLst>
              <a:gd name="adj1" fmla="val 25000"/>
              <a:gd name="adj2" fmla="val 25000"/>
              <a:gd name="adj3" fmla="val 25000"/>
              <a:gd name="adj4" fmla="val 4375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</p:spTree>
    <p:extLst>
      <p:ext uri="{BB962C8B-B14F-4D97-AF65-F5344CB8AC3E}">
        <p14:creationId xmlns:p14="http://schemas.microsoft.com/office/powerpoint/2010/main" val="304070811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3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8312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r>
              <a:rPr lang="ru"/>
              <a:t>Методы</a:t>
            </a:r>
            <a:endParaRPr/>
          </a:p>
        </p:txBody>
      </p:sp>
      <p:sp>
        <p:nvSpPr>
          <p:cNvPr id="158" name="Google Shape;158;p23"/>
          <p:cNvSpPr txBox="1">
            <a:spLocks noGrp="1"/>
          </p:cNvSpPr>
          <p:nvPr>
            <p:ph type="body" idx="1"/>
          </p:nvPr>
        </p:nvSpPr>
        <p:spPr>
          <a:xfrm>
            <a:off x="415600" y="1946000"/>
            <a:ext cx="11360800" cy="31428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ru" sz="2533">
                <a:solidFill>
                  <a:srgbClr val="000000"/>
                </a:solidFill>
              </a:rPr>
              <a:t>Классификатор</a:t>
            </a:r>
            <a:r>
              <a:rPr lang="ru" sz="2533" b="1">
                <a:solidFill>
                  <a:srgbClr val="000000"/>
                </a:solidFill>
              </a:rPr>
              <a:t>    -     Random Forest Classifier *</a:t>
            </a:r>
            <a:endParaRPr sz="2533" b="1">
              <a:solidFill>
                <a:srgbClr val="000000"/>
              </a:solidFill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ru" sz="2533">
                <a:solidFill>
                  <a:srgbClr val="000000"/>
                </a:solidFill>
              </a:rPr>
              <a:t>accuracy - 81% </a:t>
            </a:r>
            <a:endParaRPr sz="2533">
              <a:solidFill>
                <a:srgbClr val="000000"/>
              </a:solidFill>
            </a:endParaRPr>
          </a:p>
          <a:p>
            <a:pPr marL="0" indent="0">
              <a:lnSpc>
                <a:spcPct val="100000"/>
              </a:lnSpc>
              <a:buNone/>
            </a:pPr>
            <a:endParaRPr sz="2533" b="1">
              <a:solidFill>
                <a:srgbClr val="000000"/>
              </a:solidFill>
            </a:endParaRPr>
          </a:p>
        </p:txBody>
      </p:sp>
      <p:sp>
        <p:nvSpPr>
          <p:cNvPr id="159" name="Google Shape;159;p23"/>
          <p:cNvSpPr/>
          <p:nvPr/>
        </p:nvSpPr>
        <p:spPr>
          <a:xfrm>
            <a:off x="770133" y="3845000"/>
            <a:ext cx="6254800" cy="7572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ru" sz="2400"/>
              <a:t>train set  80%</a:t>
            </a:r>
            <a:endParaRPr sz="2400"/>
          </a:p>
        </p:txBody>
      </p:sp>
      <p:sp>
        <p:nvSpPr>
          <p:cNvPr id="160" name="Google Shape;160;p23"/>
          <p:cNvSpPr/>
          <p:nvPr/>
        </p:nvSpPr>
        <p:spPr>
          <a:xfrm>
            <a:off x="7024933" y="3845000"/>
            <a:ext cx="2482400" cy="7572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ru" sz="2400"/>
              <a:t>test set  20%</a:t>
            </a:r>
            <a:endParaRPr sz="2400"/>
          </a:p>
        </p:txBody>
      </p:sp>
      <p:sp>
        <p:nvSpPr>
          <p:cNvPr id="161" name="Google Shape;161;p23"/>
          <p:cNvSpPr/>
          <p:nvPr/>
        </p:nvSpPr>
        <p:spPr>
          <a:xfrm rot="5400000">
            <a:off x="4900333" y="-932600"/>
            <a:ext cx="490800" cy="8723200"/>
          </a:xfrm>
          <a:prstGeom prst="leftBrace">
            <a:avLst>
              <a:gd name="adj1" fmla="val 50000"/>
              <a:gd name="adj2" fmla="val 5000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162" name="Google Shape;162;p23"/>
          <p:cNvSpPr txBox="1"/>
          <p:nvPr/>
        </p:nvSpPr>
        <p:spPr>
          <a:xfrm>
            <a:off x="3183667" y="2607800"/>
            <a:ext cx="4445600" cy="33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ru" sz="2000">
                <a:latin typeface="Source Sans Pro"/>
                <a:ea typeface="Source Sans Pro"/>
                <a:cs typeface="Source Sans Pro"/>
                <a:sym typeface="Source Sans Pro"/>
              </a:rPr>
              <a:t>400 примеров"золотого стандарта"</a:t>
            </a:r>
            <a:endParaRPr sz="2000"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63" name="Google Shape;163;p23"/>
          <p:cNvSpPr txBox="1"/>
          <p:nvPr/>
        </p:nvSpPr>
        <p:spPr>
          <a:xfrm>
            <a:off x="415600" y="5748300"/>
            <a:ext cx="11042000" cy="33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ru" sz="2400">
                <a:latin typeface="Source Sans Pro"/>
                <a:ea typeface="Source Sans Pro"/>
                <a:cs typeface="Source Sans Pro"/>
                <a:sym typeface="Source Sans Pro"/>
              </a:rPr>
              <a:t>*эксперименты проводились также с алгоритмами  Decision Tree, Gaussian Naive Bayes, Multinomial Naive Bayes, Linear Regression</a:t>
            </a:r>
            <a:endParaRPr sz="2400"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</p:spTree>
    <p:extLst>
      <p:ext uri="{BB962C8B-B14F-4D97-AF65-F5344CB8AC3E}">
        <p14:creationId xmlns:p14="http://schemas.microsoft.com/office/powerpoint/2010/main" val="32973703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4"/>
          <p:cNvSpPr txBox="1">
            <a:spLocks noGrp="1"/>
          </p:cNvSpPr>
          <p:nvPr>
            <p:ph type="title"/>
          </p:nvPr>
        </p:nvSpPr>
        <p:spPr>
          <a:xfrm>
            <a:off x="153733" y="191333"/>
            <a:ext cx="11360800" cy="8312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>
              <a:buClr>
                <a:schemeClr val="dk2"/>
              </a:buClr>
              <a:buSzPts val="1100"/>
            </a:pPr>
            <a:r>
              <a:rPr lang="ru" dirty="0"/>
              <a:t>Классификатор: признаки</a:t>
            </a:r>
            <a:endParaRPr dirty="0"/>
          </a:p>
          <a:p>
            <a:endParaRPr dirty="0"/>
          </a:p>
        </p:txBody>
      </p:sp>
      <p:sp>
        <p:nvSpPr>
          <p:cNvPr id="169" name="Google Shape;169;p24"/>
          <p:cNvSpPr txBox="1"/>
          <p:nvPr/>
        </p:nvSpPr>
        <p:spPr>
          <a:xfrm>
            <a:off x="1585733" y="1505180"/>
            <a:ext cx="8496800" cy="2674934"/>
          </a:xfrm>
          <a:prstGeom prst="rect">
            <a:avLst/>
          </a:prstGeom>
          <a:solidFill>
            <a:srgbClr val="FCE5CD"/>
          </a:solidFill>
          <a:ln w="9525" cap="flat" cmpd="sng">
            <a:solidFill>
              <a:srgbClr val="E6913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>
              <a:spcAft>
                <a:spcPts val="600"/>
              </a:spcAft>
            </a:pPr>
            <a:r>
              <a:rPr lang="ru" sz="2800" dirty="0">
                <a:latin typeface="Raleway"/>
                <a:ea typeface="Raleway"/>
                <a:cs typeface="Raleway"/>
                <a:sym typeface="Raleway"/>
              </a:rPr>
              <a:t>● часть речи субъекта,</a:t>
            </a:r>
            <a:endParaRPr sz="2800" dirty="0">
              <a:latin typeface="Raleway"/>
              <a:ea typeface="Raleway"/>
              <a:cs typeface="Raleway"/>
              <a:sym typeface="Raleway"/>
            </a:endParaRPr>
          </a:p>
          <a:p>
            <a:pPr>
              <a:spcAft>
                <a:spcPts val="600"/>
              </a:spcAft>
            </a:pPr>
            <a:r>
              <a:rPr lang="ru" sz="2800" dirty="0">
                <a:latin typeface="Raleway"/>
                <a:ea typeface="Raleway"/>
                <a:cs typeface="Raleway"/>
                <a:sym typeface="Raleway"/>
              </a:rPr>
              <a:t>● класс субъекта (предсказанный моделью, выделяющей 42 класса)</a:t>
            </a:r>
            <a:endParaRPr sz="2800" dirty="0">
              <a:latin typeface="Raleway"/>
              <a:ea typeface="Raleway"/>
              <a:cs typeface="Raleway"/>
              <a:sym typeface="Raleway"/>
            </a:endParaRPr>
          </a:p>
          <a:p>
            <a:pPr>
              <a:spcAft>
                <a:spcPts val="600"/>
              </a:spcAft>
            </a:pPr>
            <a:r>
              <a:rPr lang="ru" sz="2800" dirty="0">
                <a:latin typeface="Raleway"/>
                <a:ea typeface="Raleway"/>
                <a:cs typeface="Raleway"/>
                <a:sym typeface="Raleway"/>
              </a:rPr>
              <a:t>● класс существительного конечной точки,</a:t>
            </a:r>
            <a:endParaRPr sz="2800" dirty="0">
              <a:latin typeface="Raleway"/>
              <a:ea typeface="Raleway"/>
              <a:cs typeface="Raleway"/>
              <a:sym typeface="Raleway"/>
            </a:endParaRPr>
          </a:p>
          <a:p>
            <a:pPr>
              <a:spcAft>
                <a:spcPts val="600"/>
              </a:spcAft>
            </a:pPr>
            <a:r>
              <a:rPr lang="ru" sz="2800" dirty="0">
                <a:latin typeface="Raleway"/>
                <a:ea typeface="Raleway"/>
                <a:cs typeface="Raleway"/>
                <a:sym typeface="Raleway"/>
              </a:rPr>
              <a:t>● вектор глагол + конечная точка</a:t>
            </a:r>
            <a:endParaRPr sz="2800" dirty="0">
              <a:latin typeface="Raleway"/>
              <a:ea typeface="Raleway"/>
              <a:cs typeface="Raleway"/>
              <a:sym typeface="Raleway"/>
            </a:endParaRPr>
          </a:p>
        </p:txBody>
      </p:sp>
    </p:spTree>
    <p:extLst>
      <p:ext uri="{BB962C8B-B14F-4D97-AF65-F5344CB8AC3E}">
        <p14:creationId xmlns:p14="http://schemas.microsoft.com/office/powerpoint/2010/main" val="422451521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35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8312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r>
              <a:rPr lang="ru"/>
              <a:t>Процедура применения метода для других глаголов движения</a:t>
            </a:r>
            <a:endParaRPr/>
          </a:p>
        </p:txBody>
      </p:sp>
      <p:sp>
        <p:nvSpPr>
          <p:cNvPr id="274" name="Google Shape;274;p35"/>
          <p:cNvSpPr txBox="1"/>
          <p:nvPr/>
        </p:nvSpPr>
        <p:spPr>
          <a:xfrm>
            <a:off x="251067" y="2219900"/>
            <a:ext cx="9854400" cy="4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609585" indent="-457189">
              <a:lnSpc>
                <a:spcPct val="115000"/>
              </a:lnSpc>
              <a:buClr>
                <a:srgbClr val="434343"/>
              </a:buClr>
              <a:buSzPts val="1800"/>
              <a:buFont typeface="Source Sans Pro"/>
              <a:buAutoNum type="arabicPeriod"/>
            </a:pPr>
            <a:r>
              <a:rPr lang="ru" sz="2400">
                <a:solidFill>
                  <a:srgbClr val="434343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необходим синтаксически размеченный корпус</a:t>
            </a:r>
            <a:endParaRPr sz="2400">
              <a:solidFill>
                <a:srgbClr val="434343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marL="609585" indent="-457189">
              <a:lnSpc>
                <a:spcPct val="115000"/>
              </a:lnSpc>
              <a:buClr>
                <a:srgbClr val="434343"/>
              </a:buClr>
              <a:buSzPts val="1800"/>
              <a:buFont typeface="Source Sans Pro"/>
              <a:buAutoNum type="arabicPeriod"/>
            </a:pPr>
            <a:r>
              <a:rPr lang="ru" sz="2400">
                <a:solidFill>
                  <a:srgbClr val="434343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проводим необходимую предобработку (выделяем аргументы глагола)</a:t>
            </a:r>
            <a:endParaRPr sz="2400">
              <a:solidFill>
                <a:srgbClr val="434343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marL="609585" indent="-457189">
              <a:lnSpc>
                <a:spcPct val="115000"/>
              </a:lnSpc>
              <a:buClr>
                <a:srgbClr val="434343"/>
              </a:buClr>
              <a:buSzPts val="1800"/>
              <a:buFont typeface="Source Sans Pro"/>
              <a:buAutoNum type="arabicPeriod"/>
            </a:pPr>
            <a:r>
              <a:rPr lang="ru" sz="2400">
                <a:solidFill>
                  <a:srgbClr val="434343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размечаем корпус по заданным признакам</a:t>
            </a:r>
            <a:endParaRPr sz="2400">
              <a:solidFill>
                <a:srgbClr val="434343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marL="609585" indent="-457189">
              <a:lnSpc>
                <a:spcPct val="115000"/>
              </a:lnSpc>
              <a:buClr>
                <a:srgbClr val="434343"/>
              </a:buClr>
              <a:buSzPts val="1800"/>
              <a:buFont typeface="Source Sans Pro"/>
              <a:buAutoNum type="arabicPeriod"/>
            </a:pPr>
            <a:r>
              <a:rPr lang="ru" sz="2400">
                <a:solidFill>
                  <a:srgbClr val="434343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если известно количество фреймов для классификации - классифицируем, если нет - кластеризуем</a:t>
            </a:r>
            <a:endParaRPr sz="2400">
              <a:solidFill>
                <a:srgbClr val="434343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</p:spTree>
    <p:extLst>
      <p:ext uri="{BB962C8B-B14F-4D97-AF65-F5344CB8AC3E}">
        <p14:creationId xmlns:p14="http://schemas.microsoft.com/office/powerpoint/2010/main" val="3832016102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2889</TotalTime>
  <Words>2094</Words>
  <Application>Microsoft Office PowerPoint</Application>
  <PresentationFormat>Широкоэкранный</PresentationFormat>
  <Paragraphs>450</Paragraphs>
  <Slides>50</Slides>
  <Notes>18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8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50</vt:i4>
      </vt:variant>
    </vt:vector>
  </HeadingPairs>
  <TitlesOfParts>
    <vt:vector size="59" baseType="lpstr">
      <vt:lpstr>Arial</vt:lpstr>
      <vt:lpstr>Calibri</vt:lpstr>
      <vt:lpstr>Calibri Light</vt:lpstr>
      <vt:lpstr>Open Sans</vt:lpstr>
      <vt:lpstr>Proxima Nova</vt:lpstr>
      <vt:lpstr>Raleway</vt:lpstr>
      <vt:lpstr>Source Sans Pro</vt:lpstr>
      <vt:lpstr>Times New Roman</vt:lpstr>
      <vt:lpstr>Тема Office</vt:lpstr>
      <vt:lpstr>Дистрибутивные модели - 2</vt:lpstr>
      <vt:lpstr>План</vt:lpstr>
      <vt:lpstr>Матрицы совместной встречаемости</vt:lpstr>
      <vt:lpstr>Матрицы совместной встречаемости</vt:lpstr>
      <vt:lpstr>Область применения</vt:lpstr>
      <vt:lpstr>Дистрибутивные модели</vt:lpstr>
      <vt:lpstr>Word2vec</vt:lpstr>
      <vt:lpstr>Дистрибутивные модели</vt:lpstr>
      <vt:lpstr>Word Sense Induction</vt:lpstr>
      <vt:lpstr>Кластеризация</vt:lpstr>
      <vt:lpstr>Иерархическая кластеризация</vt:lpstr>
      <vt:lpstr>Алгоритм K-средних</vt:lpstr>
      <vt:lpstr>Кластеризация в WSI</vt:lpstr>
      <vt:lpstr>Методы WSI: на основе уже готовых глобальных векторов</vt:lpstr>
      <vt:lpstr>Методы WSI: на этапе обучения моделей типа word2vec</vt:lpstr>
      <vt:lpstr>Методы WSI: на основе контекстуализированных моделей</vt:lpstr>
      <vt:lpstr>WSI в эпоху больших моделей (Mosolova et al. 2025)</vt:lpstr>
      <vt:lpstr>WSI для русского языка</vt:lpstr>
      <vt:lpstr>Разработка лексико-типологических анкет с помощью дистрибутивных моделей</vt:lpstr>
      <vt:lpstr>Научный контекст (1)</vt:lpstr>
      <vt:lpstr>Научный контекст (2)</vt:lpstr>
      <vt:lpstr>Научный контекст (3)</vt:lpstr>
      <vt:lpstr>Иллюстрация: ‘глубокий’</vt:lpstr>
      <vt:lpstr>Русское глубокий</vt:lpstr>
      <vt:lpstr>Французское profond ‘глубокий’</vt:lpstr>
      <vt:lpstr>Типологическая анкета</vt:lpstr>
      <vt:lpstr>Постановка задачи</vt:lpstr>
      <vt:lpstr>Шаг 1: список словосочетаний</vt:lpstr>
      <vt:lpstr>Шаг 2: разбиение словосочетаний на группы</vt:lpstr>
      <vt:lpstr>Векторное представление</vt:lpstr>
      <vt:lpstr>Кластеризация</vt:lpstr>
      <vt:lpstr>Иллюстрация: один из кластеров для прилагательного прямой</vt:lpstr>
      <vt:lpstr>Иллюстрация: прямой, центроиды</vt:lpstr>
      <vt:lpstr>Качественная оценка результатов: фрагмент кластеризации для прямой</vt:lpstr>
      <vt:lpstr>Качественная оценка: фрагмент кластеризации для острый</vt:lpstr>
      <vt:lpstr>Качественная оценка: Фрагмент кластеризации для падать</vt:lpstr>
      <vt:lpstr>Количественная оценка результатов</vt:lpstr>
      <vt:lpstr>Количественная оценка результатов</vt:lpstr>
      <vt:lpstr>Почему для разных полей работает по-разному?</vt:lpstr>
      <vt:lpstr>Заключение</vt:lpstr>
      <vt:lpstr>Другие части речи: глаголы движения</vt:lpstr>
      <vt:lpstr>Типология глаголов падения</vt:lpstr>
      <vt:lpstr>Презентация PowerPoint</vt:lpstr>
      <vt:lpstr>Ход работы</vt:lpstr>
      <vt:lpstr>Данные</vt:lpstr>
      <vt:lpstr>Классификатор: признаки</vt:lpstr>
      <vt:lpstr>Кластеризация существительных</vt:lpstr>
      <vt:lpstr>Методы</vt:lpstr>
      <vt:lpstr>Классификатор: признаки </vt:lpstr>
      <vt:lpstr>Процедура применения метода для других глаголов движения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Кластеризация векторного пространства</dc:title>
  <dc:creator>Дарья Рыжова</dc:creator>
  <cp:lastModifiedBy>Дарья Рыжова</cp:lastModifiedBy>
  <cp:revision>61</cp:revision>
  <dcterms:created xsi:type="dcterms:W3CDTF">2020-03-15T14:42:26Z</dcterms:created>
  <dcterms:modified xsi:type="dcterms:W3CDTF">2026-02-11T12:49:55Z</dcterms:modified>
</cp:coreProperties>
</file>