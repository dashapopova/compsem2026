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66"/>
  </p:notesMasterIdLst>
  <p:sldIdLst>
    <p:sldId id="256" r:id="rId2"/>
    <p:sldId id="337" r:id="rId3"/>
    <p:sldId id="360" r:id="rId4"/>
    <p:sldId id="299" r:id="rId5"/>
    <p:sldId id="332" r:id="rId6"/>
    <p:sldId id="333" r:id="rId7"/>
    <p:sldId id="336" r:id="rId8"/>
    <p:sldId id="260" r:id="rId9"/>
    <p:sldId id="306" r:id="rId10"/>
    <p:sldId id="300" r:id="rId11"/>
    <p:sldId id="339" r:id="rId12"/>
    <p:sldId id="340" r:id="rId13"/>
    <p:sldId id="303" r:id="rId14"/>
    <p:sldId id="304" r:id="rId15"/>
    <p:sldId id="328" r:id="rId16"/>
    <p:sldId id="329" r:id="rId17"/>
    <p:sldId id="330" r:id="rId18"/>
    <p:sldId id="331" r:id="rId19"/>
    <p:sldId id="342" r:id="rId20"/>
    <p:sldId id="347" r:id="rId21"/>
    <p:sldId id="348" r:id="rId22"/>
    <p:sldId id="349" r:id="rId23"/>
    <p:sldId id="350" r:id="rId24"/>
    <p:sldId id="351" r:id="rId25"/>
    <p:sldId id="343" r:id="rId26"/>
    <p:sldId id="341" r:id="rId27"/>
    <p:sldId id="352" r:id="rId28"/>
    <p:sldId id="356" r:id="rId29"/>
    <p:sldId id="355" r:id="rId30"/>
    <p:sldId id="354" r:id="rId31"/>
    <p:sldId id="345" r:id="rId32"/>
    <p:sldId id="358" r:id="rId33"/>
    <p:sldId id="359" r:id="rId34"/>
    <p:sldId id="361" r:id="rId35"/>
    <p:sldId id="362" r:id="rId36"/>
    <p:sldId id="363" r:id="rId37"/>
    <p:sldId id="364" r:id="rId38"/>
    <p:sldId id="365" r:id="rId39"/>
    <p:sldId id="366" r:id="rId40"/>
    <p:sldId id="367" r:id="rId41"/>
    <p:sldId id="368" r:id="rId42"/>
    <p:sldId id="369" r:id="rId43"/>
    <p:sldId id="370" r:id="rId44"/>
    <p:sldId id="371" r:id="rId45"/>
    <p:sldId id="372" r:id="rId46"/>
    <p:sldId id="373" r:id="rId47"/>
    <p:sldId id="374" r:id="rId48"/>
    <p:sldId id="375" r:id="rId49"/>
    <p:sldId id="376" r:id="rId50"/>
    <p:sldId id="377" r:id="rId51"/>
    <p:sldId id="378" r:id="rId52"/>
    <p:sldId id="379" r:id="rId53"/>
    <p:sldId id="380" r:id="rId54"/>
    <p:sldId id="381" r:id="rId55"/>
    <p:sldId id="382" r:id="rId56"/>
    <p:sldId id="383" r:id="rId57"/>
    <p:sldId id="384" r:id="rId58"/>
    <p:sldId id="385" r:id="rId59"/>
    <p:sldId id="386" r:id="rId60"/>
    <p:sldId id="387" r:id="rId61"/>
    <p:sldId id="388" r:id="rId62"/>
    <p:sldId id="389" r:id="rId63"/>
    <p:sldId id="390" r:id="rId64"/>
    <p:sldId id="391" r:id="rId6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536" autoAdjust="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4580A-9539-4DEC-8BEA-3143F62D8BB4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D8076-0E36-433F-BD49-F5E9ECB5D2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293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7D8076-0E36-433F-BD49-F5E9ECB5D24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2455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Придуманы не им!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7D8076-0E36-433F-BD49-F5E9ECB5D24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655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7D8076-0E36-433F-BD49-F5E9ECB5D24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6646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7D8076-0E36-433F-BD49-F5E9ECB5D24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9648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Возможное ограничение – граф с минимально возможным количеством ребер (такой алгоритм реализован, см. </a:t>
            </a:r>
            <a:r>
              <a:rPr lang="en-US" dirty="0" err="1"/>
              <a:t>Regier</a:t>
            </a:r>
            <a:r>
              <a:rPr lang="en-US" dirty="0"/>
              <a:t> et al. 2013</a:t>
            </a:r>
            <a:r>
              <a:rPr lang="ru-RU" dirty="0"/>
              <a:t>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7D8076-0E36-433F-BD49-F5E9ECB5D24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8294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Иллюстрация: не все допустимые комбинации возможны (и кто знает, мы не встретили таких языков, или действительно закономерности сложнее, чем мы привыкли считать?)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7D8076-0E36-433F-BD49-F5E9ECB5D244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898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Важно:</a:t>
            </a:r>
            <a:r>
              <a:rPr lang="ru-RU" baseline="0" dirty="0"/>
              <a:t> допустимы ли 3-4 и 1-2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7D8076-0E36-433F-BD49-F5E9ECB5D244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278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7D8076-0E36-433F-BD49-F5E9ECB5D244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5198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Допустимые комбинации:</a:t>
            </a:r>
            <a:r>
              <a:rPr lang="ru-RU" baseline="0" dirty="0"/>
              <a:t> такие, которые могут оказаться на одной полуплоскости (с учетом расстояния)</a:t>
            </a:r>
          </a:p>
          <a:p>
            <a:r>
              <a:rPr lang="ru-RU" baseline="0" dirty="0"/>
              <a:t>Ось Х – от линии к точке</a:t>
            </a:r>
          </a:p>
          <a:p>
            <a:r>
              <a:rPr lang="ru-RU" baseline="0" dirty="0"/>
              <a:t>Ось У – от нефункционального к функциональному???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7D8076-0E36-433F-BD49-F5E9ECB5D244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808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Интерпретация</a:t>
            </a:r>
            <a:r>
              <a:rPr lang="ru-RU" baseline="0" dirty="0"/>
              <a:t> значения осей</a:t>
            </a:r>
            <a:endParaRPr lang="ru-RU" dirty="0"/>
          </a:p>
          <a:p>
            <a:r>
              <a:rPr lang="ru-RU" dirty="0"/>
              <a:t>Полностью автоматическое</a:t>
            </a:r>
            <a:r>
              <a:rPr lang="ru-RU" baseline="0" dirty="0"/>
              <a:t> исследование (будущее </a:t>
            </a:r>
            <a:r>
              <a:rPr lang="ru-RU" baseline="0" dirty="0" err="1"/>
              <a:t>лекстипа</a:t>
            </a:r>
            <a:r>
              <a:rPr lang="ru-RU" baseline="0" dirty="0"/>
              <a:t>?)) Почему так нельзя всё делать сейчас?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7D8076-0E36-433F-BD49-F5E9ECB5D244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599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Новый</a:t>
            </a:r>
            <a:r>
              <a:rPr lang="ru-RU" baseline="0" dirty="0"/>
              <a:t> формат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7D8076-0E36-433F-BD49-F5E9ECB5D244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464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отношение инцидентности: данный объект имеет данный признак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7D8076-0E36-433F-BD49-F5E9ECB5D244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84915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7D8076-0E36-433F-BD49-F5E9ECB5D244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1752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Заменить картинку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7D8076-0E36-433F-BD49-F5E9ECB5D244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0765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Убрать в конец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7D8076-0E36-433F-BD49-F5E9ECB5D244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612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="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D0A-FCCA-42BC-A361-A998C86FB17E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632A-69B4-4A34-82A1-C9F2018803DB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637329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D0A-FCCA-42BC-A361-A998C86FB17E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632A-69B4-4A34-82A1-C9F201880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26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 spc="3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D0A-FCCA-42BC-A361-A998C86FB17E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632A-69B4-4A34-82A1-C9F2018803D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3357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D0A-FCCA-42BC-A361-A998C86FB17E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632A-69B4-4A34-82A1-C9F201880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4534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21606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21606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D0A-FCCA-42BC-A361-A998C86FB17E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632A-69B4-4A34-82A1-C9F201880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839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D0A-FCCA-42BC-A361-A998C86FB17E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632A-69B4-4A34-82A1-C9F201880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422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D0A-FCCA-42BC-A361-A998C86FB17E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632A-69B4-4A34-82A1-C9F201880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8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1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D0A-FCCA-42BC-A361-A998C86FB17E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632A-69B4-4A34-82A1-C9F201880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151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D0A-FCCA-42BC-A361-A998C86FB17E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632A-69B4-4A34-82A1-C9F201880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6570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D0A-FCCA-42BC-A361-A998C86FB17E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632A-69B4-4A34-82A1-C9F201880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221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4D0A-FCCA-42BC-A361-A998C86FB17E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3632A-69B4-4A34-82A1-C9F201880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053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1428929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E6CC4D0A-FCCA-42BC-A361-A998C86FB17E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4B23632A-69B4-4A34-82A1-C9F2018803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1203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priss.org.uk/papers/fcaic03.pdf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upriss.github.io/fca/fca.html" TargetMode="External"/><Relationship Id="rId2" Type="http://schemas.openxmlformats.org/officeDocument/2006/relationships/hyperlink" Target="https://sourceforge.net/projects/conexp/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61872" y="746760"/>
            <a:ext cx="9418320" cy="2575560"/>
          </a:xfrm>
        </p:spPr>
        <p:txBody>
          <a:bodyPr>
            <a:normAutofit/>
          </a:bodyPr>
          <a:lstStyle/>
          <a:p>
            <a:pPr algn="ctr"/>
            <a:r>
              <a:rPr lang="ru-RU" sz="4800" dirty="0"/>
              <a:t>Семантические карты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НИС «Компьютерная семантика»</a:t>
            </a:r>
          </a:p>
          <a:p>
            <a:pPr algn="r"/>
            <a:r>
              <a:rPr lang="ru-RU" dirty="0"/>
              <a:t>Даша Попова, Даша Рыжова</a:t>
            </a:r>
          </a:p>
          <a:p>
            <a:pPr algn="r"/>
            <a:r>
              <a:rPr lang="ru-RU" dirty="0"/>
              <a:t>1.04.2026</a:t>
            </a:r>
          </a:p>
        </p:txBody>
      </p:sp>
    </p:spTree>
    <p:extLst>
      <p:ext uri="{BB962C8B-B14F-4D97-AF65-F5344CB8AC3E}">
        <p14:creationId xmlns:p14="http://schemas.microsoft.com/office/powerpoint/2010/main" val="644832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Семантические карты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Что это такое?</a:t>
            </a:r>
          </a:p>
          <a:p>
            <a:r>
              <a:rPr lang="ru-RU" sz="3200" dirty="0"/>
              <a:t>Зачем нужны?</a:t>
            </a:r>
          </a:p>
        </p:txBody>
      </p:sp>
    </p:spTree>
    <p:extLst>
      <p:ext uri="{BB962C8B-B14F-4D97-AF65-F5344CB8AC3E}">
        <p14:creationId xmlns:p14="http://schemas.microsoft.com/office/powerpoint/2010/main" val="3889588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Семантические карты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Один из основных инструментов в типологии</a:t>
            </a:r>
          </a:p>
          <a:p>
            <a:r>
              <a:rPr lang="ru-RU" sz="3200" dirty="0"/>
              <a:t>И визуализация обнаруженных закономерностей, и возможность увидеть новые взаимосвязи и ограничения</a:t>
            </a:r>
          </a:p>
        </p:txBody>
      </p:sp>
    </p:spTree>
    <p:extLst>
      <p:ext uri="{BB962C8B-B14F-4D97-AF65-F5344CB8AC3E}">
        <p14:creationId xmlns:p14="http://schemas.microsoft.com/office/powerpoint/2010/main" val="3087312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0330" y="538166"/>
            <a:ext cx="9692640" cy="971321"/>
          </a:xfrm>
        </p:spPr>
        <p:txBody>
          <a:bodyPr>
            <a:normAutofit fontScale="90000"/>
          </a:bodyPr>
          <a:lstStyle/>
          <a:p>
            <a:r>
              <a:rPr lang="ru-RU" dirty="0"/>
              <a:t>Семантические карты в грамматической типологии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2800" y="2278743"/>
            <a:ext cx="10429750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Martin </a:t>
            </a:r>
            <a:r>
              <a:rPr lang="en-US" dirty="0" err="1"/>
              <a:t>Haspelmath</a:t>
            </a:r>
            <a:r>
              <a:rPr lang="en-US" dirty="0"/>
              <a:t>. 2001. </a:t>
            </a:r>
            <a:r>
              <a:rPr lang="en-US" i="1" dirty="0"/>
              <a:t>The geometry of grammatical meaning:</a:t>
            </a:r>
            <a:br>
              <a:rPr lang="ru-RU" i="1" dirty="0"/>
            </a:br>
            <a:r>
              <a:rPr lang="en-US" i="1" dirty="0"/>
              <a:t>Semantic maps and cross-linguistic comparison</a:t>
            </a:r>
            <a:endParaRPr lang="en-US" dirty="0"/>
          </a:p>
          <a:p>
            <a:r>
              <a:rPr lang="en-US" dirty="0"/>
              <a:t>A semantic map is a geometrical representation of functions in "conceptual/semantic space" which are linked by connecting lines and thus constitute a network. The configuration of functions shown by the map is claimed to be universal.</a:t>
            </a:r>
            <a:endParaRPr lang="ru-RU" dirty="0"/>
          </a:p>
          <a:p>
            <a:r>
              <a:rPr lang="en-US" dirty="0"/>
              <a:t>Similarity is expressed topologically by closeness of nodes in representational space</a:t>
            </a:r>
            <a:endParaRPr lang="ru-RU" dirty="0"/>
          </a:p>
          <a:p>
            <a:r>
              <a:rPr lang="en-US" dirty="0"/>
              <a:t>For each language examined, the functions are arranged in such a way that each gram occupies a </a:t>
            </a:r>
            <a:r>
              <a:rPr lang="en-US" b="1" dirty="0"/>
              <a:t>contiguous area </a:t>
            </a:r>
            <a:r>
              <a:rPr lang="en-US" dirty="0"/>
              <a:t>on the semantic map</a:t>
            </a:r>
            <a:r>
              <a:rPr lang="ru-RU" dirty="0"/>
              <a:t> (</a:t>
            </a:r>
            <a:r>
              <a:rPr lang="en-US" dirty="0"/>
              <a:t>Semantic Map Connectivity Hypothesis</a:t>
            </a:r>
            <a:r>
              <a:rPr lang="ru-RU" dirty="0"/>
              <a:t>) </a:t>
            </a:r>
            <a:r>
              <a:rPr lang="ru-RU" b="1" dirty="0"/>
              <a:t>– принцип смежности</a:t>
            </a:r>
            <a:br>
              <a:rPr lang="en-US" dirty="0"/>
            </a:b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1429" y="114165"/>
            <a:ext cx="2171121" cy="279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05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Иллюстрация 1: </a:t>
            </a:r>
            <a:br>
              <a:rPr lang="de-DE" dirty="0"/>
            </a:br>
            <a:r>
              <a:rPr lang="ru-RU" dirty="0" err="1"/>
              <a:t>дативные</a:t>
            </a:r>
            <a:r>
              <a:rPr lang="ru-RU" dirty="0"/>
              <a:t> значения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548249"/>
          </a:xfrm>
        </p:spPr>
        <p:txBody>
          <a:bodyPr>
            <a:normAutofit fontScale="92500" lnSpcReduction="20000"/>
          </a:bodyPr>
          <a:lstStyle/>
          <a:p>
            <a:r>
              <a:rPr lang="de-DE" dirty="0" err="1"/>
              <a:t>gave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b="1" i="1" dirty="0" err="1"/>
              <a:t>to</a:t>
            </a:r>
            <a:r>
              <a:rPr lang="de-DE" dirty="0"/>
              <a:t> </a:t>
            </a:r>
            <a:r>
              <a:rPr lang="de-DE" dirty="0" err="1"/>
              <a:t>me</a:t>
            </a:r>
            <a:r>
              <a:rPr lang="de-DE" dirty="0"/>
              <a:t>				</a:t>
            </a:r>
            <a:r>
              <a:rPr lang="ru-RU" dirty="0"/>
              <a:t>РЕЦИПИЕНТ</a:t>
            </a:r>
            <a:endParaRPr lang="de-DE" dirty="0"/>
          </a:p>
          <a:p>
            <a:r>
              <a:rPr lang="de-DE" dirty="0" err="1"/>
              <a:t>went</a:t>
            </a:r>
            <a:r>
              <a:rPr lang="de-DE" dirty="0"/>
              <a:t> </a:t>
            </a:r>
            <a:r>
              <a:rPr lang="de-DE" b="1" i="1" dirty="0" err="1"/>
              <a:t>to</a:t>
            </a:r>
            <a:r>
              <a:rPr lang="de-DE" b="1" i="1" dirty="0"/>
              <a:t> </a:t>
            </a:r>
            <a:r>
              <a:rPr lang="de-DE" dirty="0"/>
              <a:t>Leipzig			</a:t>
            </a:r>
            <a:r>
              <a:rPr lang="ru-RU" dirty="0"/>
              <a:t>НАПРАВЛЕНИЕ</a:t>
            </a:r>
          </a:p>
          <a:p>
            <a:r>
              <a:rPr lang="en-US" dirty="0"/>
              <a:t>I left the party </a:t>
            </a:r>
            <a:r>
              <a:rPr lang="en-US" b="1" i="1" dirty="0"/>
              <a:t>to </a:t>
            </a:r>
            <a:r>
              <a:rPr lang="en-US" dirty="0"/>
              <a:t>get home in time	</a:t>
            </a:r>
            <a:r>
              <a:rPr lang="ru-RU" dirty="0"/>
              <a:t>ЦЕЛЬ</a:t>
            </a:r>
          </a:p>
          <a:p>
            <a:endParaRPr lang="ru-RU" dirty="0"/>
          </a:p>
          <a:p>
            <a:r>
              <a:rPr lang="de-DE" dirty="0"/>
              <a:t>le </a:t>
            </a:r>
            <a:r>
              <a:rPr lang="de-DE" dirty="0" err="1"/>
              <a:t>donne</a:t>
            </a:r>
            <a:r>
              <a:rPr lang="de-DE" dirty="0"/>
              <a:t> à Pierre			</a:t>
            </a:r>
            <a:r>
              <a:rPr lang="ru-RU" dirty="0"/>
              <a:t> РЕЦИПИЕНТ</a:t>
            </a:r>
            <a:endParaRPr lang="de-DE" dirty="0"/>
          </a:p>
          <a:p>
            <a:r>
              <a:rPr lang="de-DE" dirty="0" err="1"/>
              <a:t>va</a:t>
            </a:r>
            <a:r>
              <a:rPr lang="de-DE" dirty="0"/>
              <a:t> à Paris  				</a:t>
            </a:r>
            <a:r>
              <a:rPr lang="ru-RU" dirty="0"/>
              <a:t> НАПРАВЛЕНИЕ</a:t>
            </a:r>
            <a:endParaRPr lang="de-DE" dirty="0"/>
          </a:p>
          <a:p>
            <a:r>
              <a:rPr lang="ru-RU" dirty="0"/>
              <a:t>*</a:t>
            </a:r>
            <a:r>
              <a:rPr lang="de-DE" dirty="0"/>
              <a:t>J</a:t>
            </a:r>
            <a:r>
              <a:rPr lang="en-US" dirty="0"/>
              <a:t>’</a:t>
            </a:r>
            <a:r>
              <a:rPr lang="en-US" dirty="0" err="1"/>
              <a:t>ai</a:t>
            </a:r>
            <a:r>
              <a:rPr lang="en-US" dirty="0"/>
              <a:t> </a:t>
            </a:r>
            <a:r>
              <a:rPr lang="en-US" dirty="0" err="1"/>
              <a:t>quitté</a:t>
            </a:r>
            <a:r>
              <a:rPr lang="en-US" dirty="0"/>
              <a:t> la fête </a:t>
            </a:r>
            <a:r>
              <a:rPr lang="en-US" dirty="0" err="1"/>
              <a:t>tôt</a:t>
            </a:r>
            <a:r>
              <a:rPr lang="en-US" dirty="0"/>
              <a:t> à arriver à</a:t>
            </a:r>
            <a:r>
              <a:rPr lang="ru-RU" dirty="0"/>
              <a:t> </a:t>
            </a:r>
            <a:r>
              <a:rPr lang="en-US" dirty="0"/>
              <a:t>la </a:t>
            </a:r>
            <a:r>
              <a:rPr lang="en-US" dirty="0" err="1"/>
              <a:t>maison</a:t>
            </a:r>
            <a:r>
              <a:rPr lang="en-US" dirty="0"/>
              <a:t> en bon temps. </a:t>
            </a:r>
            <a:r>
              <a:rPr lang="ru-RU" dirty="0"/>
              <a:t>ЦЕЛЬ</a:t>
            </a:r>
            <a:endParaRPr lang="en-US" dirty="0"/>
          </a:p>
          <a:p>
            <a:endParaRPr lang="en-US" dirty="0"/>
          </a:p>
          <a:p>
            <a:r>
              <a:rPr lang="de-DE" dirty="0"/>
              <a:t>*gab es zu mir				</a:t>
            </a:r>
            <a:r>
              <a:rPr lang="ru-RU" dirty="0"/>
              <a:t> РЕЦИПИЕНТ</a:t>
            </a:r>
            <a:endParaRPr lang="de-DE" dirty="0"/>
          </a:p>
          <a:p>
            <a:r>
              <a:rPr lang="de-DE" dirty="0"/>
              <a:t>ging zu Anna				</a:t>
            </a:r>
            <a:r>
              <a:rPr lang="ru-RU" dirty="0"/>
              <a:t> НАПРАВЛЕНИЕ</a:t>
            </a:r>
            <a:endParaRPr lang="de-DE" dirty="0"/>
          </a:p>
          <a:p>
            <a:r>
              <a:rPr lang="de-DE" dirty="0"/>
              <a:t>Anna ging zum Spielen in den Garten	</a:t>
            </a:r>
            <a:r>
              <a:rPr lang="ru-RU" dirty="0"/>
              <a:t> ЦЕЛЬ</a:t>
            </a:r>
            <a:endParaRPr lang="de-DE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4054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Иллюстрация 1: </a:t>
            </a:r>
            <a:br>
              <a:rPr lang="de-DE" dirty="0"/>
            </a:br>
            <a:r>
              <a:rPr lang="ru-RU" dirty="0" err="1"/>
              <a:t>дативные</a:t>
            </a:r>
            <a:r>
              <a:rPr lang="ru-RU" dirty="0"/>
              <a:t> значения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А. направление</a:t>
            </a:r>
            <a:r>
              <a:rPr lang="de-DE" dirty="0"/>
              <a:t> – </a:t>
            </a:r>
            <a:r>
              <a:rPr lang="ru-RU" dirty="0"/>
              <a:t>цель – реципиент</a:t>
            </a:r>
          </a:p>
          <a:p>
            <a:pPr marL="0" indent="0">
              <a:buNone/>
            </a:pPr>
            <a:r>
              <a:rPr lang="de-DE" dirty="0"/>
              <a:t>B. </a:t>
            </a:r>
            <a:r>
              <a:rPr lang="ru-RU" dirty="0"/>
              <a:t>цель</a:t>
            </a:r>
            <a:r>
              <a:rPr lang="de-DE" dirty="0"/>
              <a:t> – </a:t>
            </a:r>
            <a:r>
              <a:rPr lang="ru-RU" dirty="0"/>
              <a:t>направление</a:t>
            </a:r>
            <a:r>
              <a:rPr lang="de-DE" dirty="0"/>
              <a:t> – </a:t>
            </a:r>
            <a:r>
              <a:rPr lang="ru-RU" dirty="0"/>
              <a:t>реципиент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C. </a:t>
            </a:r>
            <a:r>
              <a:rPr lang="ru-RU" dirty="0"/>
              <a:t>направление – реципиент – цель</a:t>
            </a:r>
            <a:endParaRPr lang="en-US" dirty="0"/>
          </a:p>
          <a:p>
            <a:endParaRPr lang="en-US" dirty="0"/>
          </a:p>
          <a:p>
            <a:endParaRPr lang="de-DE" dirty="0"/>
          </a:p>
          <a:p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724393" y="1990340"/>
          <a:ext cx="979714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9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9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9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9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РЕЦИПИЕНТ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НАПРАВЛЕНИЕ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ЦЕЛЬ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Англ.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Франц.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/>
                        <a:t>Немецк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6393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1313189"/>
          </a:xfrm>
        </p:spPr>
        <p:txBody>
          <a:bodyPr/>
          <a:lstStyle/>
          <a:p>
            <a:r>
              <a:rPr lang="ru-RU" dirty="0"/>
              <a:t>Иллюстрация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7274" y="5106573"/>
            <a:ext cx="7849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Haspelmath</a:t>
            </a:r>
            <a:r>
              <a:rPr lang="en-US" sz="2400" dirty="0"/>
              <a:t> 199</a:t>
            </a:r>
            <a:r>
              <a:rPr lang="ru-RU" sz="2400" dirty="0"/>
              <a:t>9</a:t>
            </a:r>
            <a:r>
              <a:rPr lang="en-US" sz="2400" dirty="0"/>
              <a:t>, </a:t>
            </a:r>
            <a:r>
              <a:rPr lang="ru-RU" sz="2400" dirty="0" err="1"/>
              <a:t>дативные</a:t>
            </a:r>
            <a:r>
              <a:rPr lang="ru-RU" sz="2400" dirty="0"/>
              <a:t> значения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776" y="2057819"/>
            <a:ext cx="8716766" cy="2566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1425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1313189"/>
          </a:xfrm>
        </p:spPr>
        <p:txBody>
          <a:bodyPr/>
          <a:lstStyle/>
          <a:p>
            <a:r>
              <a:rPr lang="ru-RU" dirty="0"/>
              <a:t>Иллюстрация 2</a:t>
            </a: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974" y="1815905"/>
            <a:ext cx="9636369" cy="257438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927272" y="4630616"/>
            <a:ext cx="78497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Haspelmath</a:t>
            </a:r>
            <a:r>
              <a:rPr lang="en-US" sz="2400" dirty="0"/>
              <a:t> 1997, </a:t>
            </a:r>
            <a:r>
              <a:rPr lang="ru-RU" sz="2400" dirty="0"/>
              <a:t>неопределенные местоимения</a:t>
            </a:r>
          </a:p>
          <a:p>
            <a:endParaRPr lang="ru-RU" sz="2400" dirty="0"/>
          </a:p>
          <a:p>
            <a:r>
              <a:rPr lang="ru-RU" sz="2400" dirty="0"/>
              <a:t>Данные к этой карте хранятся здесь: </a:t>
            </a:r>
            <a:r>
              <a:rPr lang="en-US" sz="2400" dirty="0"/>
              <a:t>https://zenodo.org/record/1157061#.XrhedTlS_Dd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580725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Иллюстрация 2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85" y="2001610"/>
            <a:ext cx="9550969" cy="361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90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9015" y="399871"/>
            <a:ext cx="9692640" cy="1428929"/>
          </a:xfrm>
        </p:spPr>
        <p:txBody>
          <a:bodyPr/>
          <a:lstStyle/>
          <a:p>
            <a:r>
              <a:rPr lang="ru-RU" dirty="0"/>
              <a:t>Из грамматической типологии – в лексическую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015" y="2129246"/>
            <a:ext cx="8595360" cy="4351337"/>
          </a:xfrm>
        </p:spPr>
        <p:txBody>
          <a:bodyPr>
            <a:normAutofit/>
          </a:bodyPr>
          <a:lstStyle/>
          <a:p>
            <a:r>
              <a:rPr lang="ru-RU" sz="2800" dirty="0"/>
              <a:t>Вместо грамматических функций – минимальные лексические значения (словарные </a:t>
            </a:r>
            <a:r>
              <a:rPr lang="ru-RU" sz="2800" dirty="0" err="1"/>
              <a:t>подзначения</a:t>
            </a:r>
            <a:r>
              <a:rPr lang="ru-RU" sz="2800" dirty="0"/>
              <a:t>, фреймы – в зависимости от подхода)</a:t>
            </a:r>
          </a:p>
          <a:p>
            <a:r>
              <a:rPr lang="ru-RU" sz="2800" dirty="0"/>
              <a:t>Чем ближе значения друг к другу, тем больше вероятность </a:t>
            </a:r>
            <a:r>
              <a:rPr lang="ru-RU" sz="2800" dirty="0" err="1"/>
              <a:t>колексификации</a:t>
            </a:r>
            <a:endParaRPr lang="ru-RU" sz="2800" dirty="0"/>
          </a:p>
          <a:p>
            <a:r>
              <a:rPr lang="ru-RU" sz="2800" dirty="0"/>
              <a:t>Принцип смежности сохраняется</a:t>
            </a:r>
          </a:p>
          <a:p>
            <a:r>
              <a:rPr lang="ru-RU" sz="2800" dirty="0"/>
              <a:t>Строили ли вы семантическую карту в дз1?</a:t>
            </a:r>
          </a:p>
        </p:txBody>
      </p:sp>
    </p:spTree>
    <p:extLst>
      <p:ext uri="{BB962C8B-B14F-4D97-AF65-F5344CB8AC3E}">
        <p14:creationId xmlns:p14="http://schemas.microsoft.com/office/powerpoint/2010/main" val="429170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Семантическая карта: проблемные точки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678680"/>
          </a:xfrm>
        </p:spPr>
        <p:txBody>
          <a:bodyPr>
            <a:normAutofit fontScale="92500"/>
          </a:bodyPr>
          <a:lstStyle/>
          <a:p>
            <a:r>
              <a:rPr lang="ru-RU" sz="2400" dirty="0"/>
              <a:t>Как определить, какие значения считать узлами</a:t>
            </a:r>
          </a:p>
          <a:p>
            <a:r>
              <a:rPr lang="ru-RU" sz="2400" dirty="0"/>
              <a:t>Для больших наборов данных сложно составлять вручную</a:t>
            </a:r>
          </a:p>
          <a:p>
            <a:r>
              <a:rPr lang="ru-RU" sz="2400" dirty="0"/>
              <a:t>Автоматизировать тоже не так просто: недостаточно четкое определение (хотим запрещать или разрешать?) – </a:t>
            </a:r>
            <a:r>
              <a:rPr lang="ru-RU" sz="2400" b="1" dirty="0"/>
              <a:t>проблема определения</a:t>
            </a:r>
          </a:p>
          <a:p>
            <a:r>
              <a:rPr lang="ru-RU" sz="2400" dirty="0"/>
              <a:t>Одни и те же данные могут описываться картами разных конфигураций </a:t>
            </a:r>
            <a:r>
              <a:rPr lang="ru-RU" sz="2400" b="1" dirty="0"/>
              <a:t>(проблема правильного ответа)</a:t>
            </a:r>
          </a:p>
          <a:p>
            <a:r>
              <a:rPr lang="ru-RU" sz="2400" dirty="0"/>
              <a:t>Связи только между двумя объектами </a:t>
            </a:r>
            <a:r>
              <a:rPr lang="ru-RU" sz="2400" b="1" dirty="0"/>
              <a:t>(проблема комбинаций и импликаций)</a:t>
            </a:r>
          </a:p>
          <a:p>
            <a:r>
              <a:rPr lang="ru-RU" sz="2400" dirty="0"/>
              <a:t>Связи могут быть разных типов </a:t>
            </a:r>
            <a:r>
              <a:rPr lang="ru-RU" sz="2400" b="1" dirty="0"/>
              <a:t>(проблема связей)</a:t>
            </a:r>
          </a:p>
        </p:txBody>
      </p:sp>
    </p:spTree>
    <p:extLst>
      <p:ext uri="{BB962C8B-B14F-4D97-AF65-F5344CB8AC3E}">
        <p14:creationId xmlns:p14="http://schemas.microsoft.com/office/powerpoint/2010/main" val="366598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определения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2" y="1950720"/>
            <a:ext cx="9616440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Что мы хотим получить? Хотим, чтобы карта разрешала все возможные комбинации или запрещала всё то, чего не бывает?</a:t>
            </a:r>
          </a:p>
          <a:p>
            <a:pPr marL="0" indent="0">
              <a:buNone/>
            </a:pPr>
            <a:r>
              <a:rPr lang="ru-RU" sz="2800" dirty="0"/>
              <a:t>Одновременно – не получается</a:t>
            </a:r>
          </a:p>
          <a:p>
            <a:pPr marL="0" indent="0">
              <a:buNone/>
            </a:pPr>
            <a:r>
              <a:rPr lang="ru-RU" sz="2800" dirty="0"/>
              <a:t>Традиционная карта разрешает всё засвидетельствованное и запрещает часть незасвидетельствованного (т.е. разрешает больше, чем реально встретилось)</a:t>
            </a:r>
          </a:p>
        </p:txBody>
      </p:sp>
    </p:spTree>
    <p:extLst>
      <p:ext uri="{BB962C8B-B14F-4D97-AF65-F5344CB8AC3E}">
        <p14:creationId xmlns:p14="http://schemas.microsoft.com/office/powerpoint/2010/main" val="1220663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хотим отобразить?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2" y="1828800"/>
            <a:ext cx="9101328" cy="4351337"/>
          </a:xfrm>
        </p:spPr>
        <p:txBody>
          <a:bodyPr/>
          <a:lstStyle/>
          <a:p>
            <a:r>
              <a:rPr lang="ru-RU" sz="2400" dirty="0"/>
              <a:t>Если хотим, чтобы карта разрешала все то, что действительно засвидетельствовано, подойдет полный граф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sz="2400" dirty="0"/>
              <a:t>НО: тогда мы ничего не запретим, и смысла в карте будет мало (</a:t>
            </a:r>
            <a:r>
              <a:rPr lang="en-US" sz="2400" dirty="0" err="1"/>
              <a:t>Haspelmath</a:t>
            </a:r>
            <a:r>
              <a:rPr lang="en-US" sz="2400" dirty="0"/>
              <a:t> 2003: “vacuous” map</a:t>
            </a:r>
            <a:r>
              <a:rPr lang="ru-RU" sz="2400" dirty="0"/>
              <a:t>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582672" y="3410857"/>
            <a:ext cx="595086" cy="3193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461657" y="4078514"/>
            <a:ext cx="595086" cy="3193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4340642" y="3410857"/>
            <a:ext cx="595086" cy="3193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461657" y="2794000"/>
            <a:ext cx="595086" cy="3193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>
            <a:stCxn id="4" idx="3"/>
            <a:endCxn id="6" idx="1"/>
          </p:cNvCxnSpPr>
          <p:nvPr/>
        </p:nvCxnSpPr>
        <p:spPr>
          <a:xfrm>
            <a:off x="3177758" y="3570514"/>
            <a:ext cx="11628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>
            <a:endCxn id="5" idx="0"/>
          </p:cNvCxnSpPr>
          <p:nvPr/>
        </p:nvCxnSpPr>
        <p:spPr>
          <a:xfrm>
            <a:off x="3759200" y="3113314"/>
            <a:ext cx="0" cy="965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>
            <a:stCxn id="4" idx="3"/>
          </p:cNvCxnSpPr>
          <p:nvPr/>
        </p:nvCxnSpPr>
        <p:spPr>
          <a:xfrm flipV="1">
            <a:off x="3177758" y="3113314"/>
            <a:ext cx="567798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endCxn id="6" idx="1"/>
          </p:cNvCxnSpPr>
          <p:nvPr/>
        </p:nvCxnSpPr>
        <p:spPr>
          <a:xfrm>
            <a:off x="3759200" y="3113314"/>
            <a:ext cx="581442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3177758" y="3599133"/>
            <a:ext cx="567798" cy="479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endCxn id="5" idx="0"/>
          </p:cNvCxnSpPr>
          <p:nvPr/>
        </p:nvCxnSpPr>
        <p:spPr>
          <a:xfrm flipH="1">
            <a:off x="3759200" y="3570514"/>
            <a:ext cx="581442" cy="50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332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1489" y="32122"/>
            <a:ext cx="9692640" cy="913264"/>
          </a:xfrm>
        </p:spPr>
        <p:txBody>
          <a:bodyPr/>
          <a:lstStyle/>
          <a:p>
            <a:r>
              <a:rPr lang="ru-RU" dirty="0"/>
              <a:t>Что хотим отобразить?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40219" y="960022"/>
            <a:ext cx="9692640" cy="507999"/>
          </a:xfrm>
        </p:spPr>
        <p:txBody>
          <a:bodyPr>
            <a:noAutofit/>
          </a:bodyPr>
          <a:lstStyle/>
          <a:p>
            <a:r>
              <a:rPr lang="ru-RU" sz="2400" dirty="0"/>
              <a:t>Может быть, лучше запретить все то, чего не бывает? Не так-то просто!</a:t>
            </a:r>
          </a:p>
        </p:txBody>
      </p:sp>
      <p:pic>
        <p:nvPicPr>
          <p:cNvPr id="4" name="Объект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474" y="1685205"/>
            <a:ext cx="9316130" cy="2825913"/>
          </a:xfrm>
          <a:prstGeom prst="rect">
            <a:avLst/>
          </a:prstGeom>
        </p:spPr>
      </p:pic>
      <p:sp>
        <p:nvSpPr>
          <p:cNvPr id="5" name="Объект 2"/>
          <p:cNvSpPr txBox="1">
            <a:spLocks/>
          </p:cNvSpPr>
          <p:nvPr/>
        </p:nvSpPr>
        <p:spPr>
          <a:xfrm>
            <a:off x="740219" y="4511117"/>
            <a:ext cx="9692640" cy="212191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spc="1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1+2+3+4 – серб. </a:t>
            </a:r>
            <a:r>
              <a:rPr lang="ru-RU" i="1" dirty="0" err="1"/>
              <a:t>оштар</a:t>
            </a:r>
            <a:endParaRPr lang="ru-RU" i="1" dirty="0"/>
          </a:p>
          <a:p>
            <a:r>
              <a:rPr lang="ru-RU" dirty="0"/>
              <a:t>1+2+4 </a:t>
            </a:r>
            <a:r>
              <a:rPr lang="en-US" dirty="0"/>
              <a:t>vs. </a:t>
            </a:r>
            <a:r>
              <a:rPr lang="ru-RU" dirty="0"/>
              <a:t>3 – русск. </a:t>
            </a:r>
            <a:r>
              <a:rPr lang="ru-RU" i="1" dirty="0"/>
              <a:t>острый</a:t>
            </a:r>
            <a:r>
              <a:rPr lang="ru-RU" dirty="0"/>
              <a:t> </a:t>
            </a:r>
            <a:r>
              <a:rPr lang="en-US" dirty="0"/>
              <a:t>vs. </a:t>
            </a:r>
            <a:r>
              <a:rPr lang="ru-RU" i="1" dirty="0"/>
              <a:t>колючий</a:t>
            </a:r>
          </a:p>
          <a:p>
            <a:r>
              <a:rPr lang="ru-RU" dirty="0"/>
              <a:t>1+2 </a:t>
            </a:r>
            <a:r>
              <a:rPr lang="en-US" dirty="0"/>
              <a:t>vs. </a:t>
            </a:r>
            <a:r>
              <a:rPr lang="ru-RU" dirty="0"/>
              <a:t>3+4 – </a:t>
            </a:r>
            <a:r>
              <a:rPr lang="ru-RU" dirty="0" err="1"/>
              <a:t>валл</a:t>
            </a:r>
            <a:r>
              <a:rPr lang="ru-RU" dirty="0"/>
              <a:t>. </a:t>
            </a:r>
            <a:r>
              <a:rPr lang="en-US" i="1" dirty="0" err="1"/>
              <a:t>llym</a:t>
            </a:r>
            <a:r>
              <a:rPr lang="en-US" i="1" dirty="0"/>
              <a:t> </a:t>
            </a:r>
            <a:r>
              <a:rPr lang="en-US" dirty="0"/>
              <a:t>vs. </a:t>
            </a:r>
            <a:r>
              <a:rPr lang="en-US" i="1" dirty="0" err="1"/>
              <a:t>pigog</a:t>
            </a:r>
            <a:endParaRPr lang="ru-RU" dirty="0"/>
          </a:p>
          <a:p>
            <a:r>
              <a:rPr lang="ru-RU" dirty="0"/>
              <a:t>1+2+3 </a:t>
            </a:r>
            <a:r>
              <a:rPr lang="en-US" dirty="0"/>
              <a:t>vs. </a:t>
            </a:r>
            <a:r>
              <a:rPr lang="ru-RU" dirty="0"/>
              <a:t>4 ?</a:t>
            </a:r>
          </a:p>
          <a:p>
            <a:r>
              <a:rPr lang="ru-RU" dirty="0"/>
              <a:t>1 </a:t>
            </a:r>
            <a:r>
              <a:rPr lang="en-US" dirty="0"/>
              <a:t>vs. </a:t>
            </a:r>
            <a:r>
              <a:rPr lang="ru-RU" dirty="0"/>
              <a:t>2+3+4 ?</a:t>
            </a:r>
          </a:p>
          <a:p>
            <a:endParaRPr lang="ru-RU" i="1" dirty="0"/>
          </a:p>
        </p:txBody>
      </p:sp>
      <p:sp>
        <p:nvSpPr>
          <p:cNvPr id="6" name="TextBox 5"/>
          <p:cNvSpPr txBox="1"/>
          <p:nvPr/>
        </p:nvSpPr>
        <p:spPr>
          <a:xfrm>
            <a:off x="2177142" y="2146425"/>
            <a:ext cx="362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23682" y="2146425"/>
            <a:ext cx="362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1257" y="2283957"/>
            <a:ext cx="362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48775" y="3502098"/>
            <a:ext cx="362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9020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2520" y="308113"/>
            <a:ext cx="9692640" cy="743447"/>
          </a:xfrm>
        </p:spPr>
        <p:txBody>
          <a:bodyPr/>
          <a:lstStyle/>
          <a:p>
            <a:r>
              <a:rPr lang="ru-RU" dirty="0"/>
              <a:t>Поиск оптимального графа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12520" y="1341120"/>
            <a:ext cx="9585960" cy="4884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Проблема приравнивается по уровню сложности к одной из самых известных задач комбинаторной оптимизации – «задаче коммивояжёра»:</a:t>
            </a:r>
          </a:p>
          <a:p>
            <a:pPr marL="365125" indent="0">
              <a:buNone/>
            </a:pPr>
            <a:r>
              <a:rPr lang="ru-RU" sz="2400" dirty="0"/>
              <a:t>Как найти самый выгодный маршрут, проходящий через указанные города хотя бы по одному разу с последующим возвратом в исходный пункт</a:t>
            </a:r>
          </a:p>
          <a:p>
            <a:pPr marL="0" indent="0">
              <a:buNone/>
            </a:pPr>
            <a:r>
              <a:rPr lang="ru-RU" dirty="0"/>
              <a:t>(Обычно требуется учитывать: расстояния, стоимость переездов и проч.)</a:t>
            </a:r>
          </a:p>
          <a:p>
            <a:pPr marL="0" indent="0">
              <a:buNone/>
            </a:pPr>
            <a:r>
              <a:rPr lang="ru-RU" sz="2400" dirty="0"/>
              <a:t>Уже при относительно небольшом числе городов (66 и более) она не может быть решена методом перебора вариантов никакими теоретически мыслимыми компьютерами за время, меньшее нескольких миллиардов лет.</a:t>
            </a:r>
          </a:p>
        </p:txBody>
      </p:sp>
    </p:spTree>
    <p:extLst>
      <p:ext uri="{BB962C8B-B14F-4D97-AF65-F5344CB8AC3E}">
        <p14:creationId xmlns:p14="http://schemas.microsoft.com/office/powerpoint/2010/main" val="3596900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41120" y="5439936"/>
            <a:ext cx="92506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Оптимальный маршрут коммивояжёра через 15 крупнейших городов Германии. Указанный маршрут является самым коротким из всех возможных 43 589 145 600 вариантов.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1" y="198120"/>
            <a:ext cx="4884420" cy="524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30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4360" y="155713"/>
            <a:ext cx="10360152" cy="1185407"/>
          </a:xfrm>
        </p:spPr>
        <p:txBody>
          <a:bodyPr>
            <a:normAutofit fontScale="90000"/>
          </a:bodyPr>
          <a:lstStyle/>
          <a:p>
            <a:r>
              <a:rPr lang="ru-RU" dirty="0"/>
              <a:t>Попытка оптимизации:</a:t>
            </a:r>
            <a:br>
              <a:rPr lang="en-US" dirty="0"/>
            </a:br>
            <a:r>
              <a:rPr lang="en-US" dirty="0" err="1"/>
              <a:t>Regier</a:t>
            </a:r>
            <a:r>
              <a:rPr lang="en-US" dirty="0"/>
              <a:t> et al. 2013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4360" y="1493520"/>
            <a:ext cx="10360152" cy="509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u="sng" dirty="0"/>
              <a:t>Дано:</a:t>
            </a:r>
            <a:endParaRPr lang="ru-RU" dirty="0"/>
          </a:p>
          <a:p>
            <a:pPr>
              <a:spcBef>
                <a:spcPts val="600"/>
              </a:spcBef>
            </a:pPr>
            <a:r>
              <a:rPr lang="en-US" dirty="0"/>
              <a:t>V</a:t>
            </a:r>
            <a:r>
              <a:rPr lang="ru-RU" dirty="0"/>
              <a:t> – множество узлов графа (= набор семантических функций, или фреймов)</a:t>
            </a:r>
          </a:p>
          <a:p>
            <a:pPr>
              <a:spcBef>
                <a:spcPts val="600"/>
              </a:spcBef>
            </a:pPr>
            <a:r>
              <a:rPr lang="en-US" dirty="0"/>
              <a:t>S</a:t>
            </a:r>
            <a:r>
              <a:rPr lang="en-US" baseline="-25000" dirty="0"/>
              <a:t>i </a:t>
            </a:r>
            <a:r>
              <a:rPr lang="ru-RU" dirty="0"/>
              <a:t>– набор ограничений (= набор групп узлов, т.е. информация о том, какие узлы могут объединяться в разных языках)</a:t>
            </a:r>
          </a:p>
          <a:p>
            <a:pPr marL="0" indent="0">
              <a:buNone/>
            </a:pPr>
            <a:r>
              <a:rPr lang="ru-RU" u="sng" dirty="0"/>
              <a:t>Найти:</a:t>
            </a:r>
            <a:endParaRPr lang="ru-RU" dirty="0"/>
          </a:p>
          <a:p>
            <a:pPr>
              <a:spcBef>
                <a:spcPts val="600"/>
              </a:spcBef>
            </a:pPr>
            <a:r>
              <a:rPr lang="ru-RU" dirty="0"/>
              <a:t>Минимальный набор ребер </a:t>
            </a:r>
            <a:r>
              <a:rPr lang="en-US" dirty="0"/>
              <a:t>E</a:t>
            </a:r>
            <a:r>
              <a:rPr lang="ru-RU" dirty="0"/>
              <a:t>, такой, чтобы получился связный граф </a:t>
            </a:r>
            <a:r>
              <a:rPr lang="en-US" dirty="0"/>
              <a:t>G</a:t>
            </a:r>
            <a:r>
              <a:rPr lang="ru-RU" dirty="0"/>
              <a:t> = (</a:t>
            </a:r>
            <a:r>
              <a:rPr lang="en-US" dirty="0"/>
              <a:t>V</a:t>
            </a:r>
            <a:r>
              <a:rPr lang="ru-RU" dirty="0"/>
              <a:t>, </a:t>
            </a:r>
            <a:r>
              <a:rPr lang="en-US" dirty="0"/>
              <a:t>E</a:t>
            </a:r>
            <a:r>
              <a:rPr lang="ru-RU" dirty="0"/>
              <a:t>), отвечающий всем нашим ограничениям</a:t>
            </a:r>
          </a:p>
          <a:p>
            <a:pPr marL="0" indent="0">
              <a:buNone/>
            </a:pPr>
            <a:r>
              <a:rPr lang="ru-RU" u="sng" dirty="0"/>
              <a:t>Алгоритм</a:t>
            </a:r>
            <a:r>
              <a:rPr lang="ru-RU" dirty="0"/>
              <a:t> решения: </a:t>
            </a:r>
            <a:r>
              <a:rPr lang="en-US" dirty="0" err="1"/>
              <a:t>Angluin</a:t>
            </a:r>
            <a:r>
              <a:rPr lang="en-US" dirty="0"/>
              <a:t> et al</a:t>
            </a:r>
            <a:r>
              <a:rPr lang="ru-RU" dirty="0"/>
              <a:t>. 2010</a:t>
            </a:r>
            <a:r>
              <a:rPr lang="en-US" dirty="0"/>
              <a:t> (</a:t>
            </a:r>
            <a:r>
              <a:rPr lang="ru-RU" dirty="0"/>
              <a:t>социальная сеть вспышек эпидемий</a:t>
            </a:r>
            <a:r>
              <a:rPr lang="en-US" dirty="0"/>
              <a:t>)</a:t>
            </a:r>
            <a:endParaRPr lang="ru-RU" dirty="0"/>
          </a:p>
          <a:p>
            <a:pPr marL="0" indent="0">
              <a:buNone/>
            </a:pPr>
            <a:r>
              <a:rPr lang="ru-RU" u="sng" dirty="0"/>
              <a:t>Работа алгоритма:</a:t>
            </a:r>
            <a:endParaRPr lang="ru-RU" dirty="0"/>
          </a:p>
          <a:p>
            <a:pPr>
              <a:spcBef>
                <a:spcPts val="600"/>
              </a:spcBef>
            </a:pPr>
            <a:r>
              <a:rPr lang="ru-RU" dirty="0"/>
              <a:t>Начинаем с пустого множества </a:t>
            </a:r>
            <a:r>
              <a:rPr lang="en-US" dirty="0"/>
              <a:t>E</a:t>
            </a:r>
            <a:r>
              <a:rPr lang="ru-RU" dirty="0"/>
              <a:t>, потом постепенно вводим по одному ребру (в порядке их значимости для графа). Значимость ребра ~ чем больше языков провели эту связь, тем она важнее. Добавляем ребра до тех пор, пока все ограничения не будут удовлетворены</a:t>
            </a:r>
          </a:p>
        </p:txBody>
      </p:sp>
    </p:spTree>
    <p:extLst>
      <p:ext uri="{BB962C8B-B14F-4D97-AF65-F5344CB8AC3E}">
        <p14:creationId xmlns:p14="http://schemas.microsoft.com/office/powerpoint/2010/main" val="395297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7959" y="658633"/>
            <a:ext cx="9692640" cy="773927"/>
          </a:xfrm>
        </p:spPr>
        <p:txBody>
          <a:bodyPr/>
          <a:lstStyle/>
          <a:p>
            <a:r>
              <a:rPr lang="en-US" dirty="0" err="1"/>
              <a:t>Regier</a:t>
            </a:r>
            <a:r>
              <a:rPr lang="en-US" dirty="0"/>
              <a:t> et al.: </a:t>
            </a:r>
            <a:r>
              <a:rPr lang="ru-RU" dirty="0"/>
              <a:t>Результаты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84" y="2240280"/>
            <a:ext cx="10698990" cy="2849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486400"/>
            <a:ext cx="967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Код:</a:t>
            </a:r>
            <a:r>
              <a:rPr lang="en-US" sz="2800" dirty="0"/>
              <a:t> https://lclab.berkeley.edu/regier/semantic-maps/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4629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697727"/>
          </a:xfrm>
        </p:spPr>
        <p:txBody>
          <a:bodyPr>
            <a:normAutofit/>
          </a:bodyPr>
          <a:lstStyle/>
          <a:p>
            <a:r>
              <a:rPr lang="ru-RU" dirty="0"/>
              <a:t>Проблема правильного ответа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908900"/>
              </p:ext>
            </p:extLst>
          </p:nvPr>
        </p:nvGraphicFramePr>
        <p:xfrm>
          <a:off x="1261871" y="1310640"/>
          <a:ext cx="9144000" cy="49245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5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1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5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71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38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8042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</a:rPr>
                        <a:t>Language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Word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Sense_1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Sense_2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Sense_3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Sense_4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662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</a:rPr>
                        <a:t>from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an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elevated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surface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loss of vertical orientation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detachment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crashing down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</a:rPr>
                        <a:t>English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</a:rPr>
                        <a:t>fall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1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1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1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1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Chinese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掉diào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10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ru-RU" sz="2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倒dǎo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1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Russian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упасть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10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ru-RU" sz="2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рухнуть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1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Japanese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ochiru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1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410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ru-RU" sz="2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taoreru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400" marR="25400" marT="25400" marB="2540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3405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Вариант 1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261872" y="3200400"/>
            <a:ext cx="1648968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Sense 1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486912" y="4389120"/>
            <a:ext cx="1648968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Sense 4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574792" y="3200400"/>
            <a:ext cx="1648968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Sense 2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486912" y="2202021"/>
            <a:ext cx="1648968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Sense 3</a:t>
            </a:r>
            <a:endParaRPr lang="ru-RU" b="1" dirty="0"/>
          </a:p>
        </p:txBody>
      </p:sp>
      <p:cxnSp>
        <p:nvCxnSpPr>
          <p:cNvPr id="9" name="Прямая соединительная линия 8"/>
          <p:cNvCxnSpPr>
            <a:stCxn id="4" idx="3"/>
            <a:endCxn id="7" idx="2"/>
          </p:cNvCxnSpPr>
          <p:nvPr/>
        </p:nvCxnSpPr>
        <p:spPr>
          <a:xfrm flipV="1">
            <a:off x="2910840" y="2994501"/>
            <a:ext cx="1400556" cy="602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>
            <a:stCxn id="7" idx="2"/>
            <a:endCxn id="6" idx="1"/>
          </p:cNvCxnSpPr>
          <p:nvPr/>
        </p:nvCxnSpPr>
        <p:spPr>
          <a:xfrm>
            <a:off x="4311396" y="2994501"/>
            <a:ext cx="1263396" cy="602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>
            <a:stCxn id="6" idx="1"/>
            <a:endCxn id="5" idx="0"/>
          </p:cNvCxnSpPr>
          <p:nvPr/>
        </p:nvCxnSpPr>
        <p:spPr>
          <a:xfrm flipH="1">
            <a:off x="4311396" y="3596640"/>
            <a:ext cx="1263396" cy="792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stCxn id="4" idx="3"/>
            <a:endCxn id="5" idx="0"/>
          </p:cNvCxnSpPr>
          <p:nvPr/>
        </p:nvCxnSpPr>
        <p:spPr>
          <a:xfrm>
            <a:off x="2910840" y="3596640"/>
            <a:ext cx="1400556" cy="792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52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Вариант </a:t>
            </a:r>
            <a:r>
              <a:rPr lang="en-US" dirty="0"/>
              <a:t>2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261872" y="3200400"/>
            <a:ext cx="1648968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Sense 1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486912" y="4427379"/>
            <a:ext cx="1648968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Sense 2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574792" y="3200400"/>
            <a:ext cx="1648968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Sense 4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486912" y="2202021"/>
            <a:ext cx="1648968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Sense 3</a:t>
            </a:r>
            <a:endParaRPr lang="ru-RU" b="1" dirty="0"/>
          </a:p>
        </p:txBody>
      </p:sp>
      <p:cxnSp>
        <p:nvCxnSpPr>
          <p:cNvPr id="9" name="Прямая соединительная линия 8"/>
          <p:cNvCxnSpPr>
            <a:stCxn id="4" idx="3"/>
            <a:endCxn id="7" idx="2"/>
          </p:cNvCxnSpPr>
          <p:nvPr/>
        </p:nvCxnSpPr>
        <p:spPr>
          <a:xfrm flipV="1">
            <a:off x="2910840" y="2994501"/>
            <a:ext cx="1400556" cy="602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>
            <a:stCxn id="7" idx="2"/>
            <a:endCxn id="6" idx="1"/>
          </p:cNvCxnSpPr>
          <p:nvPr/>
        </p:nvCxnSpPr>
        <p:spPr>
          <a:xfrm>
            <a:off x="4311396" y="2994501"/>
            <a:ext cx="1263396" cy="602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>
            <a:stCxn id="6" idx="1"/>
            <a:endCxn id="5" idx="0"/>
          </p:cNvCxnSpPr>
          <p:nvPr/>
        </p:nvCxnSpPr>
        <p:spPr>
          <a:xfrm flipH="1">
            <a:off x="4311396" y="3596640"/>
            <a:ext cx="1263396" cy="830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stCxn id="4" idx="3"/>
            <a:endCxn id="5" idx="0"/>
          </p:cNvCxnSpPr>
          <p:nvPr/>
        </p:nvCxnSpPr>
        <p:spPr>
          <a:xfrm>
            <a:off x="2910840" y="3596640"/>
            <a:ext cx="1400556" cy="830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313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Вариант </a:t>
            </a:r>
            <a:r>
              <a:rPr lang="en-US" dirty="0"/>
              <a:t>3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261872" y="3200400"/>
            <a:ext cx="1648968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Sense </a:t>
            </a:r>
            <a:r>
              <a:rPr lang="ru-RU" b="1" dirty="0"/>
              <a:t>3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486912" y="4389120"/>
            <a:ext cx="1648968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Sense 4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574792" y="3200400"/>
            <a:ext cx="1648968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Sense 2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486912" y="2202021"/>
            <a:ext cx="1648968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Sense </a:t>
            </a:r>
            <a:r>
              <a:rPr lang="ru-RU" b="1" dirty="0"/>
              <a:t>1</a:t>
            </a:r>
          </a:p>
        </p:txBody>
      </p:sp>
      <p:cxnSp>
        <p:nvCxnSpPr>
          <p:cNvPr id="9" name="Прямая соединительная линия 8"/>
          <p:cNvCxnSpPr>
            <a:stCxn id="4" idx="3"/>
            <a:endCxn id="7" idx="2"/>
          </p:cNvCxnSpPr>
          <p:nvPr/>
        </p:nvCxnSpPr>
        <p:spPr>
          <a:xfrm flipV="1">
            <a:off x="2910840" y="2994501"/>
            <a:ext cx="1400556" cy="602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>
            <a:stCxn id="7" idx="2"/>
            <a:endCxn id="6" idx="1"/>
          </p:cNvCxnSpPr>
          <p:nvPr/>
        </p:nvCxnSpPr>
        <p:spPr>
          <a:xfrm>
            <a:off x="4311396" y="2994501"/>
            <a:ext cx="1263396" cy="602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>
            <a:stCxn id="6" idx="1"/>
            <a:endCxn id="5" idx="0"/>
          </p:cNvCxnSpPr>
          <p:nvPr/>
        </p:nvCxnSpPr>
        <p:spPr>
          <a:xfrm flipH="1">
            <a:off x="4311396" y="3596640"/>
            <a:ext cx="1263396" cy="792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stCxn id="7" idx="2"/>
            <a:endCxn id="5" idx="0"/>
          </p:cNvCxnSpPr>
          <p:nvPr/>
        </p:nvCxnSpPr>
        <p:spPr>
          <a:xfrm>
            <a:off x="4311396" y="2994501"/>
            <a:ext cx="0" cy="1394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156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правильного ответа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Одни и те же данные могут описываться картами разных конфигураций</a:t>
            </a:r>
          </a:p>
          <a:p>
            <a:r>
              <a:rPr lang="ru-RU" sz="2800" dirty="0"/>
              <a:t>При расширении выборки конфигурация может уточняться</a:t>
            </a:r>
          </a:p>
          <a:p>
            <a:r>
              <a:rPr lang="ru-RU" sz="2800" dirty="0"/>
              <a:t>По каким критериям выбирать, если вариантов несколько?</a:t>
            </a:r>
          </a:p>
          <a:p>
            <a:pPr marL="0" indent="0">
              <a:buNone/>
            </a:pPr>
            <a:r>
              <a:rPr lang="ru-RU" sz="2800" dirty="0"/>
              <a:t>(например, количество и частотность связей)</a:t>
            </a:r>
          </a:p>
        </p:txBody>
      </p:sp>
    </p:spTree>
    <p:extLst>
      <p:ext uri="{BB962C8B-B14F-4D97-AF65-F5344CB8AC3E}">
        <p14:creationId xmlns:p14="http://schemas.microsoft.com/office/powerpoint/2010/main" val="2331522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1392" y="253017"/>
            <a:ext cx="9692640" cy="1428929"/>
          </a:xfrm>
        </p:spPr>
        <p:txBody>
          <a:bodyPr/>
          <a:lstStyle/>
          <a:p>
            <a:r>
              <a:rPr lang="ru-RU" dirty="0"/>
              <a:t>Проблема комбинаций и импликаций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37844" y="1902609"/>
            <a:ext cx="9293352" cy="4351337"/>
          </a:xfrm>
        </p:spPr>
        <p:txBody>
          <a:bodyPr>
            <a:normAutofit/>
          </a:bodyPr>
          <a:lstStyle/>
          <a:p>
            <a:r>
              <a:rPr lang="ru-RU" sz="2800" dirty="0"/>
              <a:t>Традиционные </a:t>
            </a:r>
            <a:r>
              <a:rPr lang="ru-RU" sz="2800" dirty="0" err="1"/>
              <a:t>графовые</a:t>
            </a:r>
            <a:r>
              <a:rPr lang="ru-RU" sz="2800" dirty="0"/>
              <a:t> карты не иллюстрируют частотность разных комбинаций</a:t>
            </a:r>
          </a:p>
          <a:p>
            <a:r>
              <a:rPr lang="ru-RU" sz="2800" dirty="0"/>
              <a:t>Частично эту проблему решает взвешенный граф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203704" y="4680416"/>
            <a:ext cx="1648968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Sense 1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428744" y="5869136"/>
            <a:ext cx="1648968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Sense 4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516624" y="4680416"/>
            <a:ext cx="1648968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Sense 2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428744" y="3682037"/>
            <a:ext cx="1648968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Sense 3</a:t>
            </a:r>
            <a:endParaRPr lang="ru-RU" b="1" dirty="0"/>
          </a:p>
        </p:txBody>
      </p:sp>
      <p:cxnSp>
        <p:nvCxnSpPr>
          <p:cNvPr id="8" name="Прямая соединительная линия 7"/>
          <p:cNvCxnSpPr>
            <a:stCxn id="4" idx="3"/>
            <a:endCxn id="7" idx="2"/>
          </p:cNvCxnSpPr>
          <p:nvPr/>
        </p:nvCxnSpPr>
        <p:spPr>
          <a:xfrm flipV="1">
            <a:off x="3852672" y="4474517"/>
            <a:ext cx="1400556" cy="602139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>
            <a:stCxn id="7" idx="2"/>
            <a:endCxn id="6" idx="1"/>
          </p:cNvCxnSpPr>
          <p:nvPr/>
        </p:nvCxnSpPr>
        <p:spPr>
          <a:xfrm>
            <a:off x="5253228" y="4474517"/>
            <a:ext cx="1263396" cy="602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>
            <a:stCxn id="6" idx="1"/>
            <a:endCxn id="5" idx="0"/>
          </p:cNvCxnSpPr>
          <p:nvPr/>
        </p:nvCxnSpPr>
        <p:spPr>
          <a:xfrm flipH="1">
            <a:off x="5253228" y="5076656"/>
            <a:ext cx="1263396" cy="7924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>
            <a:stCxn id="4" idx="3"/>
            <a:endCxn id="5" idx="0"/>
          </p:cNvCxnSpPr>
          <p:nvPr/>
        </p:nvCxnSpPr>
        <p:spPr>
          <a:xfrm>
            <a:off x="3852672" y="5076656"/>
            <a:ext cx="1400556" cy="7924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834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комбинаций и импликаций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Почему взвешенный граф решает проблему только частично?</a:t>
            </a:r>
          </a:p>
          <a:p>
            <a:r>
              <a:rPr lang="ru-RU" sz="2800" dirty="0"/>
              <a:t>Возможны комбинации, включающие больше двух элементов</a:t>
            </a:r>
          </a:p>
          <a:p>
            <a:r>
              <a:rPr lang="ru-RU" sz="2800" dirty="0"/>
              <a:t>Связи могут быть не только между отдельными значениями, но и между группами значений</a:t>
            </a:r>
          </a:p>
          <a:p>
            <a:r>
              <a:rPr lang="ru-RU" sz="2800" dirty="0"/>
              <a:t>Связи могут быть несимметричными</a:t>
            </a:r>
          </a:p>
        </p:txBody>
      </p:sp>
    </p:spTree>
    <p:extLst>
      <p:ext uri="{BB962C8B-B14F-4D97-AF65-F5344CB8AC3E}">
        <p14:creationId xmlns:p14="http://schemas.microsoft.com/office/powerpoint/2010/main" val="3972309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2480" y="399553"/>
            <a:ext cx="10268712" cy="1033007"/>
          </a:xfrm>
        </p:spPr>
        <p:txBody>
          <a:bodyPr>
            <a:normAutofit fontScale="90000"/>
          </a:bodyPr>
          <a:lstStyle/>
          <a:p>
            <a:r>
              <a:rPr lang="en-US" dirty="0"/>
              <a:t>Inferring implications in semantic maps (Zeng, Xiao 2020)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err="1"/>
              <a:t>Apriori</a:t>
            </a:r>
            <a:r>
              <a:rPr lang="en-US" sz="2800" b="1" dirty="0"/>
              <a:t> algorithm</a:t>
            </a:r>
          </a:p>
          <a:p>
            <a:r>
              <a:rPr lang="ru-RU" sz="2800" dirty="0"/>
              <a:t>Алгоритм поиска ассоциативных правил</a:t>
            </a:r>
          </a:p>
          <a:p>
            <a:r>
              <a:rPr lang="ru-RU" sz="2800" dirty="0"/>
              <a:t>Самое распространенное применение – </a:t>
            </a:r>
            <a:r>
              <a:rPr lang="en-US" sz="2800" dirty="0"/>
              <a:t>market basket analysis </a:t>
            </a:r>
            <a:r>
              <a:rPr lang="ru-RU" sz="2800" dirty="0"/>
              <a:t>(какие товары часто берут вместе?)</a:t>
            </a:r>
          </a:p>
          <a:p>
            <a:r>
              <a:rPr lang="ru-RU" sz="2800" dirty="0"/>
              <a:t>В приложении к задаче семантических карт: какие значения чаще объединяются (выражаются одним лингвистическим средством)</a:t>
            </a:r>
          </a:p>
        </p:txBody>
      </p:sp>
    </p:spTree>
    <p:extLst>
      <p:ext uri="{BB962C8B-B14F-4D97-AF65-F5344CB8AC3E}">
        <p14:creationId xmlns:p14="http://schemas.microsoft.com/office/powerpoint/2010/main" val="3561034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Apriori</a:t>
            </a:r>
            <a:r>
              <a:rPr lang="en-US" dirty="0"/>
              <a:t> algorithm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= {i</a:t>
            </a:r>
            <a:r>
              <a:rPr lang="en-US" baseline="-25000" dirty="0"/>
              <a:t>1</a:t>
            </a:r>
            <a:r>
              <a:rPr lang="en-US" dirty="0"/>
              <a:t>, i</a:t>
            </a:r>
            <a:r>
              <a:rPr lang="en-US" baseline="-25000" dirty="0"/>
              <a:t>2</a:t>
            </a:r>
            <a:r>
              <a:rPr lang="en-US" dirty="0"/>
              <a:t>, i</a:t>
            </a:r>
            <a:r>
              <a:rPr lang="en-US" baseline="-25000" dirty="0"/>
              <a:t>3</a:t>
            </a:r>
            <a:r>
              <a:rPr lang="en-US" dirty="0"/>
              <a:t>, …, i</a:t>
            </a:r>
            <a:r>
              <a:rPr lang="en-US" baseline="-25000" dirty="0"/>
              <a:t>n</a:t>
            </a:r>
            <a:r>
              <a:rPr lang="en-US" dirty="0"/>
              <a:t>} – </a:t>
            </a:r>
            <a:r>
              <a:rPr lang="ru-RU" dirty="0"/>
              <a:t>все узлы карты</a:t>
            </a:r>
          </a:p>
          <a:p>
            <a:r>
              <a:rPr lang="en-US" dirty="0"/>
              <a:t>X, Y – </a:t>
            </a:r>
            <a:r>
              <a:rPr lang="ru-RU" dirty="0"/>
              <a:t>подмножества </a:t>
            </a:r>
            <a:r>
              <a:rPr lang="en-US" dirty="0"/>
              <a:t>I </a:t>
            </a:r>
            <a:r>
              <a:rPr lang="ru-RU" dirty="0"/>
              <a:t>(</a:t>
            </a:r>
            <a:r>
              <a:rPr lang="en-US" dirty="0"/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∩Y = Ø</a:t>
            </a:r>
            <a:r>
              <a:rPr lang="ru-RU" dirty="0"/>
              <a:t>)</a:t>
            </a:r>
            <a:endParaRPr lang="en-US" dirty="0"/>
          </a:p>
          <a:p>
            <a:r>
              <a:rPr lang="en-US" dirty="0"/>
              <a:t>T = {t</a:t>
            </a:r>
            <a:r>
              <a:rPr lang="en-US" baseline="-25000" dirty="0"/>
              <a:t>1</a:t>
            </a:r>
            <a:r>
              <a:rPr lang="en-US" dirty="0"/>
              <a:t>, t</a:t>
            </a:r>
            <a:r>
              <a:rPr lang="en-US" baseline="-25000" dirty="0"/>
              <a:t>2</a:t>
            </a:r>
            <a:r>
              <a:rPr lang="en-US" dirty="0"/>
              <a:t>, t</a:t>
            </a:r>
            <a:r>
              <a:rPr lang="en-US" baseline="-25000" dirty="0"/>
              <a:t>3</a:t>
            </a:r>
            <a:r>
              <a:rPr lang="en-US" dirty="0"/>
              <a:t>, …, t</a:t>
            </a:r>
            <a:r>
              <a:rPr lang="en-US" baseline="-25000" dirty="0"/>
              <a:t>m</a:t>
            </a:r>
            <a:r>
              <a:rPr lang="en-US" dirty="0"/>
              <a:t>} – </a:t>
            </a:r>
            <a:r>
              <a:rPr lang="ru-RU" dirty="0"/>
              <a:t>набор «транзакций», т.е. лингвистических единиц, по-разному объединяющих узлы карты в группы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3600608"/>
            <a:ext cx="3167777" cy="80772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4408328"/>
            <a:ext cx="4158278" cy="107807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5532120"/>
            <a:ext cx="7059168" cy="9937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62240" y="3747570"/>
            <a:ext cx="3962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поиск частотных комбинаций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9552" y="4747309"/>
            <a:ext cx="3962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ассоциативные правила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6592" y="5486400"/>
            <a:ext cx="2621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</a:t>
            </a:r>
            <a:r>
              <a:rPr lang="ru-RU" dirty="0"/>
              <a:t>оказывает позитивный эффект на </a:t>
            </a:r>
            <a:r>
              <a:rPr lang="en-US" dirty="0"/>
              <a:t>Y, </a:t>
            </a:r>
            <a:r>
              <a:rPr lang="ru-RU" dirty="0"/>
              <a:t>если </a:t>
            </a:r>
            <a:r>
              <a:rPr lang="en-US" dirty="0"/>
              <a:t>Lift &gt; 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8023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5152" y="323353"/>
            <a:ext cx="9692640" cy="834887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Пример:</a:t>
            </a:r>
            <a:br>
              <a:rPr lang="ru-RU" dirty="0"/>
            </a:br>
            <a:r>
              <a:rPr lang="ru-RU" dirty="0"/>
              <a:t>Типология личных показателей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85672" y="1402080"/>
            <a:ext cx="8595360" cy="43513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u="sng" dirty="0"/>
              <a:t>Примитивы (минимальные значения):</a:t>
            </a:r>
          </a:p>
          <a:p>
            <a:pPr marL="0" indent="0">
              <a:buNone/>
            </a:pPr>
            <a:r>
              <a:rPr lang="ru-RU" sz="2400" dirty="0"/>
              <a:t>1 – говорящий</a:t>
            </a:r>
          </a:p>
          <a:p>
            <a:pPr marL="0" indent="0">
              <a:buNone/>
            </a:pPr>
            <a:r>
              <a:rPr lang="ru-RU" sz="2400" dirty="0"/>
              <a:t>2 – слушающий</a:t>
            </a:r>
          </a:p>
          <a:p>
            <a:pPr marL="0" indent="0">
              <a:buNone/>
            </a:pPr>
            <a:r>
              <a:rPr lang="ru-RU" sz="2400" dirty="0"/>
              <a:t>3 – третье лицо</a:t>
            </a:r>
          </a:p>
          <a:p>
            <a:pPr marL="0" indent="0">
              <a:buNone/>
            </a:pPr>
            <a:r>
              <a:rPr lang="ru-RU" sz="2400" dirty="0"/>
              <a:t>12 = говорящий + слушающий</a:t>
            </a:r>
          </a:p>
          <a:p>
            <a:pPr marL="0" indent="0">
              <a:buNone/>
            </a:pPr>
            <a:r>
              <a:rPr lang="ru-RU" sz="2400" dirty="0"/>
              <a:t>123 = говорящий + слушающий + другие</a:t>
            </a:r>
          </a:p>
          <a:p>
            <a:pPr marL="0" indent="0">
              <a:buNone/>
            </a:pPr>
            <a:r>
              <a:rPr lang="ru-RU" sz="2400" dirty="0"/>
              <a:t>13 = говорящий + другие</a:t>
            </a:r>
          </a:p>
          <a:p>
            <a:pPr marL="0" indent="0">
              <a:buNone/>
            </a:pPr>
            <a:r>
              <a:rPr lang="ru-RU" sz="2400" dirty="0"/>
              <a:t>23 = слушающий + другие</a:t>
            </a:r>
          </a:p>
          <a:p>
            <a:pPr marL="0" indent="0">
              <a:buNone/>
            </a:pPr>
            <a:r>
              <a:rPr lang="ru-RU" sz="2400" dirty="0"/>
              <a:t>33 = другие</a:t>
            </a:r>
          </a:p>
        </p:txBody>
      </p:sp>
    </p:spTree>
    <p:extLst>
      <p:ext uri="{BB962C8B-B14F-4D97-AF65-F5344CB8AC3E}">
        <p14:creationId xmlns:p14="http://schemas.microsoft.com/office/powerpoint/2010/main" val="18659007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5632" y="322340"/>
            <a:ext cx="9692640" cy="834887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Пример:</a:t>
            </a:r>
            <a:br>
              <a:rPr lang="ru-RU" dirty="0"/>
            </a:br>
            <a:r>
              <a:rPr lang="ru-RU" dirty="0"/>
              <a:t>Типология личных показателей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15" y="1892617"/>
            <a:ext cx="3213538" cy="30451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1872" y="4815840"/>
            <a:ext cx="2587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Семантическая карта (</a:t>
            </a:r>
            <a:r>
              <a:rPr lang="en-US" dirty="0" err="1"/>
              <a:t>Cysouw</a:t>
            </a:r>
            <a:r>
              <a:rPr lang="en-US" dirty="0"/>
              <a:t> 2007</a:t>
            </a:r>
            <a:r>
              <a:rPr lang="ru-RU" dirty="0"/>
              <a:t>)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065" y="1364172"/>
            <a:ext cx="5783208" cy="49299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71884" y="6318185"/>
            <a:ext cx="506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Частотность объединений </a:t>
            </a:r>
            <a:r>
              <a:rPr lang="en-US" dirty="0"/>
              <a:t>(Zeng, Xiao 2020)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06003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926327"/>
          </a:xfrm>
        </p:spPr>
        <p:txBody>
          <a:bodyPr/>
          <a:lstStyle/>
          <a:p>
            <a:r>
              <a:rPr lang="ru-RU" dirty="0"/>
              <a:t>Несимметричные импликации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37032" y="1386840"/>
            <a:ext cx="10317480" cy="5074920"/>
          </a:xfrm>
        </p:spPr>
        <p:txBody>
          <a:bodyPr>
            <a:normAutofit fontScale="77500" lnSpcReduction="20000"/>
          </a:bodyPr>
          <a:lstStyle/>
          <a:p>
            <a:r>
              <a:rPr lang="ru-RU" sz="3000" dirty="0"/>
              <a:t>Импликация: если единица Х может выражать значение 1, то велика вероятность, что она выражает и значение 2</a:t>
            </a:r>
            <a:endParaRPr lang="en-US" sz="3000" dirty="0"/>
          </a:p>
          <a:p>
            <a:r>
              <a:rPr lang="ru-RU" sz="3000" dirty="0"/>
              <a:t>Направленность (и надежность) импликации измеряется параметром </a:t>
            </a:r>
            <a:r>
              <a:rPr lang="en-US" sz="3000" dirty="0"/>
              <a:t>Confidence</a:t>
            </a:r>
            <a:endParaRPr lang="ru-RU" sz="3000" dirty="0"/>
          </a:p>
          <a:p>
            <a:r>
              <a:rPr lang="ru-RU" sz="3000" dirty="0"/>
              <a:t>Некоторые импликации для </a:t>
            </a:r>
            <a:r>
              <a:rPr lang="en-US" sz="3000" dirty="0"/>
              <a:t>person marking:</a:t>
            </a:r>
          </a:p>
          <a:p>
            <a:pPr marL="0" indent="0">
              <a:buNone/>
            </a:pPr>
            <a:r>
              <a:rPr lang="en-US" sz="3000" dirty="0"/>
              <a:t>{3} =&gt; {33} </a:t>
            </a:r>
            <a:r>
              <a:rPr lang="ru-RU" sz="3000" dirty="0"/>
              <a:t>(наоборот – слабее)</a:t>
            </a:r>
          </a:p>
          <a:p>
            <a:pPr marL="0" indent="0">
              <a:buNone/>
            </a:pPr>
            <a:r>
              <a:rPr lang="en-US" sz="3000" dirty="0"/>
              <a:t>{2} =&gt; {23} </a:t>
            </a:r>
            <a:r>
              <a:rPr lang="ru-RU" sz="3000" dirty="0"/>
              <a:t>(наоборот – слабее)</a:t>
            </a:r>
            <a:endParaRPr lang="en-US" sz="3000" dirty="0"/>
          </a:p>
          <a:p>
            <a:pPr marL="0" indent="0">
              <a:buNone/>
            </a:pPr>
            <a:r>
              <a:rPr lang="en-US" sz="3000" dirty="0"/>
              <a:t>{1} =&gt; {13} </a:t>
            </a:r>
            <a:r>
              <a:rPr lang="ru-RU" sz="3000" dirty="0"/>
              <a:t>(наоборот – слабее)</a:t>
            </a:r>
          </a:p>
          <a:p>
            <a:pPr marL="0" indent="0">
              <a:buNone/>
            </a:pPr>
            <a:r>
              <a:rPr lang="ru-RU" sz="3000" dirty="0"/>
              <a:t>От единственного числа к множественному</a:t>
            </a:r>
          </a:p>
          <a:p>
            <a:pPr marL="0" indent="0">
              <a:buNone/>
            </a:pPr>
            <a:r>
              <a:rPr lang="ru-RU" sz="3000" dirty="0"/>
              <a:t>Отношения, которые не видны на традиционной карте</a:t>
            </a:r>
          </a:p>
          <a:p>
            <a:pPr marL="0" indent="0">
              <a:buNone/>
            </a:pPr>
            <a:r>
              <a:rPr lang="ru-RU" sz="1900" dirty="0"/>
              <a:t>Имплементация алгоритма </a:t>
            </a:r>
            <a:r>
              <a:rPr lang="en-US" sz="1900" dirty="0" err="1"/>
              <a:t>Apriori</a:t>
            </a:r>
            <a:r>
              <a:rPr lang="ru-RU" sz="1900" dirty="0"/>
              <a:t> в </a:t>
            </a:r>
            <a:r>
              <a:rPr lang="en-US" sz="1900" dirty="0"/>
              <a:t>python:</a:t>
            </a:r>
          </a:p>
          <a:p>
            <a:pPr marL="0" indent="0">
              <a:buNone/>
            </a:pPr>
            <a:r>
              <a:rPr lang="en-US" sz="1900" dirty="0"/>
              <a:t>https://pypi.org/project/efficient-apriori/</a:t>
            </a:r>
            <a:endParaRPr lang="ru-RU" sz="1900" dirty="0"/>
          </a:p>
        </p:txBody>
      </p:sp>
    </p:spTree>
    <p:extLst>
      <p:ext uri="{BB962C8B-B14F-4D97-AF65-F5344CB8AC3E}">
        <p14:creationId xmlns:p14="http://schemas.microsoft.com/office/powerpoint/2010/main" val="26539953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987287"/>
          </a:xfrm>
        </p:spPr>
        <p:txBody>
          <a:bodyPr/>
          <a:lstStyle/>
          <a:p>
            <a:r>
              <a:rPr lang="ru-RU" dirty="0"/>
              <a:t>Проблема связей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Несимметричные импликации (см. выше)</a:t>
            </a:r>
          </a:p>
          <a:p>
            <a:r>
              <a:rPr lang="ru-RU" sz="2800" dirty="0"/>
              <a:t>Диахрония (сужение – расширение значения)</a:t>
            </a:r>
          </a:p>
          <a:p>
            <a:r>
              <a:rPr lang="ru-RU" sz="2800" dirty="0"/>
              <a:t>Семантические сдвиги</a:t>
            </a:r>
          </a:p>
        </p:txBody>
      </p:sp>
    </p:spTree>
    <p:extLst>
      <p:ext uri="{BB962C8B-B14F-4D97-AF65-F5344CB8AC3E}">
        <p14:creationId xmlns:p14="http://schemas.microsoft.com/office/powerpoint/2010/main" val="41708316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" y="0"/>
            <a:ext cx="9976650" cy="6858000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403080" y="6309360"/>
            <a:ext cx="2014728" cy="37369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(Fran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çois 2008)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7728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8512" y="460513"/>
            <a:ext cx="9692640" cy="606287"/>
          </a:xfrm>
        </p:spPr>
        <p:txBody>
          <a:bodyPr>
            <a:normAutofit fontScale="90000"/>
          </a:bodyPr>
          <a:lstStyle/>
          <a:p>
            <a:r>
              <a:rPr lang="en-US" dirty="0"/>
              <a:t>“Dynamic” semantic map</a:t>
            </a:r>
            <a:br>
              <a:rPr lang="en-US" dirty="0"/>
            </a:br>
            <a:r>
              <a:rPr lang="en-US" sz="2200" dirty="0"/>
              <a:t>(</a:t>
            </a:r>
            <a:r>
              <a:rPr lang="en-US" sz="2200" dirty="0" err="1"/>
              <a:t>Georgakopoulos</a:t>
            </a:r>
            <a:r>
              <a:rPr lang="en-US" sz="2200" dirty="0"/>
              <a:t>, Polis </a:t>
            </a:r>
            <a:r>
              <a:rPr lang="ru-RU" sz="2200" dirty="0"/>
              <a:t>2021</a:t>
            </a:r>
            <a:r>
              <a:rPr lang="en-US" sz="2200" dirty="0"/>
              <a:t>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320"/>
            <a:ext cx="11214459" cy="41452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1960" y="5562599"/>
            <a:ext cx="9418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Семантическое поле ВРЕМЯ (учтены диахронические данные и разные типы семантических сдвигов)</a:t>
            </a:r>
          </a:p>
        </p:txBody>
      </p:sp>
    </p:spTree>
    <p:extLst>
      <p:ext uri="{BB962C8B-B14F-4D97-AF65-F5344CB8AC3E}">
        <p14:creationId xmlns:p14="http://schemas.microsoft.com/office/powerpoint/2010/main" val="1036099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dirty="0"/>
              <a:t>Семантические карты «второго поколения»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3488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5632" y="318585"/>
            <a:ext cx="9692640" cy="1428929"/>
          </a:xfrm>
        </p:spPr>
        <p:txBody>
          <a:bodyPr/>
          <a:lstStyle/>
          <a:p>
            <a:r>
              <a:rPr lang="ru-RU" dirty="0"/>
              <a:t>Краткое содержание предыдущей серии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84" y="1956107"/>
            <a:ext cx="10698990" cy="2849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4784" y="5014580"/>
            <a:ext cx="7849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Haspelmath</a:t>
            </a:r>
            <a:r>
              <a:rPr lang="en-US" sz="2400" dirty="0"/>
              <a:t> 1997, </a:t>
            </a:r>
            <a:r>
              <a:rPr lang="ru-RU" sz="2400" dirty="0"/>
              <a:t>неопределенные местоимения</a:t>
            </a:r>
          </a:p>
        </p:txBody>
      </p:sp>
    </p:spTree>
    <p:extLst>
      <p:ext uri="{BB962C8B-B14F-4D97-AF65-F5344CB8AC3E}">
        <p14:creationId xmlns:p14="http://schemas.microsoft.com/office/powerpoint/2010/main" val="23846820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789167"/>
          </a:xfrm>
        </p:spPr>
        <p:txBody>
          <a:bodyPr/>
          <a:lstStyle/>
          <a:p>
            <a:r>
              <a:rPr lang="ru-RU" dirty="0"/>
              <a:t>Непрерывные карты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" y="1051560"/>
            <a:ext cx="6492240" cy="57821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99960" y="6310492"/>
            <a:ext cx="3855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Croft &amp; Poole 2008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28629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789167"/>
          </a:xfrm>
        </p:spPr>
        <p:txBody>
          <a:bodyPr/>
          <a:lstStyle/>
          <a:p>
            <a:r>
              <a:rPr lang="ru-RU" dirty="0"/>
              <a:t>Непрерывные карты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9080" y="6310492"/>
            <a:ext cx="3855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Croft &amp; Poole 2008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624" y="1012033"/>
            <a:ext cx="6598880" cy="582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483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789167"/>
          </a:xfrm>
        </p:spPr>
        <p:txBody>
          <a:bodyPr/>
          <a:lstStyle/>
          <a:p>
            <a:r>
              <a:rPr lang="ru-RU" dirty="0"/>
              <a:t>Непрерывные карты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9080" y="6310492"/>
            <a:ext cx="3855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Croft &amp; Poole 2008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533" y="1051560"/>
            <a:ext cx="6524947" cy="578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2454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789167"/>
          </a:xfrm>
        </p:spPr>
        <p:txBody>
          <a:bodyPr/>
          <a:lstStyle/>
          <a:p>
            <a:r>
              <a:rPr lang="ru-RU" dirty="0"/>
              <a:t>Непрерывные карты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9080" y="6310492"/>
            <a:ext cx="3855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Croft &amp; Poole 2008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998064"/>
            <a:ext cx="6431280" cy="585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988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4326" y="112268"/>
            <a:ext cx="9692640" cy="1102383"/>
          </a:xfrm>
        </p:spPr>
        <p:txBody>
          <a:bodyPr>
            <a:normAutofit fontScale="90000"/>
          </a:bodyPr>
          <a:lstStyle/>
          <a:p>
            <a:r>
              <a:rPr lang="ru-RU" dirty="0"/>
              <a:t>Непрерывные карты:</a:t>
            </a:r>
            <a:br>
              <a:rPr lang="ru-RU" dirty="0"/>
            </a:br>
            <a:r>
              <a:rPr lang="ru-RU" dirty="0"/>
              <a:t>многомерное </a:t>
            </a:r>
            <a:r>
              <a:rPr lang="ru-RU" dirty="0" err="1"/>
              <a:t>шкалирование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070212" y="1528550"/>
          <a:ext cx="9059594" cy="4141732"/>
        </p:xfrm>
        <a:graphic>
          <a:graphicData uri="http://schemas.openxmlformats.org/drawingml/2006/table">
            <a:tbl>
              <a:tblPr/>
              <a:tblGrid>
                <a:gridCol w="1999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4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2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1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60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86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020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1" marR="7621" marT="76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русский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китайский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венгерский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французский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сербский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2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1" marR="7621" marT="76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острый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err="1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jianrui</a:t>
                      </a:r>
                      <a:endParaRPr lang="en-US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err="1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szuros</a:t>
                      </a:r>
                      <a:endParaRPr lang="en-US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err="1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pointu</a:t>
                      </a:r>
                      <a:endParaRPr lang="en-US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err="1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tranchant</a:t>
                      </a:r>
                      <a:endParaRPr lang="en-US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err="1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oštar</a:t>
                      </a:r>
                      <a:endParaRPr lang="en-US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en-US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‘</a:t>
                      </a:r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острый</a:t>
                      </a:r>
                      <a:r>
                        <a:rPr lang="ru-RU" sz="1600" b="0" i="0" u="none" strike="noStrike" baseline="0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 нож</a:t>
                      </a:r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’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9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‘</a:t>
                      </a:r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острый</a:t>
                      </a:r>
                      <a:r>
                        <a:rPr lang="ru-RU" sz="1600" b="0" i="0" u="none" strike="noStrike" baseline="0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 меч</a:t>
                      </a:r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’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9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‘</a:t>
                      </a:r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острая</a:t>
                      </a:r>
                      <a:r>
                        <a:rPr lang="ru-RU" sz="1600" b="0" i="0" u="none" strike="noStrike" baseline="0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 сабля</a:t>
                      </a:r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’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9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‘</a:t>
                      </a:r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острая</a:t>
                      </a:r>
                      <a:r>
                        <a:rPr lang="ru-RU" sz="1600" b="0" i="0" u="none" strike="noStrike" baseline="0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 иголка</a:t>
                      </a:r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’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9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‘</a:t>
                      </a:r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острая</a:t>
                      </a:r>
                      <a:r>
                        <a:rPr lang="ru-RU" sz="1600" b="0" i="0" u="none" strike="noStrike" baseline="0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 стрела</a:t>
                      </a:r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’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9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‘</a:t>
                      </a:r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острый</a:t>
                      </a:r>
                      <a:r>
                        <a:rPr lang="ru-RU" sz="1600" b="0" i="0" u="none" strike="noStrike" baseline="0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 нос</a:t>
                      </a:r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’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9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‘</a:t>
                      </a:r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острый</a:t>
                      </a:r>
                      <a:r>
                        <a:rPr lang="ru-RU" sz="1600" b="0" i="0" u="none" strike="noStrike" baseline="0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 локоть</a:t>
                      </a:r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’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9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‘</a:t>
                      </a:r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острый</a:t>
                      </a:r>
                      <a:r>
                        <a:rPr lang="ru-RU" sz="1600" b="0" i="0" u="none" strike="noStrike" baseline="0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 клюв</a:t>
                      </a:r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’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99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‘</a:t>
                      </a:r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колючий</a:t>
                      </a:r>
                      <a:r>
                        <a:rPr lang="ru-RU" sz="1600" b="0" i="0" u="none" strike="noStrike" baseline="0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 куст</a:t>
                      </a:r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’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99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‘</a:t>
                      </a:r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колючая</a:t>
                      </a:r>
                      <a:r>
                        <a:rPr lang="ru-RU" sz="1600" b="0" i="0" u="none" strike="noStrike" baseline="0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 борода</a:t>
                      </a:r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’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‘</a:t>
                      </a:r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колючее</a:t>
                      </a:r>
                      <a:r>
                        <a:rPr lang="ru-RU" sz="1600" b="0" i="0" u="none" strike="noStrike" baseline="0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 одеяло</a:t>
                      </a:r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’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2955" y="5882185"/>
            <a:ext cx="10890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Каждая строка – вектор в многомерном «типологическом» пространстве</a:t>
            </a:r>
          </a:p>
        </p:txBody>
      </p:sp>
    </p:spTree>
    <p:extLst>
      <p:ext uri="{BB962C8B-B14F-4D97-AF65-F5344CB8AC3E}">
        <p14:creationId xmlns:p14="http://schemas.microsoft.com/office/powerpoint/2010/main" val="24277328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7472" y="112268"/>
            <a:ext cx="9692640" cy="1131019"/>
          </a:xfrm>
        </p:spPr>
        <p:txBody>
          <a:bodyPr>
            <a:normAutofit fontScale="90000"/>
          </a:bodyPr>
          <a:lstStyle/>
          <a:p>
            <a:r>
              <a:rPr lang="ru-RU" dirty="0"/>
              <a:t>Непрерывные карты:</a:t>
            </a:r>
            <a:br>
              <a:rPr lang="ru-RU" dirty="0"/>
            </a:br>
            <a:r>
              <a:rPr lang="ru-RU" dirty="0"/>
              <a:t>многомерное </a:t>
            </a:r>
            <a:r>
              <a:rPr lang="ru-RU" dirty="0" err="1"/>
              <a:t>шкалирование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3950" y="3178108"/>
            <a:ext cx="2996229" cy="1434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Проекция на плоскость: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426" y="1338821"/>
            <a:ext cx="7502591" cy="53039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89361" y="2743199"/>
            <a:ext cx="1910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Режущие инструменты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2126" y="5772498"/>
            <a:ext cx="1910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Колючие объекты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1439" y="1776482"/>
            <a:ext cx="1910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Колющие инструменты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8983" y="3433621"/>
            <a:ext cx="1910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Объекты вытянутой формы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2238233" y="4735773"/>
            <a:ext cx="8361437" cy="136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 flipV="1">
            <a:off x="6005015" y="887104"/>
            <a:ext cx="3889612" cy="59708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 flipV="1">
            <a:off x="3152633" y="487056"/>
            <a:ext cx="4194366" cy="62512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 flipH="1" flipV="1">
            <a:off x="2670254" y="1478448"/>
            <a:ext cx="7772559" cy="50247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2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62393"/>
            <a:ext cx="9692640" cy="1428929"/>
          </a:xfrm>
        </p:spPr>
        <p:txBody>
          <a:bodyPr/>
          <a:lstStyle/>
          <a:p>
            <a:r>
              <a:rPr lang="ru-RU" dirty="0"/>
              <a:t>Непрерывные карты: достоинства и недостатки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1978925"/>
            <a:ext cx="10344912" cy="420121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sz="3900" b="1" dirty="0">
                <a:solidFill>
                  <a:srgbClr val="00B050"/>
                </a:solidFill>
              </a:rPr>
              <a:t>+</a:t>
            </a:r>
            <a:r>
              <a:rPr lang="ru-RU" sz="3000" dirty="0"/>
              <a:t> Автоматически =</a:t>
            </a:r>
            <a:r>
              <a:rPr lang="en-US" sz="3000" dirty="0"/>
              <a:t>&gt; </a:t>
            </a:r>
            <a:r>
              <a:rPr lang="ru-RU" sz="3000" dirty="0"/>
              <a:t>быстро и объективно</a:t>
            </a:r>
          </a:p>
          <a:p>
            <a:pPr marL="0" indent="0">
              <a:buNone/>
            </a:pPr>
            <a:r>
              <a:rPr lang="ru-RU" sz="3900" b="1" dirty="0">
                <a:solidFill>
                  <a:srgbClr val="00B050"/>
                </a:solidFill>
              </a:rPr>
              <a:t>+</a:t>
            </a:r>
            <a:r>
              <a:rPr lang="ru-RU" sz="3000" dirty="0"/>
              <a:t> Значимые расстояния =</a:t>
            </a:r>
            <a:r>
              <a:rPr lang="en-US" sz="3000" dirty="0"/>
              <a:t>&gt; </a:t>
            </a:r>
            <a:r>
              <a:rPr lang="ru-RU" sz="3000" dirty="0"/>
              <a:t>вероятности появления тех или иных комбинаций</a:t>
            </a:r>
          </a:p>
          <a:p>
            <a:pPr marL="0" indent="0">
              <a:buNone/>
            </a:pPr>
            <a:endParaRPr lang="ru-RU" sz="3000" dirty="0"/>
          </a:p>
          <a:p>
            <a:pPr marL="0" indent="0">
              <a:buNone/>
            </a:pPr>
            <a:r>
              <a:rPr lang="ru-RU" sz="4300" b="1" dirty="0">
                <a:solidFill>
                  <a:srgbClr val="FF0000"/>
                </a:solidFill>
              </a:rPr>
              <a:t>–</a:t>
            </a:r>
            <a:r>
              <a:rPr lang="ru-RU" sz="3000" dirty="0"/>
              <a:t> Не иллюстрируют обнаруженные закономерности, а сами нуждаются в интерпретации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200" dirty="0"/>
              <a:t>Как реализовать:</a:t>
            </a:r>
          </a:p>
          <a:p>
            <a:pPr marL="0" indent="0">
              <a:buNone/>
            </a:pPr>
            <a:r>
              <a:rPr lang="en-US" sz="2200" dirty="0"/>
              <a:t>https://github.com/dashapopova/CompSem2026/blob/main/Semantic%20maps/CompSem_plot_mds.ipynb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3794120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</a:t>
            </a:r>
            <a:br>
              <a:rPr lang="en-US" dirty="0"/>
            </a:br>
            <a:r>
              <a:rPr lang="en-US" dirty="0" err="1"/>
              <a:t>W</a:t>
            </a:r>
            <a:r>
              <a:rPr lang="en-US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älchli</a:t>
            </a: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&amp; </a:t>
            </a:r>
            <a:r>
              <a:rPr lang="en-US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Cysouw</a:t>
            </a: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2013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2" y="2156346"/>
            <a:ext cx="8595360" cy="4023791"/>
          </a:xfrm>
        </p:spPr>
        <p:txBody>
          <a:bodyPr>
            <a:normAutofit/>
          </a:bodyPr>
          <a:lstStyle/>
          <a:p>
            <a:r>
              <a:rPr lang="ru-RU" sz="2400" dirty="0"/>
              <a:t>Общие глаголы движения: </a:t>
            </a:r>
            <a:r>
              <a:rPr lang="en-US" sz="2400" i="1" dirty="0"/>
              <a:t>come, go, arrive…</a:t>
            </a:r>
          </a:p>
          <a:p>
            <a:r>
              <a:rPr lang="ru-RU" sz="2400" dirty="0"/>
              <a:t>На материале параллельного корпуса: Евангелие от Марка (100 языков)</a:t>
            </a:r>
          </a:p>
          <a:p>
            <a:r>
              <a:rPr lang="ru-RU" sz="2400" dirty="0"/>
              <a:t>«Анкета»: набор контекстов, в которых встретились все стартовые английские слова (360 клауз)</a:t>
            </a:r>
          </a:p>
        </p:txBody>
      </p:sp>
    </p:spTree>
    <p:extLst>
      <p:ext uri="{BB962C8B-B14F-4D97-AF65-F5344CB8AC3E}">
        <p14:creationId xmlns:p14="http://schemas.microsoft.com/office/powerpoint/2010/main" val="4719887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262394"/>
            <a:ext cx="9692640" cy="1266156"/>
          </a:xfrm>
        </p:spPr>
        <p:txBody>
          <a:bodyPr/>
          <a:lstStyle/>
          <a:p>
            <a:r>
              <a:rPr lang="en-US" dirty="0" err="1"/>
              <a:t>W</a:t>
            </a:r>
            <a:r>
              <a:rPr lang="en-US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älchli</a:t>
            </a: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&amp; </a:t>
            </a:r>
            <a:r>
              <a:rPr lang="en-US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Cysouw</a:t>
            </a: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2013</a:t>
            </a:r>
            <a:r>
              <a:rPr lang="ru-RU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: 681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424" y="1972812"/>
            <a:ext cx="8907803" cy="396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0247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262394"/>
            <a:ext cx="9692640" cy="815780"/>
          </a:xfrm>
        </p:spPr>
        <p:txBody>
          <a:bodyPr/>
          <a:lstStyle/>
          <a:p>
            <a:r>
              <a:rPr lang="en-US" dirty="0" err="1"/>
              <a:t>W</a:t>
            </a:r>
            <a:r>
              <a:rPr lang="en-US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älchli</a:t>
            </a: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&amp; </a:t>
            </a:r>
            <a:r>
              <a:rPr lang="en-US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Cysouw</a:t>
            </a:r>
            <a:r>
              <a:rPr lang="en-US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2013</a:t>
            </a:r>
            <a:r>
              <a:rPr lang="ru-RU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: 686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233" y="1308621"/>
            <a:ext cx="6032169" cy="536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7475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Многомерное </a:t>
            </a:r>
            <a:r>
              <a:rPr lang="ru-RU" dirty="0" err="1"/>
              <a:t>шкалирование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Один из способов сокращения размерности многомерного пространства (ср. </a:t>
            </a:r>
            <a:r>
              <a:rPr lang="en-US" sz="2400" dirty="0"/>
              <a:t>PCA</a:t>
            </a:r>
            <a:r>
              <a:rPr lang="ru-RU" sz="2400" dirty="0"/>
              <a:t>)</a:t>
            </a:r>
            <a:endParaRPr lang="en-US" sz="2400" dirty="0"/>
          </a:p>
          <a:p>
            <a:r>
              <a:rPr lang="ru-RU" sz="2400" dirty="0"/>
              <a:t>Используется для отображения на плоскость и другого рода данных, не только типологических, но и, в частности, дистрибутивных</a:t>
            </a:r>
          </a:p>
          <a:p>
            <a:r>
              <a:rPr lang="ru-RU" sz="2400" dirty="0"/>
              <a:t>Будут ли сопоставимы отображения типологического и дистрибутивного пространства?</a:t>
            </a:r>
          </a:p>
        </p:txBody>
      </p:sp>
    </p:spTree>
    <p:extLst>
      <p:ext uri="{BB962C8B-B14F-4D97-AF65-F5344CB8AC3E}">
        <p14:creationId xmlns:p14="http://schemas.microsoft.com/office/powerpoint/2010/main" val="31425738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080" y="460513"/>
            <a:ext cx="11430000" cy="652007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Дистрибутивные «семантические карты»</a:t>
            </a:r>
            <a:br>
              <a:rPr lang="ru-RU" sz="3600" dirty="0"/>
            </a:br>
            <a:r>
              <a:rPr lang="ru-RU" sz="3600" dirty="0"/>
              <a:t>(</a:t>
            </a:r>
            <a:r>
              <a:rPr lang="en-US" sz="3600" dirty="0"/>
              <a:t>Lund, Burgess 1996</a:t>
            </a:r>
            <a:r>
              <a:rPr lang="ru-RU" sz="3600" dirty="0"/>
              <a:t>)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821" y="1197504"/>
            <a:ext cx="5965563" cy="552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25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689317" y="758952"/>
            <a:ext cx="9467557" cy="4041648"/>
          </a:xfrm>
        </p:spPr>
        <p:txBody>
          <a:bodyPr>
            <a:normAutofit/>
          </a:bodyPr>
          <a:lstStyle/>
          <a:p>
            <a:r>
              <a:rPr lang="ru-RU" sz="5400" dirty="0"/>
              <a:t>Анализ Формальных Понятий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33118154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261872" y="192055"/>
            <a:ext cx="9692640" cy="680141"/>
          </a:xfrm>
        </p:spPr>
        <p:txBody>
          <a:bodyPr/>
          <a:lstStyle/>
          <a:p>
            <a:r>
              <a:rPr lang="ru-RU" dirty="0"/>
              <a:t>АФП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261872" y="1041009"/>
            <a:ext cx="8595360" cy="53642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Формальный контекст </a:t>
            </a:r>
            <a:r>
              <a:rPr lang="en-US" b="1" dirty="0"/>
              <a:t>K := </a:t>
            </a:r>
            <a:r>
              <a:rPr lang="en-US" b="1" i="1" dirty="0"/>
              <a:t>(G, M, I)</a:t>
            </a:r>
          </a:p>
          <a:p>
            <a:r>
              <a:rPr lang="en-US" i="1" dirty="0"/>
              <a:t>G </a:t>
            </a:r>
            <a:r>
              <a:rPr lang="en-US" dirty="0"/>
              <a:t>– </a:t>
            </a:r>
            <a:r>
              <a:rPr lang="ru-RU" dirty="0"/>
              <a:t>множество объектов, </a:t>
            </a:r>
            <a:r>
              <a:rPr lang="en-US" i="1" dirty="0"/>
              <a:t>M</a:t>
            </a:r>
            <a:r>
              <a:rPr lang="en-US" dirty="0"/>
              <a:t> – </a:t>
            </a:r>
            <a:r>
              <a:rPr lang="ru-RU" dirty="0"/>
              <a:t>множество признаков</a:t>
            </a:r>
          </a:p>
          <a:p>
            <a:r>
              <a:rPr lang="en-US" i="1" dirty="0" err="1"/>
              <a:t>gIm</a:t>
            </a:r>
            <a:r>
              <a:rPr lang="en-US" dirty="0"/>
              <a:t> – </a:t>
            </a:r>
            <a:r>
              <a:rPr lang="ru-RU" dirty="0"/>
              <a:t>объект </a:t>
            </a:r>
            <a:r>
              <a:rPr lang="en-US" i="1" dirty="0"/>
              <a:t>g</a:t>
            </a:r>
            <a:r>
              <a:rPr lang="en-US" dirty="0"/>
              <a:t> </a:t>
            </a:r>
            <a:r>
              <a:rPr lang="ru-RU" dirty="0"/>
              <a:t>имеет признак </a:t>
            </a:r>
            <a:r>
              <a:rPr lang="en-US" i="1" dirty="0"/>
              <a:t>m</a:t>
            </a:r>
          </a:p>
          <a:p>
            <a:pPr marL="0" indent="0">
              <a:buNone/>
            </a:pPr>
            <a:r>
              <a:rPr lang="ru-RU" b="1" dirty="0"/>
              <a:t>Операторы Галуа</a:t>
            </a:r>
          </a:p>
          <a:p>
            <a:r>
              <a:rPr lang="ru-RU" dirty="0"/>
              <a:t>Для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ru-RU" dirty="0"/>
              <a:t>⊆ </a:t>
            </a:r>
            <a:r>
              <a:rPr lang="en-US" i="1" dirty="0"/>
              <a:t>G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ru-RU" dirty="0"/>
              <a:t>⊆ </a:t>
            </a:r>
            <a:r>
              <a:rPr lang="en-US" i="1" dirty="0"/>
              <a:t>M</a:t>
            </a:r>
            <a:r>
              <a:rPr lang="en-US" dirty="0"/>
              <a:t>:</a:t>
            </a:r>
          </a:p>
          <a:p>
            <a:pPr lvl="1"/>
            <a:r>
              <a:rPr lang="en-US" i="1" dirty="0"/>
              <a:t>A’ = </a:t>
            </a:r>
            <a:r>
              <a:rPr lang="en-US" dirty="0"/>
              <a:t>{m </a:t>
            </a:r>
            <a:r>
              <a:rPr lang="ru-RU" dirty="0"/>
              <a:t>∈</a:t>
            </a:r>
            <a:r>
              <a:rPr lang="en-US" dirty="0"/>
              <a:t> M | </a:t>
            </a:r>
            <a:r>
              <a:rPr lang="en-US" dirty="0" err="1"/>
              <a:t>gIm</a:t>
            </a:r>
            <a:r>
              <a:rPr lang="en-US" dirty="0"/>
              <a:t> </a:t>
            </a:r>
            <a:r>
              <a:rPr lang="ru-RU" dirty="0"/>
              <a:t>для всех </a:t>
            </a:r>
            <a:r>
              <a:rPr lang="en-US" dirty="0"/>
              <a:t>g </a:t>
            </a:r>
            <a:r>
              <a:rPr lang="ru-RU" dirty="0"/>
              <a:t>∈</a:t>
            </a:r>
            <a:r>
              <a:rPr lang="en-US" dirty="0"/>
              <a:t> A},</a:t>
            </a:r>
          </a:p>
          <a:p>
            <a:pPr lvl="1"/>
            <a:r>
              <a:rPr lang="en-US" dirty="0"/>
              <a:t>B’ = {g </a:t>
            </a:r>
            <a:r>
              <a:rPr lang="ru-RU" dirty="0"/>
              <a:t>∈</a:t>
            </a:r>
            <a:r>
              <a:rPr lang="en-US" dirty="0"/>
              <a:t> G | </a:t>
            </a:r>
            <a:r>
              <a:rPr lang="en-US" dirty="0" err="1"/>
              <a:t>gIm</a:t>
            </a:r>
            <a:r>
              <a:rPr lang="en-US" dirty="0"/>
              <a:t> </a:t>
            </a:r>
            <a:r>
              <a:rPr lang="ru-RU" dirty="0"/>
              <a:t>для всех </a:t>
            </a:r>
            <a:r>
              <a:rPr lang="en-US" dirty="0"/>
              <a:t>m </a:t>
            </a:r>
            <a:r>
              <a:rPr lang="ru-RU" dirty="0"/>
              <a:t>∈</a:t>
            </a:r>
            <a:r>
              <a:rPr lang="en-US" dirty="0"/>
              <a:t> B}.</a:t>
            </a:r>
          </a:p>
          <a:p>
            <a:pPr marL="0" indent="0">
              <a:buNone/>
            </a:pPr>
            <a:r>
              <a:rPr lang="ru-RU" b="1" dirty="0"/>
              <a:t>Формальное понятие (</a:t>
            </a:r>
            <a:r>
              <a:rPr lang="en-US" b="1" i="1" dirty="0"/>
              <a:t>A, B</a:t>
            </a:r>
            <a:r>
              <a:rPr lang="ru-RU" b="1" dirty="0"/>
              <a:t>)</a:t>
            </a:r>
            <a:endParaRPr lang="en-US" b="1" dirty="0"/>
          </a:p>
          <a:p>
            <a:r>
              <a:rPr lang="en-US" i="1" dirty="0"/>
              <a:t>A</a:t>
            </a:r>
            <a:r>
              <a:rPr lang="en-US" dirty="0"/>
              <a:t> </a:t>
            </a:r>
            <a:r>
              <a:rPr lang="ru-RU" dirty="0"/>
              <a:t>⊆ </a:t>
            </a:r>
            <a:r>
              <a:rPr lang="en-US" i="1" dirty="0"/>
              <a:t>G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 </a:t>
            </a:r>
            <a:r>
              <a:rPr lang="ru-RU" dirty="0"/>
              <a:t>⊆ </a:t>
            </a:r>
            <a:r>
              <a:rPr lang="en-US" i="1" dirty="0"/>
              <a:t>M</a:t>
            </a:r>
          </a:p>
          <a:p>
            <a:r>
              <a:rPr lang="en-US" i="1" dirty="0"/>
              <a:t>A’ = B, B’ = A</a:t>
            </a:r>
          </a:p>
          <a:p>
            <a:pPr marL="0" indent="0">
              <a:buNone/>
            </a:pPr>
            <a:r>
              <a:rPr lang="ru-RU" b="1" dirty="0"/>
              <a:t>Решетка понятий</a:t>
            </a:r>
          </a:p>
          <a:p>
            <a:pPr marL="0" indent="0">
              <a:buNone/>
            </a:pPr>
            <a:r>
              <a:rPr lang="ru-RU" dirty="0"/>
              <a:t>Понятия, упорядоченные отношением (</a:t>
            </a:r>
            <a:r>
              <a:rPr lang="en-US" dirty="0"/>
              <a:t>A</a:t>
            </a:r>
            <a:r>
              <a:rPr lang="en-US" baseline="-25000" dirty="0"/>
              <a:t>1</a:t>
            </a:r>
            <a:r>
              <a:rPr lang="en-US" dirty="0"/>
              <a:t>, B</a:t>
            </a:r>
            <a:r>
              <a:rPr lang="en-US" baseline="-25000" dirty="0"/>
              <a:t>1</a:t>
            </a:r>
            <a:r>
              <a:rPr lang="ru-RU" dirty="0"/>
              <a:t>)</a:t>
            </a:r>
            <a:r>
              <a:rPr lang="en-US" dirty="0"/>
              <a:t> ≥ (A</a:t>
            </a:r>
            <a:r>
              <a:rPr lang="en-US" baseline="-25000" dirty="0"/>
              <a:t>2</a:t>
            </a:r>
            <a:r>
              <a:rPr lang="en-US" dirty="0"/>
              <a:t>, B</a:t>
            </a:r>
            <a:r>
              <a:rPr lang="en-US" baseline="-25000" dirty="0"/>
              <a:t>2</a:t>
            </a:r>
            <a:r>
              <a:rPr lang="en-US" dirty="0"/>
              <a:t>) </a:t>
            </a:r>
            <a:r>
              <a:rPr lang="ru-RU" dirty="0"/>
              <a:t>тогда и только тогда, когда </a:t>
            </a:r>
            <a:r>
              <a:rPr lang="en-US" dirty="0"/>
              <a:t>A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ru-RU" dirty="0"/>
              <a:t>⊇</a:t>
            </a:r>
            <a:r>
              <a:rPr lang="en-US" dirty="0"/>
              <a:t> A</a:t>
            </a:r>
            <a:r>
              <a:rPr lang="en-US" baseline="-25000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3120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88342" y="1339099"/>
            <a:ext cx="5718629" cy="5274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1205601" y="332732"/>
            <a:ext cx="9692640" cy="1006367"/>
          </a:xfrm>
          <a:prstGeom prst="rect">
            <a:avLst/>
          </a:prstGeom>
        </p:spPr>
        <p:txBody>
          <a:bodyPr vert="horz" lIns="91440" tIns="27432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spc="-5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Решетки формальных понятий: пример 1 </a:t>
            </a:r>
            <a:r>
              <a:rPr lang="ru-RU" sz="2700"/>
              <a:t>(</a:t>
            </a:r>
            <a:r>
              <a:rPr lang="en-US" sz="2700"/>
              <a:t>Ganter, Obiedkov, manuscript</a:t>
            </a:r>
            <a:r>
              <a:rPr lang="ru-RU" sz="2700"/>
              <a:t>)</a:t>
            </a:r>
            <a:endParaRPr lang="ru-RU" sz="2700" dirty="0"/>
          </a:p>
        </p:txBody>
      </p:sp>
    </p:spTree>
    <p:extLst>
      <p:ext uri="{BB962C8B-B14F-4D97-AF65-F5344CB8AC3E}">
        <p14:creationId xmlns:p14="http://schemas.microsoft.com/office/powerpoint/2010/main" val="20293043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05601" y="332732"/>
            <a:ext cx="9692640" cy="1006367"/>
          </a:xfrm>
        </p:spPr>
        <p:txBody>
          <a:bodyPr>
            <a:normAutofit fontScale="90000"/>
          </a:bodyPr>
          <a:lstStyle/>
          <a:p>
            <a:r>
              <a:rPr lang="ru-RU" dirty="0"/>
              <a:t>Решетки формальных понятий: пример 2 </a:t>
            </a:r>
            <a:r>
              <a:rPr lang="ru-RU" sz="2700" dirty="0"/>
              <a:t>(</a:t>
            </a:r>
            <a:r>
              <a:rPr lang="en-US" sz="2700" dirty="0" err="1"/>
              <a:t>Ganter</a:t>
            </a:r>
            <a:r>
              <a:rPr lang="en-US" sz="2700" dirty="0"/>
              <a:t>, </a:t>
            </a:r>
            <a:r>
              <a:rPr lang="en-US" sz="2700" dirty="0" err="1"/>
              <a:t>Obiedkov</a:t>
            </a:r>
            <a:r>
              <a:rPr lang="en-US" sz="2700" dirty="0"/>
              <a:t>, manuscript</a:t>
            </a:r>
            <a:r>
              <a:rPr lang="ru-RU" sz="2700" dirty="0"/>
              <a:t>)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41102" y="1451641"/>
            <a:ext cx="7989521" cy="522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101148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722345"/>
          </a:xfrm>
        </p:spPr>
        <p:txBody>
          <a:bodyPr>
            <a:normAutofit/>
          </a:bodyPr>
          <a:lstStyle/>
          <a:p>
            <a:r>
              <a:rPr lang="ru-RU" dirty="0"/>
              <a:t>РФП как семантическая карта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261872" y="1125416"/>
            <a:ext cx="8595360" cy="1463039"/>
          </a:xfrm>
        </p:spPr>
        <p:txBody>
          <a:bodyPr/>
          <a:lstStyle/>
          <a:p>
            <a:r>
              <a:rPr lang="ru-RU" dirty="0"/>
              <a:t>Объекты (</a:t>
            </a:r>
            <a:r>
              <a:rPr lang="en-US" i="1" dirty="0"/>
              <a:t>G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– лексемы</a:t>
            </a:r>
          </a:p>
          <a:p>
            <a:r>
              <a:rPr lang="ru-RU" dirty="0"/>
              <a:t>Атрибуты (</a:t>
            </a:r>
            <a:r>
              <a:rPr lang="en-US" i="1" dirty="0"/>
              <a:t>M</a:t>
            </a:r>
            <a:r>
              <a:rPr lang="ru-RU" dirty="0"/>
              <a:t>)</a:t>
            </a:r>
            <a:r>
              <a:rPr lang="en-US" dirty="0"/>
              <a:t> – </a:t>
            </a:r>
            <a:r>
              <a:rPr lang="ru-RU" dirty="0"/>
              <a:t>фреймы</a:t>
            </a:r>
          </a:p>
          <a:p>
            <a:r>
              <a:rPr lang="en-US" i="1" dirty="0" err="1"/>
              <a:t>gIm</a:t>
            </a:r>
            <a:r>
              <a:rPr lang="en-US" dirty="0"/>
              <a:t> – </a:t>
            </a:r>
            <a:r>
              <a:rPr lang="ru-RU" dirty="0"/>
              <a:t>лексема </a:t>
            </a:r>
            <a:r>
              <a:rPr lang="en-US" i="1" dirty="0"/>
              <a:t>g</a:t>
            </a:r>
            <a:r>
              <a:rPr lang="en-US" dirty="0"/>
              <a:t> </a:t>
            </a:r>
            <a:r>
              <a:rPr lang="ru-RU" dirty="0"/>
              <a:t>покрывает фрейм </a:t>
            </a:r>
            <a:r>
              <a:rPr lang="en-US" i="1" dirty="0"/>
              <a:t>m</a:t>
            </a:r>
            <a:endParaRPr lang="ru-RU" i="1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261872" y="2855743"/>
          <a:ext cx="8820441" cy="3263703"/>
        </p:xfrm>
        <a:graphic>
          <a:graphicData uri="http://schemas.openxmlformats.org/drawingml/2006/table">
            <a:tbl>
              <a:tblPr/>
              <a:tblGrid>
                <a:gridCol w="2170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83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83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743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1" marR="7621" marT="76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русский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китайский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венгерский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французский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сербский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9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  <a:r>
                        <a:rPr lang="en-US" sz="1600" b="1" i="0" u="none" strike="noStrike" baseline="0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 \ G</a:t>
                      </a:r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1" marR="7621" marT="76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острый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err="1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jianrui</a:t>
                      </a:r>
                      <a:endParaRPr lang="en-US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err="1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szuros</a:t>
                      </a:r>
                      <a:endParaRPr lang="en-US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err="1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pointu</a:t>
                      </a:r>
                      <a:endParaRPr lang="en-US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err="1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tranchant</a:t>
                      </a:r>
                      <a:endParaRPr lang="en-US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err="1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oštar</a:t>
                      </a:r>
                      <a:endParaRPr lang="en-US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56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режущие инструменты (нож, меч, сабля…)</a:t>
                      </a:r>
                    </a:p>
                  </a:txBody>
                  <a:tcPr marL="7621" marR="7621" marT="76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56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колющие инструменты</a:t>
                      </a:r>
                      <a:r>
                        <a:rPr lang="ru-RU" sz="1600" b="0" i="0" u="none" strike="noStrike" baseline="0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 (игла, стрела…)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56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вытянутая форма (нос, локоть, клюв…)</a:t>
                      </a:r>
                    </a:p>
                  </a:txBody>
                  <a:tcPr marL="7621" marR="7621" marT="76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56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колющая</a:t>
                      </a:r>
                      <a:r>
                        <a:rPr lang="ru-RU" sz="1600" b="0" i="0" u="none" strike="noStrike" baseline="0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 поверхность (куст, борода, одеяло…)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ru-RU" sz="1600" b="0" i="0" u="none" strike="noStrike" dirty="0">
                        <a:solidFill>
                          <a:srgbClr val="6633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6633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1" marR="7621" marT="76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07104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262394"/>
            <a:ext cx="9692640" cy="806752"/>
          </a:xfrm>
        </p:spPr>
        <p:txBody>
          <a:bodyPr/>
          <a:lstStyle/>
          <a:p>
            <a:r>
              <a:rPr lang="ru-RU" dirty="0"/>
              <a:t>Карта-решетка: </a:t>
            </a:r>
            <a:r>
              <a:rPr lang="en-US" dirty="0"/>
              <a:t>‘</a:t>
            </a:r>
            <a:r>
              <a:rPr lang="ru-RU" dirty="0"/>
              <a:t>острый</a:t>
            </a:r>
            <a:r>
              <a:rPr lang="en-US" dirty="0"/>
              <a:t>’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28" y="1069146"/>
            <a:ext cx="9021937" cy="567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5738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2459" y="0"/>
            <a:ext cx="11079480" cy="533082"/>
          </a:xfrm>
        </p:spPr>
        <p:txBody>
          <a:bodyPr>
            <a:noAutofit/>
          </a:bodyPr>
          <a:lstStyle/>
          <a:p>
            <a:r>
              <a:rPr lang="ru-RU" sz="2800" dirty="0"/>
              <a:t>Фрагмент решетки для неопределенных местоимений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660" y="639762"/>
            <a:ext cx="7827969" cy="621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8598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880607"/>
          </a:xfrm>
        </p:spPr>
        <p:txBody>
          <a:bodyPr/>
          <a:lstStyle/>
          <a:p>
            <a:r>
              <a:rPr lang="ru-RU" dirty="0"/>
              <a:t>(для сравнения)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84" y="2316480"/>
            <a:ext cx="10698990" cy="284988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43840" y="1950720"/>
            <a:ext cx="7254240" cy="38252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992880" y="2331720"/>
            <a:ext cx="3337560" cy="28346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7790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4005" y="291422"/>
            <a:ext cx="9529253" cy="1218063"/>
          </a:xfrm>
        </p:spPr>
        <p:txBody>
          <a:bodyPr>
            <a:normAutofit fontScale="90000"/>
          </a:bodyPr>
          <a:lstStyle/>
          <a:p>
            <a:r>
              <a:rPr lang="ru-RU" dirty="0"/>
              <a:t>Новые возможности:</a:t>
            </a:r>
            <a:br>
              <a:rPr lang="ru-RU" dirty="0"/>
            </a:br>
            <a:r>
              <a:rPr lang="ru-RU" dirty="0"/>
              <a:t>метафоры: </a:t>
            </a:r>
            <a:r>
              <a:rPr lang="en-US" dirty="0"/>
              <a:t>‘</a:t>
            </a:r>
            <a:r>
              <a:rPr lang="ru-RU" dirty="0"/>
              <a:t>острый</a:t>
            </a:r>
            <a:r>
              <a:rPr lang="en-US" dirty="0"/>
              <a:t>’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371" y="1509485"/>
            <a:ext cx="9273495" cy="512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580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262394"/>
            <a:ext cx="9692640" cy="863022"/>
          </a:xfrm>
        </p:spPr>
        <p:txBody>
          <a:bodyPr/>
          <a:lstStyle/>
          <a:p>
            <a:r>
              <a:rPr lang="ru-RU" dirty="0"/>
              <a:t>Проблемные точки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18" y="1336430"/>
            <a:ext cx="10321798" cy="4218269"/>
          </a:xfrm>
        </p:spPr>
      </p:pic>
      <p:sp>
        <p:nvSpPr>
          <p:cNvPr id="5" name="TextBox 4"/>
          <p:cNvSpPr txBox="1"/>
          <p:nvPr/>
        </p:nvSpPr>
        <p:spPr>
          <a:xfrm>
            <a:off x="1899139" y="5504103"/>
            <a:ext cx="7976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Нет линейности =</a:t>
            </a:r>
            <a:r>
              <a:rPr lang="en-US" sz="2800" dirty="0"/>
              <a:t>&gt; </a:t>
            </a:r>
            <a:r>
              <a:rPr lang="ru-RU" sz="2800" dirty="0"/>
              <a:t>появляются пересечения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62795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834887"/>
          </a:xfrm>
        </p:spPr>
        <p:txBody>
          <a:bodyPr>
            <a:normAutofit fontScale="90000"/>
          </a:bodyPr>
          <a:lstStyle/>
          <a:p>
            <a:r>
              <a:rPr lang="ru-RU" dirty="0"/>
              <a:t>Карта-решетка: глаголы падения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87" y="1097280"/>
            <a:ext cx="9988009" cy="4628271"/>
          </a:xfrm>
        </p:spPr>
      </p:pic>
      <p:sp>
        <p:nvSpPr>
          <p:cNvPr id="5" name="TextBox 4"/>
          <p:cNvSpPr txBox="1"/>
          <p:nvPr/>
        </p:nvSpPr>
        <p:spPr>
          <a:xfrm>
            <a:off x="1672622" y="5613010"/>
            <a:ext cx="9429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Решетка может выполнять функции карты только в том случае, если в ней нет пересечений!</a:t>
            </a:r>
          </a:p>
        </p:txBody>
      </p:sp>
    </p:spTree>
    <p:extLst>
      <p:ext uri="{BB962C8B-B14F-4D97-AF65-F5344CB8AC3E}">
        <p14:creationId xmlns:p14="http://schemas.microsoft.com/office/powerpoint/2010/main" val="17314019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262394"/>
            <a:ext cx="9692640" cy="1014864"/>
          </a:xfrm>
        </p:spPr>
        <p:txBody>
          <a:bodyPr/>
          <a:lstStyle/>
          <a:p>
            <a:r>
              <a:rPr lang="ru-RU" dirty="0"/>
              <a:t>Как бороться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1643" y="2350180"/>
            <a:ext cx="3832643" cy="1973942"/>
          </a:xfrm>
        </p:spPr>
        <p:txBody>
          <a:bodyPr/>
          <a:lstStyle/>
          <a:p>
            <a:r>
              <a:rPr lang="ru-RU" dirty="0"/>
              <a:t>Чистить данные</a:t>
            </a:r>
          </a:p>
          <a:p>
            <a:r>
              <a:rPr lang="ru-RU" dirty="0"/>
              <a:t>Смотреть на фрагменты,</a:t>
            </a:r>
            <a:br>
              <a:rPr lang="ru-RU" dirty="0"/>
            </a:br>
            <a:r>
              <a:rPr lang="ru-RU" dirty="0"/>
              <a:t>а не на все поле сразу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830" y="1233716"/>
            <a:ext cx="7346260" cy="521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9819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1195" y="262393"/>
            <a:ext cx="9692640" cy="1059969"/>
          </a:xfrm>
        </p:spPr>
        <p:txBody>
          <a:bodyPr>
            <a:normAutofit fontScale="90000"/>
          </a:bodyPr>
          <a:lstStyle/>
          <a:p>
            <a:r>
              <a:rPr lang="ru-RU" dirty="0"/>
              <a:t>Фрагмент: один язык</a:t>
            </a:r>
            <a:br>
              <a:rPr lang="ru-RU" dirty="0"/>
            </a:br>
            <a:r>
              <a:rPr lang="ru-RU" dirty="0"/>
              <a:t>(кабардинский)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34" y="1477107"/>
            <a:ext cx="9587502" cy="4825219"/>
          </a:xfrm>
        </p:spPr>
      </p:pic>
    </p:spTree>
    <p:extLst>
      <p:ext uri="{BB962C8B-B14F-4D97-AF65-F5344CB8AC3E}">
        <p14:creationId xmlns:p14="http://schemas.microsoft.com/office/powerpoint/2010/main" val="23904420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0520" y="246519"/>
            <a:ext cx="10530840" cy="637402"/>
          </a:xfrm>
        </p:spPr>
        <p:txBody>
          <a:bodyPr>
            <a:normAutofit/>
          </a:bodyPr>
          <a:lstStyle/>
          <a:p>
            <a:r>
              <a:rPr lang="ru-RU" sz="3200" dirty="0"/>
              <a:t>Другие лингвистические приложения (пример)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883921"/>
            <a:ext cx="8132045" cy="5863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13045" y="6162954"/>
            <a:ext cx="2368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hlinkClick r:id="rId3"/>
              </a:rPr>
              <a:t>Priss</a:t>
            </a:r>
            <a:r>
              <a:rPr lang="en-US" sz="3200" dirty="0">
                <a:hlinkClick r:id="rId3"/>
              </a:rPr>
              <a:t> 2005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05572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применять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Concept Explorer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https://sourceforge.net/projects/conexp/</a:t>
            </a:r>
            <a:endParaRPr lang="en-US" dirty="0"/>
          </a:p>
          <a:p>
            <a:r>
              <a:rPr lang="ru-RU" dirty="0"/>
              <a:t>Другие полезные ссылки: конференции, рассылки, софт, примеры применения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https://upriss.github.io/fca/fca.html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64233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0392" y="247153"/>
            <a:ext cx="9692640" cy="728207"/>
          </a:xfrm>
        </p:spPr>
        <p:txBody>
          <a:bodyPr/>
          <a:lstStyle/>
          <a:p>
            <a:r>
              <a:rPr lang="ru-RU" dirty="0"/>
              <a:t>Обобщение по трем видам карт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301750" y="1234440"/>
          <a:ext cx="10789924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err="1"/>
                        <a:t>графовая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непрерывная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решетка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взаимное расположение точек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значимо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значимо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не значимо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расстояние между точками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не значимо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значимо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не значимо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возможные</a:t>
                      </a:r>
                      <a:r>
                        <a:rPr lang="ru-RU" sz="2000" baseline="0" dirty="0"/>
                        <a:t> комбинации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принцип смежности + комбинации из двух</a:t>
                      </a:r>
                      <a:r>
                        <a:rPr lang="ru-RU" sz="2000" baseline="0" dirty="0"/>
                        <a:t> элементов (взвешенный граф)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частично выводятся из расстояний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явно отображаются все, какие встретились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ограничения</a:t>
                      </a:r>
                      <a:r>
                        <a:rPr lang="ru-RU" sz="2000" baseline="0" dirty="0"/>
                        <a:t> и предсказания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мало ограничений, много предсказаний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мало ограничений, много предсказаний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много</a:t>
                      </a:r>
                      <a:r>
                        <a:rPr lang="ru-RU" sz="2000" baseline="0" dirty="0"/>
                        <a:t> ограничений, мало предсказаний (только то, что есть в данных)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иллюстративность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высокая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средняя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зависит от количества</a:t>
                      </a:r>
                      <a:r>
                        <a:rPr lang="ru-RU" sz="2000" baseline="0" dirty="0"/>
                        <a:t> узлов и связей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5073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834887"/>
          </a:xfrm>
        </p:spPr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1" y="1420837"/>
            <a:ext cx="9580299" cy="5023505"/>
          </a:xfrm>
        </p:spPr>
        <p:txBody>
          <a:bodyPr>
            <a:normAutofit/>
          </a:bodyPr>
          <a:lstStyle/>
          <a:p>
            <a:r>
              <a:rPr lang="ru-RU" sz="2400" dirty="0"/>
              <a:t>Традиционная семантическая карта – понятие </a:t>
            </a:r>
            <a:r>
              <a:rPr lang="ru-RU" sz="2400" i="1" dirty="0"/>
              <a:t>неформальное</a:t>
            </a:r>
          </a:p>
          <a:p>
            <a:r>
              <a:rPr lang="ru-RU" sz="2400" dirty="0"/>
              <a:t>Процесс ее построения нельзя просто автоматизировать – необходимо модифицировать сам инструмент</a:t>
            </a:r>
          </a:p>
          <a:p>
            <a:r>
              <a:rPr lang="ru-RU" sz="2400" dirty="0"/>
              <a:t>Поэтому актуальны разные математические модели с близким функционалом – и разные варианты визуализаций</a:t>
            </a:r>
          </a:p>
          <a:p>
            <a:r>
              <a:rPr lang="ru-RU" sz="2400" dirty="0"/>
              <a:t>Эти модели и визуализации приложимы и к другим (структурированным) лингвистическим данным</a:t>
            </a:r>
          </a:p>
        </p:txBody>
      </p:sp>
    </p:spTree>
    <p:extLst>
      <p:ext uri="{BB962C8B-B14F-4D97-AF65-F5344CB8AC3E}">
        <p14:creationId xmlns:p14="http://schemas.microsoft.com/office/powerpoint/2010/main" val="2868126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View">
  <a:themeElements>
    <a:clrScheme name="Фиолетовый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23C5FE65-18CC-4A65-9EBC-B05E331504E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4250</TotalTime>
  <Words>2409</Words>
  <Application>Microsoft Office PowerPoint</Application>
  <PresentationFormat>Широкоэкранный</PresentationFormat>
  <Paragraphs>504</Paragraphs>
  <Slides>64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64</vt:i4>
      </vt:variant>
    </vt:vector>
  </HeadingPairs>
  <TitlesOfParts>
    <vt:vector size="70" baseType="lpstr">
      <vt:lpstr>Arial</vt:lpstr>
      <vt:lpstr>Calibri</vt:lpstr>
      <vt:lpstr>Century Schoolbook</vt:lpstr>
      <vt:lpstr>Times New Roman</vt:lpstr>
      <vt:lpstr>Wingdings 2</vt:lpstr>
      <vt:lpstr>View</vt:lpstr>
      <vt:lpstr>Семантические карты</vt:lpstr>
      <vt:lpstr>Семантические карты</vt:lpstr>
      <vt:lpstr>Семантические карты</vt:lpstr>
      <vt:lpstr>Семантические карты в грамматической типологии</vt:lpstr>
      <vt:lpstr>Иллюстрация 1:  дативные значения</vt:lpstr>
      <vt:lpstr>Иллюстрация 1:  дативные значения</vt:lpstr>
      <vt:lpstr>Иллюстрация 1</vt:lpstr>
      <vt:lpstr>Иллюстрация 2</vt:lpstr>
      <vt:lpstr>Иллюстрация 2</vt:lpstr>
      <vt:lpstr>Из грамматической типологии – в лексическую</vt:lpstr>
      <vt:lpstr>Семантическая карта: проблемные точки</vt:lpstr>
      <vt:lpstr>Проблемы определения</vt:lpstr>
      <vt:lpstr>Что хотим отобразить?</vt:lpstr>
      <vt:lpstr>Что хотим отобразить?</vt:lpstr>
      <vt:lpstr>Поиск оптимального графа</vt:lpstr>
      <vt:lpstr>Презентация PowerPoint</vt:lpstr>
      <vt:lpstr>Попытка оптимизации: Regier et al. 2013</vt:lpstr>
      <vt:lpstr>Regier et al.: Результаты</vt:lpstr>
      <vt:lpstr>Проблема правильного ответа</vt:lpstr>
      <vt:lpstr>Вариант 1</vt:lpstr>
      <vt:lpstr>Вариант 2</vt:lpstr>
      <vt:lpstr>Вариант 3</vt:lpstr>
      <vt:lpstr>Проблема правильного ответа</vt:lpstr>
      <vt:lpstr>Проблема комбинаций и импликаций</vt:lpstr>
      <vt:lpstr>Проблема комбинаций и импликаций</vt:lpstr>
      <vt:lpstr>Inferring implications in semantic maps (Zeng, Xiao 2020)</vt:lpstr>
      <vt:lpstr>Apriori algorithm</vt:lpstr>
      <vt:lpstr>Пример: Типология личных показателей</vt:lpstr>
      <vt:lpstr>Пример: Типология личных показателей</vt:lpstr>
      <vt:lpstr>Несимметричные импликации</vt:lpstr>
      <vt:lpstr>Проблема связей</vt:lpstr>
      <vt:lpstr>Презентация PowerPoint</vt:lpstr>
      <vt:lpstr>“Dynamic” semantic map (Georgakopoulos, Polis 2021)</vt:lpstr>
      <vt:lpstr>Семантические карты «второго поколения»</vt:lpstr>
      <vt:lpstr>Краткое содержание предыдущей серии</vt:lpstr>
      <vt:lpstr>Непрерывные карты</vt:lpstr>
      <vt:lpstr>Непрерывные карты</vt:lpstr>
      <vt:lpstr>Непрерывные карты</vt:lpstr>
      <vt:lpstr>Непрерывные карты</vt:lpstr>
      <vt:lpstr>Непрерывные карты: многомерное шкалирование</vt:lpstr>
      <vt:lpstr>Непрерывные карты: многомерное шкалирование</vt:lpstr>
      <vt:lpstr>Непрерывные карты: достоинства и недостатки</vt:lpstr>
      <vt:lpstr>Case study: Wälchli &amp; Cysouw 2013</vt:lpstr>
      <vt:lpstr>Wälchli &amp; Cysouw 2013: 681</vt:lpstr>
      <vt:lpstr>Wälchli &amp; Cysouw 2013: 686</vt:lpstr>
      <vt:lpstr>Многомерное шкалирование</vt:lpstr>
      <vt:lpstr>Дистрибутивные «семантические карты» (Lund, Burgess 1996)</vt:lpstr>
      <vt:lpstr>Анализ Формальных Понятий</vt:lpstr>
      <vt:lpstr>АФП</vt:lpstr>
      <vt:lpstr>Презентация PowerPoint</vt:lpstr>
      <vt:lpstr>Решетки формальных понятий: пример 2 (Ganter, Obiedkov, manuscript)</vt:lpstr>
      <vt:lpstr>РФП как семантическая карта</vt:lpstr>
      <vt:lpstr>Карта-решетка: ‘острый’</vt:lpstr>
      <vt:lpstr>Фрагмент решетки для неопределенных местоимений</vt:lpstr>
      <vt:lpstr>(для сравнения)</vt:lpstr>
      <vt:lpstr>Новые возможности: метафоры: ‘острый’</vt:lpstr>
      <vt:lpstr>Проблемные точки</vt:lpstr>
      <vt:lpstr>Карта-решетка: глаголы падения</vt:lpstr>
      <vt:lpstr>Как бороться</vt:lpstr>
      <vt:lpstr>Фрагмент: один язык (кабардинский)</vt:lpstr>
      <vt:lpstr>Другие лингвистические приложения (пример)</vt:lpstr>
      <vt:lpstr>Как применять</vt:lpstr>
      <vt:lpstr>Обобщение по трем видам карт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Построение семантических карт с помощью решеток формальных понятий</dc:title>
  <dc:creator>Пётр С</dc:creator>
  <cp:lastModifiedBy>Дарья Рыжова</cp:lastModifiedBy>
  <cp:revision>119</cp:revision>
  <dcterms:created xsi:type="dcterms:W3CDTF">2016-03-19T17:47:10Z</dcterms:created>
  <dcterms:modified xsi:type="dcterms:W3CDTF">2026-04-01T10:25:50Z</dcterms:modified>
</cp:coreProperties>
</file>